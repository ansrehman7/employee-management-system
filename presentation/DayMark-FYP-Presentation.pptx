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and the project in one line: DayMark is a workforce and project-delivery platform whose machine-learning component estimates task effort from text. Point at the contents list and say the demo is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brief. The four cards are the scope; the two amber ones are the AI contribution. The numbers at the bottom establish that this is a substantial, working system rather than a prototype.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Problems 1 and 4 are the research problems - they lead into the literature review. Problems 2 and 3 are the engineering problems specific to our deployment. The overnight-shift issue is worth pausing on: our own workspace runs 11 PM to 6 AM and that is what exposed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 base paper clearly and say what we take from it: the dataset and the task formulation. Be explicit that we deliberately did not copy their model, and that the reason comes on the next slide. If asked why not deep learning, the answer is slide 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slide for the viva. The Tawosi replication is the evidence that justifies our whole methodology: deep learning gave no consistent advantage on this exact dataset. Then state the gap - all four studies are offline, none deploys the estimator anywhere.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Move quickly. The panel needs to see the system is real and layered. If asked why serverless: it costs nothing at student scale, and the trade-off is no shared memory, which is why sessions and one-time codes live in Redis.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pipeline left to right, then give the three reasons for a linear model: published evidence, interpretability, deployability. The integration box is the point - the model is not a side experiment, its output drives the progress metric.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table a moment. The line to emphasise is the baseline: a model that always predicts the mean has an R-squared of zero, and ours beats it by 10.2%. Mention cross-validation - it shows the result is not a lucky split.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the first to raise the caveat, before the panel does. Published numbers are within-project; ours is cross-project, which is the harder setting. Saying this yourself demonstrates you understand your own evaluation.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rush the limitations - being able to state them precisely is what distinguishes understanding from repetition. The R-squared of 0.182 is the honest one: most of the variance is not explained by text alone.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references aloud. Note that [1] is the base paper and the source of the dataset, and [2] is the replication that justified the model choice.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four points, then move straight into the live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8016" cy="6858000"/>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863840" y="0"/>
            <a:ext cx="4327855" cy="6858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1143000"/>
            <a:ext cx="6400800" cy="274320"/>
          </a:xfrm>
          <a:prstGeom prst="rect">
            <a:avLst/>
          </a:prstGeom>
          <a:noFill/>
        </p:spPr>
        <p:txBody>
          <a:bodyPr wrap="square" anchor="t" lIns="0" rIns="0" tIns="0" bIns="0">
            <a:spAutoFit/>
          </a:bodyPr>
          <a:lstStyle/>
          <a:p>
            <a:pPr algn="l">
              <a:lnSpc>
                <a:spcPct val="118000"/>
              </a:lnSpc>
              <a:spcAft>
                <a:spcPts val="300"/>
              </a:spcAft>
            </a:pPr>
            <a:r>
              <a:rPr sz="1150" b="1">
                <a:solidFill>
                  <a:srgbClr val="009E6D"/>
                </a:solidFill>
                <a:latin typeface="Segoe UI"/>
              </a:rPr>
              <a:t>FINAL YEAR PROJECT   ·   BS COMPUTER SCIENCE</a:t>
            </a:r>
          </a:p>
        </p:txBody>
      </p:sp>
      <p:sp>
        <p:nvSpPr>
          <p:cNvPr id="6" name="TextBox 5"/>
          <p:cNvSpPr txBox="1"/>
          <p:nvPr/>
        </p:nvSpPr>
        <p:spPr>
          <a:xfrm>
            <a:off x="914400" y="1554480"/>
            <a:ext cx="6583680" cy="822960"/>
          </a:xfrm>
          <a:prstGeom prst="rect">
            <a:avLst/>
          </a:prstGeom>
          <a:noFill/>
        </p:spPr>
        <p:txBody>
          <a:bodyPr wrap="square" anchor="t" lIns="0" rIns="0" tIns="0" bIns="0">
            <a:spAutoFit/>
          </a:bodyPr>
          <a:lstStyle/>
          <a:p>
            <a:pPr algn="l">
              <a:lnSpc>
                <a:spcPct val="118000"/>
              </a:lnSpc>
              <a:spcAft>
                <a:spcPts val="300"/>
              </a:spcAft>
            </a:pPr>
            <a:r>
              <a:rPr sz="5000" b="1">
                <a:solidFill>
                  <a:srgbClr val="FFFFFF"/>
                </a:solidFill>
                <a:latin typeface="Segoe UI"/>
              </a:rPr>
              <a:t>DayMark</a:t>
            </a:r>
          </a:p>
        </p:txBody>
      </p:sp>
      <p:sp>
        <p:nvSpPr>
          <p:cNvPr id="7" name="TextBox 6"/>
          <p:cNvSpPr txBox="1"/>
          <p:nvPr/>
        </p:nvSpPr>
        <p:spPr>
          <a:xfrm>
            <a:off x="914400" y="2487168"/>
            <a:ext cx="6400800" cy="914400"/>
          </a:xfrm>
          <a:prstGeom prst="rect">
            <a:avLst/>
          </a:prstGeom>
          <a:noFill/>
        </p:spPr>
        <p:txBody>
          <a:bodyPr wrap="square" anchor="t" lIns="0" rIns="0" tIns="0" bIns="0">
            <a:spAutoFit/>
          </a:bodyPr>
          <a:lstStyle/>
          <a:p>
            <a:pPr algn="l">
              <a:lnSpc>
                <a:spcPct val="118000"/>
              </a:lnSpc>
              <a:spcAft>
                <a:spcPts val="300"/>
              </a:spcAft>
            </a:pPr>
            <a:r>
              <a:rPr sz="1600" b="0">
                <a:solidFill>
                  <a:srgbClr val="C9D6E4"/>
                </a:solidFill>
                <a:latin typeface="Segoe UI"/>
              </a:rPr>
              <a:t>A Workforce and Project-Delivery Platform with</a:t>
            </a:r>
          </a:p>
          <a:p>
            <a:pPr algn="l">
              <a:lnSpc>
                <a:spcPct val="118000"/>
              </a:lnSpc>
              <a:spcAft>
                <a:spcPts val="300"/>
              </a:spcAft>
            </a:pPr>
            <a:r>
              <a:rPr sz="1600" b="0">
                <a:solidFill>
                  <a:srgbClr val="C9D6E4"/>
                </a:solidFill>
                <a:latin typeface="Segoe UI"/>
              </a:rPr>
              <a:t>Machine-Learning-Based Task Effort Estimation</a:t>
            </a:r>
          </a:p>
        </p:txBody>
      </p:sp>
      <p:sp>
        <p:nvSpPr>
          <p:cNvPr id="8" name="Rectangle 7"/>
          <p:cNvSpPr/>
          <p:nvPr/>
        </p:nvSpPr>
        <p:spPr>
          <a:xfrm>
            <a:off x="914400" y="3474720"/>
            <a:ext cx="1188720" cy="38100"/>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14400" y="3840480"/>
            <a:ext cx="6400800" cy="1554480"/>
          </a:xfrm>
          <a:prstGeom prst="rect">
            <a:avLst/>
          </a:prstGeom>
          <a:noFill/>
        </p:spPr>
        <p:txBody>
          <a:bodyPr wrap="square" anchor="t" lIns="0" rIns="0" tIns="0" bIns="0">
            <a:spAutoFit/>
          </a:bodyPr>
          <a:lstStyle/>
          <a:p>
            <a:pPr algn="l">
              <a:lnSpc>
                <a:spcPct val="118000"/>
              </a:lnSpc>
              <a:spcAft>
                <a:spcPts val="300"/>
              </a:spcAft>
            </a:pPr>
            <a:r>
              <a:rPr sz="950" b="1">
                <a:solidFill>
                  <a:srgbClr val="009E6D"/>
                </a:solidFill>
                <a:latin typeface="Segoe UI"/>
              </a:rPr>
              <a:t>PRESENTED BY</a:t>
            </a:r>
          </a:p>
          <a:p>
            <a:pPr algn="l">
              <a:lnSpc>
                <a:spcPct val="118000"/>
              </a:lnSpc>
              <a:spcAft>
                <a:spcPts val="300"/>
              </a:spcAft>
            </a:pPr>
            <a:r>
              <a:rPr sz="1400" b="0">
                <a:solidFill>
                  <a:srgbClr val="FFFFFF"/>
                </a:solidFill>
                <a:latin typeface="Segoe UI"/>
              </a:rPr>
              <a:t>[ Your Full Name ]        Roll No: [ Your Roll No ]</a:t>
            </a:r>
          </a:p>
          <a:p>
            <a:pPr algn="l">
              <a:lnSpc>
                <a:spcPct val="118000"/>
              </a:lnSpc>
              <a:spcAft>
                <a:spcPts val="300"/>
              </a:spcAft>
            </a:pPr>
            <a:r>
              <a:rPr sz="600" b="0">
                <a:solidFill>
                  <a:srgbClr val="FFFFFF"/>
                </a:solidFill>
                <a:latin typeface="Segoe UI"/>
              </a:rPr>
              <a:t/>
            </a:r>
          </a:p>
          <a:p>
            <a:pPr algn="l">
              <a:lnSpc>
                <a:spcPct val="118000"/>
              </a:lnSpc>
              <a:spcAft>
                <a:spcPts val="300"/>
              </a:spcAft>
            </a:pPr>
            <a:r>
              <a:rPr sz="950" b="1">
                <a:solidFill>
                  <a:srgbClr val="009E6D"/>
                </a:solidFill>
                <a:latin typeface="Segoe UI"/>
              </a:rPr>
              <a:t>SUPERVISOR</a:t>
            </a:r>
          </a:p>
          <a:p>
            <a:pPr algn="l">
              <a:lnSpc>
                <a:spcPct val="118000"/>
              </a:lnSpc>
              <a:spcAft>
                <a:spcPts val="300"/>
              </a:spcAft>
            </a:pPr>
            <a:r>
              <a:rPr sz="1400" b="0">
                <a:solidFill>
                  <a:srgbClr val="FFFFFF"/>
                </a:solidFill>
                <a:latin typeface="Segoe UI"/>
              </a:rPr>
              <a:t>[ Supervisor Name ]</a:t>
            </a:r>
          </a:p>
        </p:txBody>
      </p:sp>
      <p:sp>
        <p:nvSpPr>
          <p:cNvPr id="10" name="TextBox 9"/>
          <p:cNvSpPr txBox="1"/>
          <p:nvPr/>
        </p:nvSpPr>
        <p:spPr>
          <a:xfrm>
            <a:off x="914400" y="5897880"/>
            <a:ext cx="6400800" cy="274320"/>
          </a:xfrm>
          <a:prstGeom prst="rect">
            <a:avLst/>
          </a:prstGeom>
          <a:noFill/>
        </p:spPr>
        <p:txBody>
          <a:bodyPr wrap="square" anchor="t" lIns="0" rIns="0" tIns="0" bIns="0">
            <a:spAutoFit/>
          </a:bodyPr>
          <a:lstStyle/>
          <a:p>
            <a:pPr algn="l">
              <a:lnSpc>
                <a:spcPct val="118000"/>
              </a:lnSpc>
              <a:spcAft>
                <a:spcPts val="300"/>
              </a:spcAft>
            </a:pPr>
            <a:r>
              <a:rPr sz="1100" b="0">
                <a:solidFill>
                  <a:srgbClr val="8D9CB2"/>
                </a:solidFill>
                <a:latin typeface="Segoe UI"/>
              </a:rPr>
              <a:t>[ Department ]  ·  [ University Name ]  ·  September 2026</a:t>
            </a:r>
          </a:p>
        </p:txBody>
      </p:sp>
      <p:sp>
        <p:nvSpPr>
          <p:cNvPr id="11" name="TextBox 10"/>
          <p:cNvSpPr txBox="1"/>
          <p:nvPr/>
        </p:nvSpPr>
        <p:spPr>
          <a:xfrm>
            <a:off x="8366760" y="1143000"/>
            <a:ext cx="3291840" cy="237744"/>
          </a:xfrm>
          <a:prstGeom prst="rect">
            <a:avLst/>
          </a:prstGeom>
          <a:noFill/>
        </p:spPr>
        <p:txBody>
          <a:bodyPr wrap="square" anchor="t" lIns="0" rIns="0" tIns="0" bIns="0">
            <a:spAutoFit/>
          </a:bodyPr>
          <a:lstStyle/>
          <a:p>
            <a:pPr algn="l">
              <a:lnSpc>
                <a:spcPct val="118000"/>
              </a:lnSpc>
              <a:spcAft>
                <a:spcPts val="300"/>
              </a:spcAft>
            </a:pPr>
            <a:r>
              <a:rPr sz="950" b="1">
                <a:solidFill>
                  <a:srgbClr val="009E6D"/>
                </a:solidFill>
                <a:latin typeface="Segoe UI"/>
              </a:rPr>
              <a:t>CONTENTS</a:t>
            </a:r>
          </a:p>
        </p:txBody>
      </p:sp>
      <p:sp>
        <p:nvSpPr>
          <p:cNvPr id="12" name="TextBox 11"/>
          <p:cNvSpPr txBox="1"/>
          <p:nvPr/>
        </p:nvSpPr>
        <p:spPr>
          <a:xfrm>
            <a:off x="8366760" y="1536192"/>
            <a:ext cx="457200" cy="237744"/>
          </a:xfrm>
          <a:prstGeom prst="rect">
            <a:avLst/>
          </a:prstGeom>
          <a:noFill/>
        </p:spPr>
        <p:txBody>
          <a:bodyPr wrap="square" anchor="t" lIns="0" rIns="0" tIns="0" bIns="0">
            <a:spAutoFit/>
          </a:bodyPr>
          <a:lstStyle/>
          <a:p>
            <a:pPr algn="l">
              <a:lnSpc>
                <a:spcPct val="118000"/>
              </a:lnSpc>
              <a:spcAft>
                <a:spcPts val="300"/>
              </a:spcAft>
            </a:pPr>
            <a:r>
              <a:rPr sz="1100" b="1">
                <a:solidFill>
                  <a:srgbClr val="009E6D"/>
                </a:solidFill>
                <a:latin typeface="Segoe UI"/>
              </a:rPr>
              <a:t>01</a:t>
            </a:r>
          </a:p>
        </p:txBody>
      </p:sp>
      <p:sp>
        <p:nvSpPr>
          <p:cNvPr id="13" name="TextBox 12"/>
          <p:cNvSpPr txBox="1"/>
          <p:nvPr/>
        </p:nvSpPr>
        <p:spPr>
          <a:xfrm>
            <a:off x="8869680" y="1517904"/>
            <a:ext cx="2926080" cy="274320"/>
          </a:xfrm>
          <a:prstGeom prst="rect">
            <a:avLst/>
          </a:prstGeom>
          <a:noFill/>
        </p:spPr>
        <p:txBody>
          <a:bodyPr wrap="square" anchor="t" lIns="0" rIns="0" tIns="0" bIns="0">
            <a:spAutoFit/>
          </a:bodyPr>
          <a:lstStyle/>
          <a:p>
            <a:pPr algn="l">
              <a:lnSpc>
                <a:spcPct val="118000"/>
              </a:lnSpc>
              <a:spcAft>
                <a:spcPts val="300"/>
              </a:spcAft>
            </a:pPr>
            <a:r>
              <a:rPr sz="1300" b="0">
                <a:solidFill>
                  <a:srgbClr val="FFFFFF"/>
                </a:solidFill>
                <a:latin typeface="Segoe UI"/>
              </a:rPr>
              <a:t>Introduction</a:t>
            </a:r>
          </a:p>
        </p:txBody>
      </p:sp>
      <p:sp>
        <p:nvSpPr>
          <p:cNvPr id="14" name="TextBox 13"/>
          <p:cNvSpPr txBox="1"/>
          <p:nvPr/>
        </p:nvSpPr>
        <p:spPr>
          <a:xfrm>
            <a:off x="8366760" y="2103120"/>
            <a:ext cx="457200" cy="237744"/>
          </a:xfrm>
          <a:prstGeom prst="rect">
            <a:avLst/>
          </a:prstGeom>
          <a:noFill/>
        </p:spPr>
        <p:txBody>
          <a:bodyPr wrap="square" anchor="t" lIns="0" rIns="0" tIns="0" bIns="0">
            <a:spAutoFit/>
          </a:bodyPr>
          <a:lstStyle/>
          <a:p>
            <a:pPr algn="l">
              <a:lnSpc>
                <a:spcPct val="118000"/>
              </a:lnSpc>
              <a:spcAft>
                <a:spcPts val="300"/>
              </a:spcAft>
            </a:pPr>
            <a:r>
              <a:rPr sz="1100" b="1">
                <a:solidFill>
                  <a:srgbClr val="009E6D"/>
                </a:solidFill>
                <a:latin typeface="Segoe UI"/>
              </a:rPr>
              <a:t>02</a:t>
            </a:r>
          </a:p>
        </p:txBody>
      </p:sp>
      <p:sp>
        <p:nvSpPr>
          <p:cNvPr id="15" name="TextBox 14"/>
          <p:cNvSpPr txBox="1"/>
          <p:nvPr/>
        </p:nvSpPr>
        <p:spPr>
          <a:xfrm>
            <a:off x="8869680" y="2084832"/>
            <a:ext cx="2926080" cy="274320"/>
          </a:xfrm>
          <a:prstGeom prst="rect">
            <a:avLst/>
          </a:prstGeom>
          <a:noFill/>
        </p:spPr>
        <p:txBody>
          <a:bodyPr wrap="square" anchor="t" lIns="0" rIns="0" tIns="0" bIns="0">
            <a:spAutoFit/>
          </a:bodyPr>
          <a:lstStyle/>
          <a:p>
            <a:pPr algn="l">
              <a:lnSpc>
                <a:spcPct val="118000"/>
              </a:lnSpc>
              <a:spcAft>
                <a:spcPts val="300"/>
              </a:spcAft>
            </a:pPr>
            <a:r>
              <a:rPr sz="1300" b="0">
                <a:solidFill>
                  <a:srgbClr val="FFFFFF"/>
                </a:solidFill>
                <a:latin typeface="Segoe UI"/>
              </a:rPr>
              <a:t>Problem Statement</a:t>
            </a:r>
          </a:p>
        </p:txBody>
      </p:sp>
      <p:sp>
        <p:nvSpPr>
          <p:cNvPr id="16" name="TextBox 15"/>
          <p:cNvSpPr txBox="1"/>
          <p:nvPr/>
        </p:nvSpPr>
        <p:spPr>
          <a:xfrm>
            <a:off x="8366760" y="2670048"/>
            <a:ext cx="457200" cy="237744"/>
          </a:xfrm>
          <a:prstGeom prst="rect">
            <a:avLst/>
          </a:prstGeom>
          <a:noFill/>
        </p:spPr>
        <p:txBody>
          <a:bodyPr wrap="square" anchor="t" lIns="0" rIns="0" tIns="0" bIns="0">
            <a:spAutoFit/>
          </a:bodyPr>
          <a:lstStyle/>
          <a:p>
            <a:pPr algn="l">
              <a:lnSpc>
                <a:spcPct val="118000"/>
              </a:lnSpc>
              <a:spcAft>
                <a:spcPts val="300"/>
              </a:spcAft>
            </a:pPr>
            <a:r>
              <a:rPr sz="1100" b="1">
                <a:solidFill>
                  <a:srgbClr val="009E6D"/>
                </a:solidFill>
                <a:latin typeface="Segoe UI"/>
              </a:rPr>
              <a:t>03</a:t>
            </a:r>
          </a:p>
        </p:txBody>
      </p:sp>
      <p:sp>
        <p:nvSpPr>
          <p:cNvPr id="17" name="TextBox 16"/>
          <p:cNvSpPr txBox="1"/>
          <p:nvPr/>
        </p:nvSpPr>
        <p:spPr>
          <a:xfrm>
            <a:off x="8869680" y="2651760"/>
            <a:ext cx="2926080" cy="274320"/>
          </a:xfrm>
          <a:prstGeom prst="rect">
            <a:avLst/>
          </a:prstGeom>
          <a:noFill/>
        </p:spPr>
        <p:txBody>
          <a:bodyPr wrap="square" anchor="t" lIns="0" rIns="0" tIns="0" bIns="0">
            <a:spAutoFit/>
          </a:bodyPr>
          <a:lstStyle/>
          <a:p>
            <a:pPr algn="l">
              <a:lnSpc>
                <a:spcPct val="118000"/>
              </a:lnSpc>
              <a:spcAft>
                <a:spcPts val="300"/>
              </a:spcAft>
            </a:pPr>
            <a:r>
              <a:rPr sz="1300" b="0">
                <a:solidFill>
                  <a:srgbClr val="FFFFFF"/>
                </a:solidFill>
                <a:latin typeface="Segoe UI"/>
              </a:rPr>
              <a:t>Literature Review</a:t>
            </a:r>
          </a:p>
        </p:txBody>
      </p:sp>
      <p:sp>
        <p:nvSpPr>
          <p:cNvPr id="18" name="TextBox 17"/>
          <p:cNvSpPr txBox="1"/>
          <p:nvPr/>
        </p:nvSpPr>
        <p:spPr>
          <a:xfrm>
            <a:off x="8366760" y="3236976"/>
            <a:ext cx="457200" cy="237744"/>
          </a:xfrm>
          <a:prstGeom prst="rect">
            <a:avLst/>
          </a:prstGeom>
          <a:noFill/>
        </p:spPr>
        <p:txBody>
          <a:bodyPr wrap="square" anchor="t" lIns="0" rIns="0" tIns="0" bIns="0">
            <a:spAutoFit/>
          </a:bodyPr>
          <a:lstStyle/>
          <a:p>
            <a:pPr algn="l">
              <a:lnSpc>
                <a:spcPct val="118000"/>
              </a:lnSpc>
              <a:spcAft>
                <a:spcPts val="300"/>
              </a:spcAft>
            </a:pPr>
            <a:r>
              <a:rPr sz="1100" b="1">
                <a:solidFill>
                  <a:srgbClr val="009E6D"/>
                </a:solidFill>
                <a:latin typeface="Segoe UI"/>
              </a:rPr>
              <a:t>04</a:t>
            </a:r>
          </a:p>
        </p:txBody>
      </p:sp>
      <p:sp>
        <p:nvSpPr>
          <p:cNvPr id="19" name="TextBox 18"/>
          <p:cNvSpPr txBox="1"/>
          <p:nvPr/>
        </p:nvSpPr>
        <p:spPr>
          <a:xfrm>
            <a:off x="8869680" y="3218688"/>
            <a:ext cx="2926080" cy="274320"/>
          </a:xfrm>
          <a:prstGeom prst="rect">
            <a:avLst/>
          </a:prstGeom>
          <a:noFill/>
        </p:spPr>
        <p:txBody>
          <a:bodyPr wrap="square" anchor="t" lIns="0" rIns="0" tIns="0" bIns="0">
            <a:spAutoFit/>
          </a:bodyPr>
          <a:lstStyle/>
          <a:p>
            <a:pPr algn="l">
              <a:lnSpc>
                <a:spcPct val="118000"/>
              </a:lnSpc>
              <a:spcAft>
                <a:spcPts val="300"/>
              </a:spcAft>
            </a:pPr>
            <a:r>
              <a:rPr sz="1300" b="0">
                <a:solidFill>
                  <a:srgbClr val="FFFFFF"/>
                </a:solidFill>
                <a:latin typeface="Segoe UI"/>
              </a:rPr>
              <a:t>Proposed Methodology</a:t>
            </a:r>
          </a:p>
        </p:txBody>
      </p:sp>
      <p:sp>
        <p:nvSpPr>
          <p:cNvPr id="20" name="TextBox 19"/>
          <p:cNvSpPr txBox="1"/>
          <p:nvPr/>
        </p:nvSpPr>
        <p:spPr>
          <a:xfrm>
            <a:off x="8366760" y="3803904"/>
            <a:ext cx="457200" cy="237744"/>
          </a:xfrm>
          <a:prstGeom prst="rect">
            <a:avLst/>
          </a:prstGeom>
          <a:noFill/>
        </p:spPr>
        <p:txBody>
          <a:bodyPr wrap="square" anchor="t" lIns="0" rIns="0" tIns="0" bIns="0">
            <a:spAutoFit/>
          </a:bodyPr>
          <a:lstStyle/>
          <a:p>
            <a:pPr algn="l">
              <a:lnSpc>
                <a:spcPct val="118000"/>
              </a:lnSpc>
              <a:spcAft>
                <a:spcPts val="300"/>
              </a:spcAft>
            </a:pPr>
            <a:r>
              <a:rPr sz="1100" b="1">
                <a:solidFill>
                  <a:srgbClr val="009E6D"/>
                </a:solidFill>
                <a:latin typeface="Segoe UI"/>
              </a:rPr>
              <a:t>05</a:t>
            </a:r>
          </a:p>
        </p:txBody>
      </p:sp>
      <p:sp>
        <p:nvSpPr>
          <p:cNvPr id="21" name="TextBox 20"/>
          <p:cNvSpPr txBox="1"/>
          <p:nvPr/>
        </p:nvSpPr>
        <p:spPr>
          <a:xfrm>
            <a:off x="8869680" y="3785616"/>
            <a:ext cx="2926080" cy="274320"/>
          </a:xfrm>
          <a:prstGeom prst="rect">
            <a:avLst/>
          </a:prstGeom>
          <a:noFill/>
        </p:spPr>
        <p:txBody>
          <a:bodyPr wrap="square" anchor="t" lIns="0" rIns="0" tIns="0" bIns="0">
            <a:spAutoFit/>
          </a:bodyPr>
          <a:lstStyle/>
          <a:p>
            <a:pPr algn="l">
              <a:lnSpc>
                <a:spcPct val="118000"/>
              </a:lnSpc>
              <a:spcAft>
                <a:spcPts val="300"/>
              </a:spcAft>
            </a:pPr>
            <a:r>
              <a:rPr sz="1300" b="0">
                <a:solidFill>
                  <a:srgbClr val="FFFFFF"/>
                </a:solidFill>
                <a:latin typeface="Segoe UI"/>
              </a:rPr>
              <a:t>Results &amp; Comparison</a:t>
            </a:r>
          </a:p>
        </p:txBody>
      </p:sp>
      <p:sp>
        <p:nvSpPr>
          <p:cNvPr id="22" name="TextBox 21"/>
          <p:cNvSpPr txBox="1"/>
          <p:nvPr/>
        </p:nvSpPr>
        <p:spPr>
          <a:xfrm>
            <a:off x="8366760" y="4370832"/>
            <a:ext cx="457200" cy="237744"/>
          </a:xfrm>
          <a:prstGeom prst="rect">
            <a:avLst/>
          </a:prstGeom>
          <a:noFill/>
        </p:spPr>
        <p:txBody>
          <a:bodyPr wrap="square" anchor="t" lIns="0" rIns="0" tIns="0" bIns="0">
            <a:spAutoFit/>
          </a:bodyPr>
          <a:lstStyle/>
          <a:p>
            <a:pPr algn="l">
              <a:lnSpc>
                <a:spcPct val="118000"/>
              </a:lnSpc>
              <a:spcAft>
                <a:spcPts val="300"/>
              </a:spcAft>
            </a:pPr>
            <a:r>
              <a:rPr sz="1100" b="1">
                <a:solidFill>
                  <a:srgbClr val="009E6D"/>
                </a:solidFill>
                <a:latin typeface="Segoe UI"/>
              </a:rPr>
              <a:t>06</a:t>
            </a:r>
          </a:p>
        </p:txBody>
      </p:sp>
      <p:sp>
        <p:nvSpPr>
          <p:cNvPr id="23" name="TextBox 22"/>
          <p:cNvSpPr txBox="1"/>
          <p:nvPr/>
        </p:nvSpPr>
        <p:spPr>
          <a:xfrm>
            <a:off x="8869680" y="4352544"/>
            <a:ext cx="2926080" cy="274320"/>
          </a:xfrm>
          <a:prstGeom prst="rect">
            <a:avLst/>
          </a:prstGeom>
          <a:noFill/>
        </p:spPr>
        <p:txBody>
          <a:bodyPr wrap="square" anchor="t" lIns="0" rIns="0" tIns="0" bIns="0">
            <a:spAutoFit/>
          </a:bodyPr>
          <a:lstStyle/>
          <a:p>
            <a:pPr algn="l">
              <a:lnSpc>
                <a:spcPct val="118000"/>
              </a:lnSpc>
              <a:spcAft>
                <a:spcPts val="300"/>
              </a:spcAft>
            </a:pPr>
            <a:r>
              <a:rPr sz="1300" b="0">
                <a:solidFill>
                  <a:srgbClr val="FFFFFF"/>
                </a:solidFill>
                <a:latin typeface="Segoe UI"/>
              </a:rPr>
              <a:t>Limitations &amp; Conclusion</a:t>
            </a:r>
          </a:p>
        </p:txBody>
      </p:sp>
      <p:sp>
        <p:nvSpPr>
          <p:cNvPr id="24" name="TextBox 23"/>
          <p:cNvSpPr txBox="1"/>
          <p:nvPr/>
        </p:nvSpPr>
        <p:spPr>
          <a:xfrm>
            <a:off x="8366760" y="4937760"/>
            <a:ext cx="457200" cy="237744"/>
          </a:xfrm>
          <a:prstGeom prst="rect">
            <a:avLst/>
          </a:prstGeom>
          <a:noFill/>
        </p:spPr>
        <p:txBody>
          <a:bodyPr wrap="square" anchor="t" lIns="0" rIns="0" tIns="0" bIns="0">
            <a:spAutoFit/>
          </a:bodyPr>
          <a:lstStyle/>
          <a:p>
            <a:pPr algn="l">
              <a:lnSpc>
                <a:spcPct val="118000"/>
              </a:lnSpc>
              <a:spcAft>
                <a:spcPts val="300"/>
              </a:spcAft>
            </a:pPr>
            <a:r>
              <a:rPr sz="1100" b="1">
                <a:solidFill>
                  <a:srgbClr val="009E6D"/>
                </a:solidFill>
                <a:latin typeface="Segoe UI"/>
              </a:rPr>
              <a:t>07</a:t>
            </a:r>
          </a:p>
        </p:txBody>
      </p:sp>
      <p:sp>
        <p:nvSpPr>
          <p:cNvPr id="25" name="TextBox 24"/>
          <p:cNvSpPr txBox="1"/>
          <p:nvPr/>
        </p:nvSpPr>
        <p:spPr>
          <a:xfrm>
            <a:off x="8869680" y="4919472"/>
            <a:ext cx="2926080" cy="274320"/>
          </a:xfrm>
          <a:prstGeom prst="rect">
            <a:avLst/>
          </a:prstGeom>
          <a:noFill/>
        </p:spPr>
        <p:txBody>
          <a:bodyPr wrap="square" anchor="t" lIns="0" rIns="0" tIns="0" bIns="0">
            <a:spAutoFit/>
          </a:bodyPr>
          <a:lstStyle/>
          <a:p>
            <a:pPr algn="l">
              <a:lnSpc>
                <a:spcPct val="118000"/>
              </a:lnSpc>
              <a:spcAft>
                <a:spcPts val="300"/>
              </a:spcAft>
            </a:pPr>
            <a:r>
              <a:rPr sz="1300" b="0">
                <a:solidFill>
                  <a:srgbClr val="FFFFFF"/>
                </a:solidFill>
                <a:latin typeface="Segoe UI"/>
              </a:rPr>
              <a:t>References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58368" y="365760"/>
            <a:ext cx="10874959" cy="237744"/>
          </a:xfrm>
          <a:prstGeom prst="rect">
            <a:avLst/>
          </a:prstGeom>
          <a:noFill/>
        </p:spPr>
        <p:txBody>
          <a:bodyPr wrap="square" anchor="t" lIns="0" rIns="0" tIns="0" bIns="0">
            <a:spAutoFit/>
          </a:bodyPr>
          <a:lstStyle/>
          <a:p>
            <a:pPr algn="l">
              <a:lnSpc>
                <a:spcPct val="118000"/>
              </a:lnSpc>
              <a:spcAft>
                <a:spcPts val="300"/>
              </a:spcAft>
            </a:pPr>
            <a:r>
              <a:rPr sz="1100" b="1">
                <a:solidFill>
                  <a:srgbClr val="009E6D"/>
                </a:solidFill>
                <a:latin typeface="Segoe UI"/>
              </a:rPr>
              <a:t>1.2  INTRODUCTION</a:t>
            </a:r>
          </a:p>
        </p:txBody>
      </p:sp>
      <p:sp>
        <p:nvSpPr>
          <p:cNvPr id="5" name="TextBox 4"/>
          <p:cNvSpPr txBox="1"/>
          <p:nvPr/>
        </p:nvSpPr>
        <p:spPr>
          <a:xfrm>
            <a:off x="658368" y="603504"/>
            <a:ext cx="10874959" cy="457200"/>
          </a:xfrm>
          <a:prstGeom prst="rect">
            <a:avLst/>
          </a:prstGeom>
          <a:noFill/>
        </p:spPr>
        <p:txBody>
          <a:bodyPr wrap="square" anchor="t" lIns="0" rIns="0" tIns="0" bIns="0">
            <a:spAutoFit/>
          </a:bodyPr>
          <a:lstStyle/>
          <a:p>
            <a:pPr algn="l">
              <a:lnSpc>
                <a:spcPct val="118000"/>
              </a:lnSpc>
              <a:spcAft>
                <a:spcPts val="300"/>
              </a:spcAft>
            </a:pPr>
            <a:r>
              <a:rPr sz="2600" b="1">
                <a:solidFill>
                  <a:srgbClr val="0B1224"/>
                </a:solidFill>
                <a:latin typeface="Segoe UI"/>
              </a:rPr>
              <a:t>Project introduction</a:t>
            </a:r>
          </a:p>
        </p:txBody>
      </p:sp>
      <p:sp>
        <p:nvSpPr>
          <p:cNvPr id="6" name="TextBox 5"/>
          <p:cNvSpPr txBox="1"/>
          <p:nvPr/>
        </p:nvSpPr>
        <p:spPr>
          <a:xfrm>
            <a:off x="658368" y="1115568"/>
            <a:ext cx="10874959" cy="457200"/>
          </a:xfrm>
          <a:prstGeom prst="rect">
            <a:avLst/>
          </a:prstGeom>
          <a:noFill/>
        </p:spPr>
        <p:txBody>
          <a:bodyPr wrap="square" anchor="t" lIns="0" rIns="0" tIns="0" bIns="0">
            <a:spAutoFit/>
          </a:bodyPr>
          <a:lstStyle/>
          <a:p>
            <a:pPr algn="l">
              <a:lnSpc>
                <a:spcPct val="118000"/>
              </a:lnSpc>
              <a:spcAft>
                <a:spcPts val="300"/>
              </a:spcAft>
            </a:pPr>
            <a:r>
              <a:rPr sz="1300" b="0">
                <a:solidFill>
                  <a:srgbClr val="3A485C"/>
                </a:solidFill>
                <a:latin typeface="Segoe UI"/>
              </a:rPr>
              <a:t>DayMark is a workforce, attendance and project-delivery platform for organisations that run shift-based operations. It unifies verified attendance, project planning and delivery tracking in one multi-tenant system, and adds a machine-learning model that estimates the effort of each task from its written description.</a:t>
            </a:r>
          </a:p>
        </p:txBody>
      </p:sp>
      <p:sp>
        <p:nvSpPr>
          <p:cNvPr id="7" name="Rounded Rectangle 6"/>
          <p:cNvSpPr/>
          <p:nvPr/>
        </p:nvSpPr>
        <p:spPr>
          <a:xfrm>
            <a:off x="658368" y="1847088"/>
            <a:ext cx="5330952" cy="1298448"/>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1847088"/>
            <a:ext cx="41148" cy="1298448"/>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77824" y="1984248"/>
            <a:ext cx="4946904" cy="237744"/>
          </a:xfrm>
          <a:prstGeom prst="rect">
            <a:avLst/>
          </a:prstGeom>
          <a:noFill/>
        </p:spPr>
        <p:txBody>
          <a:bodyPr wrap="square" anchor="t" lIns="0" rIns="0" tIns="0" bIns="0">
            <a:spAutoFit/>
          </a:bodyPr>
          <a:lstStyle/>
          <a:p>
            <a:pPr algn="l">
              <a:lnSpc>
                <a:spcPct val="118000"/>
              </a:lnSpc>
              <a:spcAft>
                <a:spcPts val="300"/>
              </a:spcAft>
            </a:pPr>
            <a:r>
              <a:rPr sz="1300" b="1">
                <a:solidFill>
                  <a:srgbClr val="0B1224"/>
                </a:solidFill>
                <a:latin typeface="Segoe UI"/>
              </a:rPr>
              <a:t>Verified attendance</a:t>
            </a:r>
          </a:p>
        </p:txBody>
      </p:sp>
      <p:sp>
        <p:nvSpPr>
          <p:cNvPr id="10" name="TextBox 9"/>
          <p:cNvSpPr txBox="1"/>
          <p:nvPr/>
        </p:nvSpPr>
        <p:spPr>
          <a:xfrm>
            <a:off x="877824" y="2267712"/>
            <a:ext cx="4946904" cy="749808"/>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GPS geofencing with radius and accuracy limits, one-time challenge tokens per scan, and business-day logic that correctly handles shifts crossing midnight.</a:t>
            </a:r>
          </a:p>
        </p:txBody>
      </p:sp>
      <p:sp>
        <p:nvSpPr>
          <p:cNvPr id="11" name="Rounded Rectangle 10"/>
          <p:cNvSpPr/>
          <p:nvPr/>
        </p:nvSpPr>
        <p:spPr>
          <a:xfrm>
            <a:off x="6199632" y="1847088"/>
            <a:ext cx="5330952" cy="1298448"/>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199632" y="1847088"/>
            <a:ext cx="41148" cy="1298448"/>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19088" y="1984248"/>
            <a:ext cx="4946904" cy="237744"/>
          </a:xfrm>
          <a:prstGeom prst="rect">
            <a:avLst/>
          </a:prstGeom>
          <a:noFill/>
        </p:spPr>
        <p:txBody>
          <a:bodyPr wrap="square" anchor="t" lIns="0" rIns="0" tIns="0" bIns="0">
            <a:spAutoFit/>
          </a:bodyPr>
          <a:lstStyle/>
          <a:p>
            <a:pPr algn="l">
              <a:lnSpc>
                <a:spcPct val="118000"/>
              </a:lnSpc>
              <a:spcAft>
                <a:spcPts val="300"/>
              </a:spcAft>
            </a:pPr>
            <a:r>
              <a:rPr sz="1300" b="1">
                <a:solidFill>
                  <a:srgbClr val="0B1224"/>
                </a:solidFill>
                <a:latin typeface="Segoe UI"/>
              </a:rPr>
              <a:t>Project delivery</a:t>
            </a:r>
          </a:p>
        </p:txBody>
      </p:sp>
      <p:sp>
        <p:nvSpPr>
          <p:cNvPr id="14" name="TextBox 13"/>
          <p:cNvSpPr txBox="1"/>
          <p:nvPr/>
        </p:nvSpPr>
        <p:spPr>
          <a:xfrm>
            <a:off x="6419088" y="2267712"/>
            <a:ext cx="4946904" cy="749808"/>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Projects and tasks with Kanban and list views, dependency graphs, time logging, and weighted progress derived from predicted task effort.</a:t>
            </a:r>
          </a:p>
        </p:txBody>
      </p:sp>
      <p:sp>
        <p:nvSpPr>
          <p:cNvPr id="15" name="Rounded Rectangle 14"/>
          <p:cNvSpPr/>
          <p:nvPr/>
        </p:nvSpPr>
        <p:spPr>
          <a:xfrm>
            <a:off x="658368" y="3328416"/>
            <a:ext cx="5330952" cy="1298448"/>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58368" y="3328416"/>
            <a:ext cx="41148" cy="1298448"/>
          </a:xfrm>
          <a:prstGeom prst="rect">
            <a:avLst/>
          </a:prstGeom>
          <a:solidFill>
            <a:srgbClr val="C26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77824" y="3465576"/>
            <a:ext cx="4946904" cy="237744"/>
          </a:xfrm>
          <a:prstGeom prst="rect">
            <a:avLst/>
          </a:prstGeom>
          <a:noFill/>
        </p:spPr>
        <p:txBody>
          <a:bodyPr wrap="square" anchor="t" lIns="0" rIns="0" tIns="0" bIns="0">
            <a:spAutoFit/>
          </a:bodyPr>
          <a:lstStyle/>
          <a:p>
            <a:pPr algn="l">
              <a:lnSpc>
                <a:spcPct val="118000"/>
              </a:lnSpc>
              <a:spcAft>
                <a:spcPts val="300"/>
              </a:spcAft>
            </a:pPr>
            <a:r>
              <a:rPr sz="1300" b="1">
                <a:solidFill>
                  <a:srgbClr val="0B1224"/>
                </a:solidFill>
                <a:latin typeface="Segoe UI"/>
              </a:rPr>
              <a:t>Trained effort model</a:t>
            </a:r>
          </a:p>
        </p:txBody>
      </p:sp>
      <p:sp>
        <p:nvSpPr>
          <p:cNvPr id="18" name="TextBox 17"/>
          <p:cNvSpPr txBox="1"/>
          <p:nvPr/>
        </p:nvSpPr>
        <p:spPr>
          <a:xfrm>
            <a:off x="877824" y="3749040"/>
            <a:ext cx="4946904" cy="749808"/>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A TF-IDF and Ridge regression model, trained by us on 22,612 real Jira issues, that predicts each task's effort and derives its share of project scope.</a:t>
            </a:r>
          </a:p>
        </p:txBody>
      </p:sp>
      <p:sp>
        <p:nvSpPr>
          <p:cNvPr id="19" name="Rounded Rectangle 18"/>
          <p:cNvSpPr/>
          <p:nvPr/>
        </p:nvSpPr>
        <p:spPr>
          <a:xfrm>
            <a:off x="6199632" y="3328416"/>
            <a:ext cx="5330952" cy="1298448"/>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199632" y="3328416"/>
            <a:ext cx="41148" cy="1298448"/>
          </a:xfrm>
          <a:prstGeom prst="rect">
            <a:avLst/>
          </a:prstGeom>
          <a:solidFill>
            <a:srgbClr val="C26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19088" y="3465576"/>
            <a:ext cx="4946904" cy="237744"/>
          </a:xfrm>
          <a:prstGeom prst="rect">
            <a:avLst/>
          </a:prstGeom>
          <a:noFill/>
        </p:spPr>
        <p:txBody>
          <a:bodyPr wrap="square" anchor="t" lIns="0" rIns="0" tIns="0" bIns="0">
            <a:spAutoFit/>
          </a:bodyPr>
          <a:lstStyle/>
          <a:p>
            <a:pPr algn="l">
              <a:lnSpc>
                <a:spcPct val="118000"/>
              </a:lnSpc>
              <a:spcAft>
                <a:spcPts val="300"/>
              </a:spcAft>
            </a:pPr>
            <a:r>
              <a:rPr sz="1300" b="1">
                <a:solidFill>
                  <a:srgbClr val="0B1224"/>
                </a:solidFill>
                <a:latin typeface="Segoe UI"/>
              </a:rPr>
              <a:t>Language-model assistant</a:t>
            </a:r>
          </a:p>
        </p:txBody>
      </p:sp>
      <p:sp>
        <p:nvSpPr>
          <p:cNvPr id="22" name="TextBox 21"/>
          <p:cNvSpPr txBox="1"/>
          <p:nvPr/>
        </p:nvSpPr>
        <p:spPr>
          <a:xfrm>
            <a:off x="6419088" y="3749040"/>
            <a:ext cx="4946904" cy="749808"/>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A natural-language interface that drafts project plans and creates tasks, constrained by an action allowlist and a mandatory human confirmation step.</a:t>
            </a:r>
          </a:p>
        </p:txBody>
      </p:sp>
      <p:sp>
        <p:nvSpPr>
          <p:cNvPr id="23" name="Rounded Rectangle 22"/>
          <p:cNvSpPr/>
          <p:nvPr/>
        </p:nvSpPr>
        <p:spPr>
          <a:xfrm>
            <a:off x="658368" y="4956048"/>
            <a:ext cx="2487168" cy="822960"/>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22960" y="5065776"/>
            <a:ext cx="2212848" cy="329184"/>
          </a:xfrm>
          <a:prstGeom prst="rect">
            <a:avLst/>
          </a:prstGeom>
          <a:noFill/>
        </p:spPr>
        <p:txBody>
          <a:bodyPr wrap="square" anchor="t" lIns="0" rIns="0" tIns="0" bIns="0">
            <a:spAutoFit/>
          </a:bodyPr>
          <a:lstStyle/>
          <a:p>
            <a:pPr algn="l">
              <a:lnSpc>
                <a:spcPct val="118000"/>
              </a:lnSpc>
              <a:spcAft>
                <a:spcPts val="300"/>
              </a:spcAft>
            </a:pPr>
            <a:r>
              <a:rPr sz="2000" b="1">
                <a:solidFill>
                  <a:srgbClr val="009E6D"/>
                </a:solidFill>
                <a:latin typeface="Segoe UI"/>
              </a:rPr>
              <a:t>3</a:t>
            </a:r>
          </a:p>
        </p:txBody>
      </p:sp>
      <p:sp>
        <p:nvSpPr>
          <p:cNvPr id="25" name="TextBox 24"/>
          <p:cNvSpPr txBox="1"/>
          <p:nvPr/>
        </p:nvSpPr>
        <p:spPr>
          <a:xfrm>
            <a:off x="822960" y="5449824"/>
            <a:ext cx="2212848" cy="219456"/>
          </a:xfrm>
          <a:prstGeom prst="rect">
            <a:avLst/>
          </a:prstGeom>
          <a:noFill/>
        </p:spPr>
        <p:txBody>
          <a:bodyPr wrap="square" anchor="t" lIns="0" rIns="0" tIns="0" bIns="0">
            <a:spAutoFit/>
          </a:bodyPr>
          <a:lstStyle/>
          <a:p>
            <a:pPr algn="l">
              <a:lnSpc>
                <a:spcPct val="118000"/>
              </a:lnSpc>
              <a:spcAft>
                <a:spcPts val="300"/>
              </a:spcAft>
            </a:pPr>
            <a:r>
              <a:rPr sz="900" b="1">
                <a:solidFill>
                  <a:srgbClr val="6B7A90"/>
                </a:solidFill>
                <a:latin typeface="Segoe UI"/>
              </a:rPr>
              <a:t>APPLICATIONS</a:t>
            </a:r>
          </a:p>
        </p:txBody>
      </p:sp>
      <p:sp>
        <p:nvSpPr>
          <p:cNvPr id="26" name="Rounded Rectangle 25"/>
          <p:cNvSpPr/>
          <p:nvPr/>
        </p:nvSpPr>
        <p:spPr>
          <a:xfrm>
            <a:off x="3392424" y="4956048"/>
            <a:ext cx="2487168" cy="822960"/>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557016" y="5065776"/>
            <a:ext cx="2212848" cy="329184"/>
          </a:xfrm>
          <a:prstGeom prst="rect">
            <a:avLst/>
          </a:prstGeom>
          <a:noFill/>
        </p:spPr>
        <p:txBody>
          <a:bodyPr wrap="square" anchor="t" lIns="0" rIns="0" tIns="0" bIns="0">
            <a:spAutoFit/>
          </a:bodyPr>
          <a:lstStyle/>
          <a:p>
            <a:pPr algn="l">
              <a:lnSpc>
                <a:spcPct val="118000"/>
              </a:lnSpc>
              <a:spcAft>
                <a:spcPts val="300"/>
              </a:spcAft>
            </a:pPr>
            <a:r>
              <a:rPr sz="2000" b="1">
                <a:solidFill>
                  <a:srgbClr val="009E6D"/>
                </a:solidFill>
                <a:latin typeface="Segoe UI"/>
              </a:rPr>
              <a:t>30,574</a:t>
            </a:r>
          </a:p>
        </p:txBody>
      </p:sp>
      <p:sp>
        <p:nvSpPr>
          <p:cNvPr id="28" name="TextBox 27"/>
          <p:cNvSpPr txBox="1"/>
          <p:nvPr/>
        </p:nvSpPr>
        <p:spPr>
          <a:xfrm>
            <a:off x="3557016" y="5449824"/>
            <a:ext cx="2212848" cy="219456"/>
          </a:xfrm>
          <a:prstGeom prst="rect">
            <a:avLst/>
          </a:prstGeom>
          <a:noFill/>
        </p:spPr>
        <p:txBody>
          <a:bodyPr wrap="square" anchor="t" lIns="0" rIns="0" tIns="0" bIns="0">
            <a:spAutoFit/>
          </a:bodyPr>
          <a:lstStyle/>
          <a:p>
            <a:pPr algn="l">
              <a:lnSpc>
                <a:spcPct val="118000"/>
              </a:lnSpc>
              <a:spcAft>
                <a:spcPts val="300"/>
              </a:spcAft>
            </a:pPr>
            <a:r>
              <a:rPr sz="900" b="1">
                <a:solidFill>
                  <a:srgbClr val="6B7A90"/>
                </a:solidFill>
                <a:latin typeface="Segoe UI"/>
              </a:rPr>
              <a:t>LINES OF CODE</a:t>
            </a:r>
          </a:p>
        </p:txBody>
      </p:sp>
      <p:sp>
        <p:nvSpPr>
          <p:cNvPr id="29" name="Rounded Rectangle 28"/>
          <p:cNvSpPr/>
          <p:nvPr/>
        </p:nvSpPr>
        <p:spPr>
          <a:xfrm>
            <a:off x="6126480" y="4956048"/>
            <a:ext cx="2487168" cy="822960"/>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291072" y="5065776"/>
            <a:ext cx="2212848" cy="329184"/>
          </a:xfrm>
          <a:prstGeom prst="rect">
            <a:avLst/>
          </a:prstGeom>
          <a:noFill/>
        </p:spPr>
        <p:txBody>
          <a:bodyPr wrap="square" anchor="t" lIns="0" rIns="0" tIns="0" bIns="0">
            <a:spAutoFit/>
          </a:bodyPr>
          <a:lstStyle/>
          <a:p>
            <a:pPr algn="l">
              <a:lnSpc>
                <a:spcPct val="118000"/>
              </a:lnSpc>
              <a:spcAft>
                <a:spcPts val="300"/>
              </a:spcAft>
            </a:pPr>
            <a:r>
              <a:rPr sz="2000" b="1">
                <a:solidFill>
                  <a:srgbClr val="009E6D"/>
                </a:solidFill>
                <a:latin typeface="Segoe UI"/>
              </a:rPr>
              <a:t>110</a:t>
            </a:r>
          </a:p>
        </p:txBody>
      </p:sp>
      <p:sp>
        <p:nvSpPr>
          <p:cNvPr id="31" name="TextBox 30"/>
          <p:cNvSpPr txBox="1"/>
          <p:nvPr/>
        </p:nvSpPr>
        <p:spPr>
          <a:xfrm>
            <a:off x="6291072" y="5449824"/>
            <a:ext cx="2212848" cy="219456"/>
          </a:xfrm>
          <a:prstGeom prst="rect">
            <a:avLst/>
          </a:prstGeom>
          <a:noFill/>
        </p:spPr>
        <p:txBody>
          <a:bodyPr wrap="square" anchor="t" lIns="0" rIns="0" tIns="0" bIns="0">
            <a:spAutoFit/>
          </a:bodyPr>
          <a:lstStyle/>
          <a:p>
            <a:pPr algn="l">
              <a:lnSpc>
                <a:spcPct val="118000"/>
              </a:lnSpc>
              <a:spcAft>
                <a:spcPts val="300"/>
              </a:spcAft>
            </a:pPr>
            <a:r>
              <a:rPr sz="900" b="1">
                <a:solidFill>
                  <a:srgbClr val="6B7A90"/>
                </a:solidFill>
                <a:latin typeface="Segoe UI"/>
              </a:rPr>
              <a:t>AUTOMATED TESTS</a:t>
            </a:r>
          </a:p>
        </p:txBody>
      </p:sp>
      <p:sp>
        <p:nvSpPr>
          <p:cNvPr id="32" name="Rounded Rectangle 31"/>
          <p:cNvSpPr/>
          <p:nvPr/>
        </p:nvSpPr>
        <p:spPr>
          <a:xfrm>
            <a:off x="8860536" y="4956048"/>
            <a:ext cx="2487168" cy="822960"/>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025128" y="5065776"/>
            <a:ext cx="2212848" cy="329184"/>
          </a:xfrm>
          <a:prstGeom prst="rect">
            <a:avLst/>
          </a:prstGeom>
          <a:noFill/>
        </p:spPr>
        <p:txBody>
          <a:bodyPr wrap="square" anchor="t" lIns="0" rIns="0" tIns="0" bIns="0">
            <a:spAutoFit/>
          </a:bodyPr>
          <a:lstStyle/>
          <a:p>
            <a:pPr algn="l">
              <a:lnSpc>
                <a:spcPct val="118000"/>
              </a:lnSpc>
              <a:spcAft>
                <a:spcPts val="300"/>
              </a:spcAft>
            </a:pPr>
            <a:r>
              <a:rPr sz="2000" b="1">
                <a:solidFill>
                  <a:srgbClr val="009E6D"/>
                </a:solidFill>
                <a:latin typeface="Segoe UI"/>
              </a:rPr>
              <a:t>88</a:t>
            </a:r>
          </a:p>
        </p:txBody>
      </p:sp>
      <p:sp>
        <p:nvSpPr>
          <p:cNvPr id="34" name="TextBox 33"/>
          <p:cNvSpPr txBox="1"/>
          <p:nvPr/>
        </p:nvSpPr>
        <p:spPr>
          <a:xfrm>
            <a:off x="9025128" y="5449824"/>
            <a:ext cx="2212848" cy="219456"/>
          </a:xfrm>
          <a:prstGeom prst="rect">
            <a:avLst/>
          </a:prstGeom>
          <a:noFill/>
        </p:spPr>
        <p:txBody>
          <a:bodyPr wrap="square" anchor="t" lIns="0" rIns="0" tIns="0" bIns="0">
            <a:spAutoFit/>
          </a:bodyPr>
          <a:lstStyle/>
          <a:p>
            <a:pPr algn="l">
              <a:lnSpc>
                <a:spcPct val="118000"/>
              </a:lnSpc>
              <a:spcAft>
                <a:spcPts val="300"/>
              </a:spcAft>
            </a:pPr>
            <a:r>
              <a:rPr sz="900" b="1">
                <a:solidFill>
                  <a:srgbClr val="6B7A90"/>
                </a:solidFill>
                <a:latin typeface="Segoe UI"/>
              </a:rPr>
              <a:t>API ENDPOINTS</a:t>
            </a:r>
          </a:p>
        </p:txBody>
      </p:sp>
      <p:sp>
        <p:nvSpPr>
          <p:cNvPr id="35" name="TextBox 34"/>
          <p:cNvSpPr txBox="1"/>
          <p:nvPr/>
        </p:nvSpPr>
        <p:spPr>
          <a:xfrm>
            <a:off x="658368" y="5925312"/>
            <a:ext cx="10874959" cy="274320"/>
          </a:xfrm>
          <a:prstGeom prst="rect">
            <a:avLst/>
          </a:prstGeom>
          <a:noFill/>
        </p:spPr>
        <p:txBody>
          <a:bodyPr wrap="square" anchor="t" lIns="0" rIns="0" tIns="0" bIns="0">
            <a:spAutoFit/>
          </a:bodyPr>
          <a:lstStyle/>
          <a:p>
            <a:pPr algn="l">
              <a:lnSpc>
                <a:spcPct val="118000"/>
              </a:lnSpc>
              <a:spcAft>
                <a:spcPts val="300"/>
              </a:spcAft>
            </a:pPr>
            <a:r>
              <a:rPr sz="1050" b="0">
                <a:solidFill>
                  <a:srgbClr val="6B7A90"/>
                </a:solidFill>
                <a:latin typeface="Segoe UI"/>
              </a:rPr>
              <a:t>Web application (React), REST API (Node and PostgreSQL), and an Android attendance client, sharing one database and one permission model.</a:t>
            </a:r>
          </a:p>
        </p:txBody>
      </p:sp>
      <p:sp>
        <p:nvSpPr>
          <p:cNvPr id="36" name="Rectangle 35"/>
          <p:cNvSpPr/>
          <p:nvPr/>
        </p:nvSpPr>
        <p:spPr>
          <a:xfrm>
            <a:off x="658368" y="6419088"/>
            <a:ext cx="10874959" cy="9525"/>
          </a:xfrm>
          <a:prstGeom prst="rect">
            <a:avLst/>
          </a:prstGeom>
          <a:solidFill>
            <a:srgbClr val="DD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8368" y="6510528"/>
            <a:ext cx="6400800" cy="219456"/>
          </a:xfrm>
          <a:prstGeom prst="rect">
            <a:avLst/>
          </a:prstGeom>
          <a:noFill/>
        </p:spPr>
        <p:txBody>
          <a:bodyPr wrap="square" anchor="t" lIns="0" rIns="0" tIns="0" bIns="0">
            <a:spAutoFit/>
          </a:bodyPr>
          <a:lstStyle/>
          <a:p>
            <a:pPr algn="l">
              <a:lnSpc>
                <a:spcPct val="118000"/>
              </a:lnSpc>
              <a:spcAft>
                <a:spcPts val="300"/>
              </a:spcAft>
            </a:pPr>
            <a:r>
              <a:rPr sz="900" b="0">
                <a:solidFill>
                  <a:srgbClr val="9AA8BC"/>
                </a:solidFill>
                <a:latin typeface="Segoe UI"/>
              </a:rPr>
              <a:t>DayMark  ·  Final Year Project</a:t>
            </a:r>
          </a:p>
        </p:txBody>
      </p:sp>
      <p:sp>
        <p:nvSpPr>
          <p:cNvPr id="38" name="TextBox 37"/>
          <p:cNvSpPr txBox="1"/>
          <p:nvPr/>
        </p:nvSpPr>
        <p:spPr>
          <a:xfrm>
            <a:off x="11076127" y="6510528"/>
            <a:ext cx="457200" cy="219456"/>
          </a:xfrm>
          <a:prstGeom prst="rect">
            <a:avLst/>
          </a:prstGeom>
          <a:noFill/>
        </p:spPr>
        <p:txBody>
          <a:bodyPr wrap="square" anchor="t" lIns="0" rIns="0" tIns="0" bIns="0">
            <a:spAutoFit/>
          </a:bodyPr>
          <a:lstStyle/>
          <a:p>
            <a:pPr algn="r">
              <a:lnSpc>
                <a:spcPct val="118000"/>
              </a:lnSpc>
              <a:spcAft>
                <a:spcPts val="300"/>
              </a:spcAft>
            </a:pPr>
            <a:r>
              <a:rPr sz="900" b="1">
                <a:solidFill>
                  <a:srgbClr val="6B7A90"/>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58368" y="365760"/>
            <a:ext cx="10874959" cy="237744"/>
          </a:xfrm>
          <a:prstGeom prst="rect">
            <a:avLst/>
          </a:prstGeom>
          <a:noFill/>
        </p:spPr>
        <p:txBody>
          <a:bodyPr wrap="square" anchor="t" lIns="0" rIns="0" tIns="0" bIns="0">
            <a:spAutoFit/>
          </a:bodyPr>
          <a:lstStyle/>
          <a:p>
            <a:pPr algn="l">
              <a:lnSpc>
                <a:spcPct val="118000"/>
              </a:lnSpc>
              <a:spcAft>
                <a:spcPts val="300"/>
              </a:spcAft>
            </a:pPr>
            <a:r>
              <a:rPr sz="1100" b="1">
                <a:solidFill>
                  <a:srgbClr val="009E6D"/>
                </a:solidFill>
                <a:latin typeface="Segoe UI"/>
              </a:rPr>
              <a:t>1.3  PROBLEM</a:t>
            </a:r>
          </a:p>
        </p:txBody>
      </p:sp>
      <p:sp>
        <p:nvSpPr>
          <p:cNvPr id="5" name="TextBox 4"/>
          <p:cNvSpPr txBox="1"/>
          <p:nvPr/>
        </p:nvSpPr>
        <p:spPr>
          <a:xfrm>
            <a:off x="658368" y="603504"/>
            <a:ext cx="10874959" cy="457200"/>
          </a:xfrm>
          <a:prstGeom prst="rect">
            <a:avLst/>
          </a:prstGeom>
          <a:noFill/>
        </p:spPr>
        <p:txBody>
          <a:bodyPr wrap="square" anchor="t" lIns="0" rIns="0" tIns="0" bIns="0">
            <a:spAutoFit/>
          </a:bodyPr>
          <a:lstStyle/>
          <a:p>
            <a:pPr algn="l">
              <a:lnSpc>
                <a:spcPct val="118000"/>
              </a:lnSpc>
              <a:spcAft>
                <a:spcPts val="300"/>
              </a:spcAft>
            </a:pPr>
            <a:r>
              <a:rPr sz="2600" b="1">
                <a:solidFill>
                  <a:srgbClr val="0B1224"/>
                </a:solidFill>
                <a:latin typeface="Segoe UI"/>
              </a:rPr>
              <a:t>Problem statement</a:t>
            </a:r>
          </a:p>
        </p:txBody>
      </p:sp>
      <p:sp>
        <p:nvSpPr>
          <p:cNvPr id="6" name="Rounded Rectangle 5"/>
          <p:cNvSpPr/>
          <p:nvPr/>
        </p:nvSpPr>
        <p:spPr>
          <a:xfrm>
            <a:off x="658368" y="1170432"/>
            <a:ext cx="10874959" cy="1078992"/>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58368" y="1170432"/>
            <a:ext cx="41148" cy="1078992"/>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96112" y="1316736"/>
            <a:ext cx="548640" cy="274320"/>
          </a:xfrm>
          <a:prstGeom prst="rect">
            <a:avLst/>
          </a:prstGeom>
          <a:noFill/>
        </p:spPr>
        <p:txBody>
          <a:bodyPr wrap="square" anchor="t" lIns="0" rIns="0" tIns="0" bIns="0">
            <a:spAutoFit/>
          </a:bodyPr>
          <a:lstStyle/>
          <a:p>
            <a:pPr algn="l">
              <a:lnSpc>
                <a:spcPct val="118000"/>
              </a:lnSpc>
              <a:spcAft>
                <a:spcPts val="300"/>
              </a:spcAft>
            </a:pPr>
            <a:r>
              <a:rPr sz="1800" b="1">
                <a:solidFill>
                  <a:srgbClr val="A8D8C4"/>
                </a:solidFill>
                <a:latin typeface="Segoe UI"/>
              </a:rPr>
              <a:t>01</a:t>
            </a:r>
          </a:p>
        </p:txBody>
      </p:sp>
      <p:sp>
        <p:nvSpPr>
          <p:cNvPr id="9" name="TextBox 8"/>
          <p:cNvSpPr txBox="1"/>
          <p:nvPr/>
        </p:nvSpPr>
        <p:spPr>
          <a:xfrm>
            <a:off x="1527048" y="1298448"/>
            <a:ext cx="6949440" cy="274320"/>
          </a:xfrm>
          <a:prstGeom prst="rect">
            <a:avLst/>
          </a:prstGeom>
          <a:noFill/>
        </p:spPr>
        <p:txBody>
          <a:bodyPr wrap="square" anchor="t" lIns="0" rIns="0" tIns="0" bIns="0">
            <a:spAutoFit/>
          </a:bodyPr>
          <a:lstStyle/>
          <a:p>
            <a:pPr algn="l">
              <a:lnSpc>
                <a:spcPct val="118000"/>
              </a:lnSpc>
              <a:spcAft>
                <a:spcPts val="300"/>
              </a:spcAft>
            </a:pPr>
            <a:r>
              <a:rPr sz="1400" b="1">
                <a:solidFill>
                  <a:srgbClr val="0B1224"/>
                </a:solidFill>
                <a:latin typeface="Segoe UI"/>
              </a:rPr>
              <a:t>Effort estimation is manual and subjective</a:t>
            </a:r>
          </a:p>
        </p:txBody>
      </p:sp>
      <p:sp>
        <p:nvSpPr>
          <p:cNvPr id="10" name="TextBox 9"/>
          <p:cNvSpPr txBox="1"/>
          <p:nvPr/>
        </p:nvSpPr>
        <p:spPr>
          <a:xfrm>
            <a:off x="1527048" y="1591056"/>
            <a:ext cx="7040880" cy="548640"/>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Assigning effort to tasks is done by hand and depends on the estimator's experience, making it slow and inconsistent across a team.</a:t>
            </a:r>
          </a:p>
        </p:txBody>
      </p:sp>
      <p:sp>
        <p:nvSpPr>
          <p:cNvPr id="11" name="Rounded Rectangle 10"/>
          <p:cNvSpPr/>
          <p:nvPr/>
        </p:nvSpPr>
        <p:spPr>
          <a:xfrm>
            <a:off x="8842247" y="1481328"/>
            <a:ext cx="2560320" cy="457200"/>
          </a:xfrm>
          <a:prstGeom prst="roundRect">
            <a:avLst>
              <a:gd name="adj" fmla="val 5500"/>
            </a:avLst>
          </a:prstGeom>
          <a:solidFill>
            <a:srgbClr val="E6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979408" y="1609344"/>
            <a:ext cx="2377440" cy="274320"/>
          </a:xfrm>
          <a:prstGeom prst="rect">
            <a:avLst/>
          </a:prstGeom>
          <a:noFill/>
        </p:spPr>
        <p:txBody>
          <a:bodyPr wrap="square" anchor="t" lIns="0" rIns="0" tIns="0" bIns="0">
            <a:spAutoFit/>
          </a:bodyPr>
          <a:lstStyle/>
          <a:p>
            <a:pPr algn="l">
              <a:lnSpc>
                <a:spcPct val="118000"/>
              </a:lnSpc>
              <a:spcAft>
                <a:spcPts val="300"/>
              </a:spcAft>
            </a:pPr>
            <a:r>
              <a:rPr sz="950" b="1">
                <a:solidFill>
                  <a:srgbClr val="006B4A"/>
                </a:solidFill>
                <a:latin typeface="Segoe UI"/>
              </a:rPr>
              <a:t>Porru et al., 2016 [3]</a:t>
            </a:r>
          </a:p>
        </p:txBody>
      </p:sp>
      <p:sp>
        <p:nvSpPr>
          <p:cNvPr id="13" name="Rounded Rectangle 12"/>
          <p:cNvSpPr/>
          <p:nvPr/>
        </p:nvSpPr>
        <p:spPr>
          <a:xfrm>
            <a:off x="658368" y="2377440"/>
            <a:ext cx="10874959" cy="1078992"/>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58368" y="2377440"/>
            <a:ext cx="41148" cy="1078992"/>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96112" y="2523744"/>
            <a:ext cx="548640" cy="274320"/>
          </a:xfrm>
          <a:prstGeom prst="rect">
            <a:avLst/>
          </a:prstGeom>
          <a:noFill/>
        </p:spPr>
        <p:txBody>
          <a:bodyPr wrap="square" anchor="t" lIns="0" rIns="0" tIns="0" bIns="0">
            <a:spAutoFit/>
          </a:bodyPr>
          <a:lstStyle/>
          <a:p>
            <a:pPr algn="l">
              <a:lnSpc>
                <a:spcPct val="118000"/>
              </a:lnSpc>
              <a:spcAft>
                <a:spcPts val="300"/>
              </a:spcAft>
            </a:pPr>
            <a:r>
              <a:rPr sz="1800" b="1">
                <a:solidFill>
                  <a:srgbClr val="A8D8C4"/>
                </a:solidFill>
                <a:latin typeface="Segoe UI"/>
              </a:rPr>
              <a:t>02</a:t>
            </a:r>
          </a:p>
        </p:txBody>
      </p:sp>
      <p:sp>
        <p:nvSpPr>
          <p:cNvPr id="16" name="TextBox 15"/>
          <p:cNvSpPr txBox="1"/>
          <p:nvPr/>
        </p:nvSpPr>
        <p:spPr>
          <a:xfrm>
            <a:off x="1527048" y="2505456"/>
            <a:ext cx="6949440" cy="274320"/>
          </a:xfrm>
          <a:prstGeom prst="rect">
            <a:avLst/>
          </a:prstGeom>
          <a:noFill/>
        </p:spPr>
        <p:txBody>
          <a:bodyPr wrap="square" anchor="t" lIns="0" rIns="0" tIns="0" bIns="0">
            <a:spAutoFit/>
          </a:bodyPr>
          <a:lstStyle/>
          <a:p>
            <a:pPr algn="l">
              <a:lnSpc>
                <a:spcPct val="118000"/>
              </a:lnSpc>
              <a:spcAft>
                <a:spcPts val="300"/>
              </a:spcAft>
            </a:pPr>
            <a:r>
              <a:rPr sz="1400" b="1">
                <a:solidFill>
                  <a:srgbClr val="0B1224"/>
                </a:solidFill>
                <a:latin typeface="Segoe UI"/>
              </a:rPr>
              <a:t>Overnight shifts break calendar-day logic</a:t>
            </a:r>
          </a:p>
        </p:txBody>
      </p:sp>
      <p:sp>
        <p:nvSpPr>
          <p:cNvPr id="17" name="TextBox 16"/>
          <p:cNvSpPr txBox="1"/>
          <p:nvPr/>
        </p:nvSpPr>
        <p:spPr>
          <a:xfrm>
            <a:off x="1527048" y="2798064"/>
            <a:ext cx="7040880" cy="548640"/>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A shift from 11:00 PM to 6:00 AM crosses midnight, so software that groups attendance by calendar date splits one night into two incomplete records.</a:t>
            </a:r>
          </a:p>
        </p:txBody>
      </p:sp>
      <p:sp>
        <p:nvSpPr>
          <p:cNvPr id="18" name="Rounded Rectangle 17"/>
          <p:cNvSpPr/>
          <p:nvPr/>
        </p:nvSpPr>
        <p:spPr>
          <a:xfrm>
            <a:off x="8842247" y="2688336"/>
            <a:ext cx="2560320" cy="457200"/>
          </a:xfrm>
          <a:prstGeom prst="roundRect">
            <a:avLst>
              <a:gd name="adj" fmla="val 5500"/>
            </a:avLst>
          </a:prstGeom>
          <a:solidFill>
            <a:srgbClr val="E6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979408" y="2816352"/>
            <a:ext cx="2377440" cy="274320"/>
          </a:xfrm>
          <a:prstGeom prst="rect">
            <a:avLst/>
          </a:prstGeom>
          <a:noFill/>
        </p:spPr>
        <p:txBody>
          <a:bodyPr wrap="square" anchor="t" lIns="0" rIns="0" tIns="0" bIns="0">
            <a:spAutoFit/>
          </a:bodyPr>
          <a:lstStyle/>
          <a:p>
            <a:pPr algn="l">
              <a:lnSpc>
                <a:spcPct val="118000"/>
              </a:lnSpc>
              <a:spcAft>
                <a:spcPts val="300"/>
              </a:spcAft>
            </a:pPr>
            <a:r>
              <a:rPr sz="950" b="1">
                <a:solidFill>
                  <a:srgbClr val="006B4A"/>
                </a:solidFill>
                <a:latin typeface="Segoe UI"/>
              </a:rPr>
              <a:t>Observed in our deployment</a:t>
            </a:r>
          </a:p>
        </p:txBody>
      </p:sp>
      <p:sp>
        <p:nvSpPr>
          <p:cNvPr id="20" name="Rounded Rectangle 19"/>
          <p:cNvSpPr/>
          <p:nvPr/>
        </p:nvSpPr>
        <p:spPr>
          <a:xfrm>
            <a:off x="658368" y="3584448"/>
            <a:ext cx="10874959" cy="1078992"/>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58368" y="3584448"/>
            <a:ext cx="41148" cy="1078992"/>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96112" y="3730752"/>
            <a:ext cx="548640" cy="274320"/>
          </a:xfrm>
          <a:prstGeom prst="rect">
            <a:avLst/>
          </a:prstGeom>
          <a:noFill/>
        </p:spPr>
        <p:txBody>
          <a:bodyPr wrap="square" anchor="t" lIns="0" rIns="0" tIns="0" bIns="0">
            <a:spAutoFit/>
          </a:bodyPr>
          <a:lstStyle/>
          <a:p>
            <a:pPr algn="l">
              <a:lnSpc>
                <a:spcPct val="118000"/>
              </a:lnSpc>
              <a:spcAft>
                <a:spcPts val="300"/>
              </a:spcAft>
            </a:pPr>
            <a:r>
              <a:rPr sz="1800" b="1">
                <a:solidFill>
                  <a:srgbClr val="A8D8C4"/>
                </a:solidFill>
                <a:latin typeface="Segoe UI"/>
              </a:rPr>
              <a:t>03</a:t>
            </a:r>
          </a:p>
        </p:txBody>
      </p:sp>
      <p:sp>
        <p:nvSpPr>
          <p:cNvPr id="23" name="TextBox 22"/>
          <p:cNvSpPr txBox="1"/>
          <p:nvPr/>
        </p:nvSpPr>
        <p:spPr>
          <a:xfrm>
            <a:off x="1527048" y="3712464"/>
            <a:ext cx="6949440" cy="274320"/>
          </a:xfrm>
          <a:prstGeom prst="rect">
            <a:avLst/>
          </a:prstGeom>
          <a:noFill/>
        </p:spPr>
        <p:txBody>
          <a:bodyPr wrap="square" anchor="t" lIns="0" rIns="0" tIns="0" bIns="0">
            <a:spAutoFit/>
          </a:bodyPr>
          <a:lstStyle/>
          <a:p>
            <a:pPr algn="l">
              <a:lnSpc>
                <a:spcPct val="118000"/>
              </a:lnSpc>
              <a:spcAft>
                <a:spcPts val="300"/>
              </a:spcAft>
            </a:pPr>
            <a:r>
              <a:rPr sz="1400" b="1">
                <a:solidFill>
                  <a:srgbClr val="0B1224"/>
                </a:solidFill>
                <a:latin typeface="Segoe UI"/>
              </a:rPr>
              <a:t>Attendance records cannot be verified</a:t>
            </a:r>
          </a:p>
        </p:txBody>
      </p:sp>
      <p:sp>
        <p:nvSpPr>
          <p:cNvPr id="24" name="TextBox 23"/>
          <p:cNvSpPr txBox="1"/>
          <p:nvPr/>
        </p:nvSpPr>
        <p:spPr>
          <a:xfrm>
            <a:off x="1527048" y="4005072"/>
            <a:ext cx="7040880" cy="548640"/>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Manual registers and shared devices make proxy marking trivial, and nothing establishes that the employee was physically present.</a:t>
            </a:r>
          </a:p>
        </p:txBody>
      </p:sp>
      <p:sp>
        <p:nvSpPr>
          <p:cNvPr id="25" name="Rounded Rectangle 24"/>
          <p:cNvSpPr/>
          <p:nvPr/>
        </p:nvSpPr>
        <p:spPr>
          <a:xfrm>
            <a:off x="8842247" y="3895344"/>
            <a:ext cx="2560320" cy="457200"/>
          </a:xfrm>
          <a:prstGeom prst="roundRect">
            <a:avLst>
              <a:gd name="adj" fmla="val 5500"/>
            </a:avLst>
          </a:prstGeom>
          <a:solidFill>
            <a:srgbClr val="E6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979408" y="4023360"/>
            <a:ext cx="2377440" cy="274320"/>
          </a:xfrm>
          <a:prstGeom prst="rect">
            <a:avLst/>
          </a:prstGeom>
          <a:noFill/>
        </p:spPr>
        <p:txBody>
          <a:bodyPr wrap="square" anchor="t" lIns="0" rIns="0" tIns="0" bIns="0">
            <a:spAutoFit/>
          </a:bodyPr>
          <a:lstStyle/>
          <a:p>
            <a:pPr algn="l">
              <a:lnSpc>
                <a:spcPct val="118000"/>
              </a:lnSpc>
              <a:spcAft>
                <a:spcPts val="300"/>
              </a:spcAft>
            </a:pPr>
            <a:r>
              <a:rPr sz="950" b="1">
                <a:solidFill>
                  <a:srgbClr val="006B4A"/>
                </a:solidFill>
                <a:latin typeface="Segoe UI"/>
              </a:rPr>
              <a:t>Motivating requirement</a:t>
            </a:r>
          </a:p>
        </p:txBody>
      </p:sp>
      <p:sp>
        <p:nvSpPr>
          <p:cNvPr id="27" name="Rounded Rectangle 26"/>
          <p:cNvSpPr/>
          <p:nvPr/>
        </p:nvSpPr>
        <p:spPr>
          <a:xfrm>
            <a:off x="658368" y="4791456"/>
            <a:ext cx="10874959" cy="1078992"/>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58368" y="4791456"/>
            <a:ext cx="41148" cy="1078992"/>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96112" y="4937760"/>
            <a:ext cx="548640" cy="274320"/>
          </a:xfrm>
          <a:prstGeom prst="rect">
            <a:avLst/>
          </a:prstGeom>
          <a:noFill/>
        </p:spPr>
        <p:txBody>
          <a:bodyPr wrap="square" anchor="t" lIns="0" rIns="0" tIns="0" bIns="0">
            <a:spAutoFit/>
          </a:bodyPr>
          <a:lstStyle/>
          <a:p>
            <a:pPr algn="l">
              <a:lnSpc>
                <a:spcPct val="118000"/>
              </a:lnSpc>
              <a:spcAft>
                <a:spcPts val="300"/>
              </a:spcAft>
            </a:pPr>
            <a:r>
              <a:rPr sz="1800" b="1">
                <a:solidFill>
                  <a:srgbClr val="A8D8C4"/>
                </a:solidFill>
                <a:latin typeface="Segoe UI"/>
              </a:rPr>
              <a:t>04</a:t>
            </a:r>
          </a:p>
        </p:txBody>
      </p:sp>
      <p:sp>
        <p:nvSpPr>
          <p:cNvPr id="30" name="TextBox 29"/>
          <p:cNvSpPr txBox="1"/>
          <p:nvPr/>
        </p:nvSpPr>
        <p:spPr>
          <a:xfrm>
            <a:off x="1527048" y="4919472"/>
            <a:ext cx="6949440" cy="274320"/>
          </a:xfrm>
          <a:prstGeom prst="rect">
            <a:avLst/>
          </a:prstGeom>
          <a:noFill/>
        </p:spPr>
        <p:txBody>
          <a:bodyPr wrap="square" anchor="t" lIns="0" rIns="0" tIns="0" bIns="0">
            <a:spAutoFit/>
          </a:bodyPr>
          <a:lstStyle/>
          <a:p>
            <a:pPr algn="l">
              <a:lnSpc>
                <a:spcPct val="118000"/>
              </a:lnSpc>
              <a:spcAft>
                <a:spcPts val="300"/>
              </a:spcAft>
            </a:pPr>
            <a:r>
              <a:rPr sz="1400" b="1">
                <a:solidFill>
                  <a:srgbClr val="0B1224"/>
                </a:solidFill>
                <a:latin typeface="Segoe UI"/>
              </a:rPr>
              <a:t>Estimation research is not deployed</a:t>
            </a:r>
          </a:p>
        </p:txBody>
      </p:sp>
      <p:sp>
        <p:nvSpPr>
          <p:cNvPr id="31" name="TextBox 30"/>
          <p:cNvSpPr txBox="1"/>
          <p:nvPr/>
        </p:nvSpPr>
        <p:spPr>
          <a:xfrm>
            <a:off x="1527048" y="5212080"/>
            <a:ext cx="7040880" cy="548640"/>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Published estimators are evaluated offline on historical datasets; they are rarely integrated into a working delivery system where their output drives anything.</a:t>
            </a:r>
          </a:p>
        </p:txBody>
      </p:sp>
      <p:sp>
        <p:nvSpPr>
          <p:cNvPr id="32" name="Rounded Rectangle 31"/>
          <p:cNvSpPr/>
          <p:nvPr/>
        </p:nvSpPr>
        <p:spPr>
          <a:xfrm>
            <a:off x="8842247" y="5102352"/>
            <a:ext cx="2560320" cy="457200"/>
          </a:xfrm>
          <a:prstGeom prst="roundRect">
            <a:avLst>
              <a:gd name="adj" fmla="val 5500"/>
            </a:avLst>
          </a:prstGeom>
          <a:solidFill>
            <a:srgbClr val="E6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979408" y="5230368"/>
            <a:ext cx="2377440" cy="274320"/>
          </a:xfrm>
          <a:prstGeom prst="rect">
            <a:avLst/>
          </a:prstGeom>
          <a:noFill/>
        </p:spPr>
        <p:txBody>
          <a:bodyPr wrap="square" anchor="t" lIns="0" rIns="0" tIns="0" bIns="0">
            <a:spAutoFit/>
          </a:bodyPr>
          <a:lstStyle/>
          <a:p>
            <a:pPr algn="l">
              <a:lnSpc>
                <a:spcPct val="118000"/>
              </a:lnSpc>
              <a:spcAft>
                <a:spcPts val="300"/>
              </a:spcAft>
            </a:pPr>
            <a:r>
              <a:rPr sz="950" b="1">
                <a:solidFill>
                  <a:srgbClr val="006B4A"/>
                </a:solidFill>
                <a:latin typeface="Segoe UI"/>
              </a:rPr>
              <a:t>Gap identified in [1], [2], [4]</a:t>
            </a:r>
          </a:p>
        </p:txBody>
      </p:sp>
      <p:sp>
        <p:nvSpPr>
          <p:cNvPr id="34" name="Rectangle 33"/>
          <p:cNvSpPr/>
          <p:nvPr/>
        </p:nvSpPr>
        <p:spPr>
          <a:xfrm>
            <a:off x="658368" y="6419088"/>
            <a:ext cx="10874959" cy="9525"/>
          </a:xfrm>
          <a:prstGeom prst="rect">
            <a:avLst/>
          </a:prstGeom>
          <a:solidFill>
            <a:srgbClr val="DD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58368" y="6510528"/>
            <a:ext cx="6400800" cy="219456"/>
          </a:xfrm>
          <a:prstGeom prst="rect">
            <a:avLst/>
          </a:prstGeom>
          <a:noFill/>
        </p:spPr>
        <p:txBody>
          <a:bodyPr wrap="square" anchor="t" lIns="0" rIns="0" tIns="0" bIns="0">
            <a:spAutoFit/>
          </a:bodyPr>
          <a:lstStyle/>
          <a:p>
            <a:pPr algn="l">
              <a:lnSpc>
                <a:spcPct val="118000"/>
              </a:lnSpc>
              <a:spcAft>
                <a:spcPts val="300"/>
              </a:spcAft>
            </a:pPr>
            <a:r>
              <a:rPr sz="900" b="0">
                <a:solidFill>
                  <a:srgbClr val="9AA8BC"/>
                </a:solidFill>
                <a:latin typeface="Segoe UI"/>
              </a:rPr>
              <a:t>DayMark  ·  Final Year Project</a:t>
            </a:r>
          </a:p>
        </p:txBody>
      </p:sp>
      <p:sp>
        <p:nvSpPr>
          <p:cNvPr id="36" name="TextBox 35"/>
          <p:cNvSpPr txBox="1"/>
          <p:nvPr/>
        </p:nvSpPr>
        <p:spPr>
          <a:xfrm>
            <a:off x="11076127" y="6510528"/>
            <a:ext cx="457200" cy="219456"/>
          </a:xfrm>
          <a:prstGeom prst="rect">
            <a:avLst/>
          </a:prstGeom>
          <a:noFill/>
        </p:spPr>
        <p:txBody>
          <a:bodyPr wrap="square" anchor="t" lIns="0" rIns="0" tIns="0" bIns="0">
            <a:spAutoFit/>
          </a:bodyPr>
          <a:lstStyle/>
          <a:p>
            <a:pPr algn="r">
              <a:lnSpc>
                <a:spcPct val="118000"/>
              </a:lnSpc>
              <a:spcAft>
                <a:spcPts val="300"/>
              </a:spcAft>
            </a:pPr>
            <a:r>
              <a:rPr sz="900" b="1">
                <a:solidFill>
                  <a:srgbClr val="6B7A90"/>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58368" y="365760"/>
            <a:ext cx="10874959" cy="237744"/>
          </a:xfrm>
          <a:prstGeom prst="rect">
            <a:avLst/>
          </a:prstGeom>
          <a:noFill/>
        </p:spPr>
        <p:txBody>
          <a:bodyPr wrap="square" anchor="t" lIns="0" rIns="0" tIns="0" bIns="0">
            <a:spAutoFit/>
          </a:bodyPr>
          <a:lstStyle/>
          <a:p>
            <a:pPr algn="l">
              <a:lnSpc>
                <a:spcPct val="118000"/>
              </a:lnSpc>
              <a:spcAft>
                <a:spcPts val="300"/>
              </a:spcAft>
            </a:pPr>
            <a:r>
              <a:rPr sz="1100" b="1">
                <a:solidFill>
                  <a:srgbClr val="009E6D"/>
                </a:solidFill>
                <a:latin typeface="Segoe UI"/>
              </a:rPr>
              <a:t>1.4  LITERATURE REVIEW</a:t>
            </a:r>
          </a:p>
        </p:txBody>
      </p:sp>
      <p:sp>
        <p:nvSpPr>
          <p:cNvPr id="5" name="TextBox 4"/>
          <p:cNvSpPr txBox="1"/>
          <p:nvPr/>
        </p:nvSpPr>
        <p:spPr>
          <a:xfrm>
            <a:off x="658368" y="603504"/>
            <a:ext cx="10874959" cy="457200"/>
          </a:xfrm>
          <a:prstGeom prst="rect">
            <a:avLst/>
          </a:prstGeom>
          <a:noFill/>
        </p:spPr>
        <p:txBody>
          <a:bodyPr wrap="square" anchor="t" lIns="0" rIns="0" tIns="0" bIns="0">
            <a:spAutoFit/>
          </a:bodyPr>
          <a:lstStyle/>
          <a:p>
            <a:pPr algn="l">
              <a:lnSpc>
                <a:spcPct val="118000"/>
              </a:lnSpc>
              <a:spcAft>
                <a:spcPts val="300"/>
              </a:spcAft>
            </a:pPr>
            <a:r>
              <a:rPr sz="2600" b="1">
                <a:solidFill>
                  <a:srgbClr val="0B1224"/>
                </a:solidFill>
                <a:latin typeface="Segoe UI"/>
              </a:rPr>
              <a:t>Literature review — base paper</a:t>
            </a:r>
          </a:p>
        </p:txBody>
      </p:sp>
      <p:sp>
        <p:nvSpPr>
          <p:cNvPr id="6" name="Rounded Rectangle 5"/>
          <p:cNvSpPr/>
          <p:nvPr/>
        </p:nvSpPr>
        <p:spPr>
          <a:xfrm>
            <a:off x="658368" y="1133856"/>
            <a:ext cx="10874959" cy="1170432"/>
          </a:xfrm>
          <a:prstGeom prst="roundRect">
            <a:avLst>
              <a:gd name="adj" fmla="val 5500"/>
            </a:avLst>
          </a:prstGeom>
          <a:solidFill>
            <a:srgbClr val="0B1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32688" y="1280160"/>
            <a:ext cx="9144000" cy="219456"/>
          </a:xfrm>
          <a:prstGeom prst="rect">
            <a:avLst/>
          </a:prstGeom>
          <a:noFill/>
        </p:spPr>
        <p:txBody>
          <a:bodyPr wrap="square" anchor="t" lIns="0" rIns="0" tIns="0" bIns="0">
            <a:spAutoFit/>
          </a:bodyPr>
          <a:lstStyle/>
          <a:p>
            <a:pPr algn="l">
              <a:lnSpc>
                <a:spcPct val="118000"/>
              </a:lnSpc>
              <a:spcAft>
                <a:spcPts val="300"/>
              </a:spcAft>
            </a:pPr>
            <a:r>
              <a:rPr sz="950" b="1">
                <a:solidFill>
                  <a:srgbClr val="009E6D"/>
                </a:solidFill>
                <a:latin typeface="Segoe UI"/>
              </a:rPr>
              <a:t>BASE PAPER</a:t>
            </a:r>
          </a:p>
        </p:txBody>
      </p:sp>
      <p:sp>
        <p:nvSpPr>
          <p:cNvPr id="8" name="TextBox 7"/>
          <p:cNvSpPr txBox="1"/>
          <p:nvPr/>
        </p:nvSpPr>
        <p:spPr>
          <a:xfrm>
            <a:off x="932688" y="1536192"/>
            <a:ext cx="10326319" cy="731520"/>
          </a:xfrm>
          <a:prstGeom prst="rect">
            <a:avLst/>
          </a:prstGeom>
          <a:noFill/>
        </p:spPr>
        <p:txBody>
          <a:bodyPr wrap="square" anchor="t" lIns="0" rIns="0" tIns="0" bIns="0">
            <a:spAutoFit/>
          </a:bodyPr>
          <a:lstStyle/>
          <a:p>
            <a:pPr algn="l">
              <a:lnSpc>
                <a:spcPct val="118000"/>
              </a:lnSpc>
              <a:spcAft>
                <a:spcPts val="300"/>
              </a:spcAft>
            </a:pPr>
            <a:r>
              <a:rPr sz="1500" b="1">
                <a:solidFill>
                  <a:srgbClr val="FFFFFF"/>
                </a:solidFill>
                <a:latin typeface="Segoe UI"/>
              </a:rPr>
              <a:t>“A Deep Learning Model for Estimating Story Points”  (Deep-SE)</a:t>
            </a:r>
          </a:p>
          <a:p>
            <a:pPr algn="l">
              <a:lnSpc>
                <a:spcPct val="118000"/>
              </a:lnSpc>
              <a:spcAft>
                <a:spcPts val="300"/>
              </a:spcAft>
            </a:pPr>
            <a:r>
              <a:rPr sz="1100" b="0">
                <a:solidFill>
                  <a:srgbClr val="AFC4D4"/>
                </a:solidFill>
                <a:latin typeface="Segoe UI"/>
              </a:rPr>
              <a:t>Choetkiertikul, Dam, Tran, Pham, Ghose and Menzies · IEEE Transactions on Software Engineering, 45(7), 2019 [1]</a:t>
            </a:r>
          </a:p>
        </p:txBody>
      </p:sp>
      <p:sp>
        <p:nvSpPr>
          <p:cNvPr id="9" name="Rounded Rectangle 8"/>
          <p:cNvSpPr/>
          <p:nvPr/>
        </p:nvSpPr>
        <p:spPr>
          <a:xfrm>
            <a:off x="658368" y="2450592"/>
            <a:ext cx="5330952" cy="1700784"/>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58368" y="2450592"/>
            <a:ext cx="41148" cy="1700784"/>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77824" y="2587752"/>
            <a:ext cx="4946904" cy="237744"/>
          </a:xfrm>
          <a:prstGeom prst="rect">
            <a:avLst/>
          </a:prstGeom>
          <a:noFill/>
        </p:spPr>
        <p:txBody>
          <a:bodyPr wrap="square" anchor="t" lIns="0" rIns="0" tIns="0" bIns="0">
            <a:spAutoFit/>
          </a:bodyPr>
          <a:lstStyle/>
          <a:p>
            <a:pPr algn="l">
              <a:lnSpc>
                <a:spcPct val="118000"/>
              </a:lnSpc>
              <a:spcAft>
                <a:spcPts val="300"/>
              </a:spcAft>
            </a:pPr>
            <a:r>
              <a:rPr sz="1300" b="1">
                <a:solidFill>
                  <a:srgbClr val="0B1224"/>
                </a:solidFill>
                <a:latin typeface="Segoe UI"/>
              </a:rPr>
              <a:t>What the paper proposes</a:t>
            </a:r>
          </a:p>
        </p:txBody>
      </p:sp>
      <p:sp>
        <p:nvSpPr>
          <p:cNvPr id="12" name="TextBox 11"/>
          <p:cNvSpPr txBox="1"/>
          <p:nvPr/>
        </p:nvSpPr>
        <p:spPr>
          <a:xfrm>
            <a:off x="877824" y="2871216"/>
            <a:ext cx="4946904" cy="1152144"/>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A deep learning estimator combining Long Short-Term Memory with a Recurrent Highway Network, predicting story points directly from an issue's title and description without hand-crafted features.</a:t>
            </a:r>
          </a:p>
        </p:txBody>
      </p:sp>
      <p:sp>
        <p:nvSpPr>
          <p:cNvPr id="13" name="Rounded Rectangle 12"/>
          <p:cNvSpPr/>
          <p:nvPr/>
        </p:nvSpPr>
        <p:spPr>
          <a:xfrm>
            <a:off x="6199632" y="2450592"/>
            <a:ext cx="5330952" cy="1700784"/>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199632" y="2450592"/>
            <a:ext cx="41148" cy="1700784"/>
          </a:xfrm>
          <a:prstGeom prst="rect">
            <a:avLst/>
          </a:prstGeom>
          <a:solidFill>
            <a:srgbClr val="C26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19088" y="2587752"/>
            <a:ext cx="4946904" cy="237744"/>
          </a:xfrm>
          <a:prstGeom prst="rect">
            <a:avLst/>
          </a:prstGeom>
          <a:noFill/>
        </p:spPr>
        <p:txBody>
          <a:bodyPr wrap="square" anchor="t" lIns="0" rIns="0" tIns="0" bIns="0">
            <a:spAutoFit/>
          </a:bodyPr>
          <a:lstStyle/>
          <a:p>
            <a:pPr algn="l">
              <a:lnSpc>
                <a:spcPct val="118000"/>
              </a:lnSpc>
              <a:spcAft>
                <a:spcPts val="300"/>
              </a:spcAft>
            </a:pPr>
            <a:r>
              <a:rPr sz="1300" b="1">
                <a:solidFill>
                  <a:srgbClr val="0B1224"/>
                </a:solidFill>
                <a:latin typeface="Segoe UI"/>
              </a:rPr>
              <a:t>Why it is our base paper</a:t>
            </a:r>
          </a:p>
        </p:txBody>
      </p:sp>
      <p:sp>
        <p:nvSpPr>
          <p:cNvPr id="16" name="TextBox 15"/>
          <p:cNvSpPr txBox="1"/>
          <p:nvPr/>
        </p:nvSpPr>
        <p:spPr>
          <a:xfrm>
            <a:off x="6419088" y="2871216"/>
            <a:ext cx="4946904" cy="1152144"/>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It introduced the benchmark dataset used in this project: 23,313 issues from 16 open-source projects across nine repositories, each labelled with a story point value assigned by the team that did the work.</a:t>
            </a:r>
          </a:p>
        </p:txBody>
      </p:sp>
      <p:sp>
        <p:nvSpPr>
          <p:cNvPr id="17" name="TextBox 16"/>
          <p:cNvSpPr txBox="1"/>
          <p:nvPr/>
        </p:nvSpPr>
        <p:spPr>
          <a:xfrm>
            <a:off x="658368" y="4352544"/>
            <a:ext cx="10874959" cy="256032"/>
          </a:xfrm>
          <a:prstGeom prst="rect">
            <a:avLst/>
          </a:prstGeom>
          <a:noFill/>
        </p:spPr>
        <p:txBody>
          <a:bodyPr wrap="square" anchor="t" lIns="0" rIns="0" tIns="0" bIns="0">
            <a:spAutoFit/>
          </a:bodyPr>
          <a:lstStyle/>
          <a:p>
            <a:pPr algn="l">
              <a:lnSpc>
                <a:spcPct val="118000"/>
              </a:lnSpc>
              <a:spcAft>
                <a:spcPts val="300"/>
              </a:spcAft>
            </a:pPr>
            <a:r>
              <a:rPr sz="1400" b="1">
                <a:solidFill>
                  <a:srgbClr val="0B1224"/>
                </a:solidFill>
                <a:latin typeface="Segoe UI"/>
              </a:rPr>
              <a:t>What we take from it, and where we differ</a:t>
            </a:r>
          </a:p>
        </p:txBody>
      </p:sp>
      <p:sp>
        <p:nvSpPr>
          <p:cNvPr id="18" name="Oval 17"/>
          <p:cNvSpPr/>
          <p:nvPr/>
        </p:nvSpPr>
        <p:spPr>
          <a:xfrm>
            <a:off x="704088" y="4773168"/>
            <a:ext cx="91440" cy="91440"/>
          </a:xfrm>
          <a:prstGeom prst="ellipse">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50976" y="4700016"/>
            <a:ext cx="2011680" cy="237744"/>
          </a:xfrm>
          <a:prstGeom prst="rect">
            <a:avLst/>
          </a:prstGeom>
          <a:noFill/>
        </p:spPr>
        <p:txBody>
          <a:bodyPr wrap="square" anchor="t" lIns="0" rIns="0" tIns="0" bIns="0">
            <a:spAutoFit/>
          </a:bodyPr>
          <a:lstStyle/>
          <a:p>
            <a:pPr algn="l">
              <a:lnSpc>
                <a:spcPct val="118000"/>
              </a:lnSpc>
              <a:spcAft>
                <a:spcPts val="300"/>
              </a:spcAft>
            </a:pPr>
            <a:r>
              <a:rPr sz="1150" b="1">
                <a:solidFill>
                  <a:srgbClr val="006B4A"/>
                </a:solidFill>
                <a:latin typeface="Segoe UI"/>
              </a:rPr>
              <a:t>Dataset</a:t>
            </a:r>
          </a:p>
        </p:txBody>
      </p:sp>
      <p:sp>
        <p:nvSpPr>
          <p:cNvPr id="20" name="TextBox 19"/>
          <p:cNvSpPr txBox="1"/>
          <p:nvPr/>
        </p:nvSpPr>
        <p:spPr>
          <a:xfrm>
            <a:off x="2944368" y="4700016"/>
            <a:ext cx="8412480" cy="365760"/>
          </a:xfrm>
          <a:prstGeom prst="rect">
            <a:avLst/>
          </a:prstGeom>
          <a:noFill/>
        </p:spPr>
        <p:txBody>
          <a:bodyPr wrap="square" anchor="t" lIns="0" rIns="0" tIns="0" bIns="0">
            <a:spAutoFit/>
          </a:bodyPr>
          <a:lstStyle/>
          <a:p>
            <a:pPr algn="l">
              <a:lnSpc>
                <a:spcPct val="118000"/>
              </a:lnSpc>
              <a:spcAft>
                <a:spcPts val="300"/>
              </a:spcAft>
            </a:pPr>
            <a:r>
              <a:rPr sz="1100" b="0">
                <a:solidFill>
                  <a:srgbClr val="3A485C"/>
                </a:solidFill>
                <a:latin typeface="Segoe UI"/>
              </a:rPr>
              <a:t>we train on the same 16-project corpus, so our results are comparable to published work</a:t>
            </a:r>
          </a:p>
        </p:txBody>
      </p:sp>
      <p:sp>
        <p:nvSpPr>
          <p:cNvPr id="21" name="Oval 20"/>
          <p:cNvSpPr/>
          <p:nvPr/>
        </p:nvSpPr>
        <p:spPr>
          <a:xfrm>
            <a:off x="704088" y="5193792"/>
            <a:ext cx="91440" cy="91440"/>
          </a:xfrm>
          <a:prstGeom prst="ellipse">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50976" y="5120640"/>
            <a:ext cx="2011680" cy="237744"/>
          </a:xfrm>
          <a:prstGeom prst="rect">
            <a:avLst/>
          </a:prstGeom>
          <a:noFill/>
        </p:spPr>
        <p:txBody>
          <a:bodyPr wrap="square" anchor="t" lIns="0" rIns="0" tIns="0" bIns="0">
            <a:spAutoFit/>
          </a:bodyPr>
          <a:lstStyle/>
          <a:p>
            <a:pPr algn="l">
              <a:lnSpc>
                <a:spcPct val="118000"/>
              </a:lnSpc>
              <a:spcAft>
                <a:spcPts val="300"/>
              </a:spcAft>
            </a:pPr>
            <a:r>
              <a:rPr sz="1150" b="1">
                <a:solidFill>
                  <a:srgbClr val="006B4A"/>
                </a:solidFill>
                <a:latin typeface="Segoe UI"/>
              </a:rPr>
              <a:t>Task formulation</a:t>
            </a:r>
          </a:p>
        </p:txBody>
      </p:sp>
      <p:sp>
        <p:nvSpPr>
          <p:cNvPr id="23" name="TextBox 22"/>
          <p:cNvSpPr txBox="1"/>
          <p:nvPr/>
        </p:nvSpPr>
        <p:spPr>
          <a:xfrm>
            <a:off x="2944368" y="5120640"/>
            <a:ext cx="8412480" cy="365760"/>
          </a:xfrm>
          <a:prstGeom prst="rect">
            <a:avLst/>
          </a:prstGeom>
          <a:noFill/>
        </p:spPr>
        <p:txBody>
          <a:bodyPr wrap="square" anchor="t" lIns="0" rIns="0" tIns="0" bIns="0">
            <a:spAutoFit/>
          </a:bodyPr>
          <a:lstStyle/>
          <a:p>
            <a:pPr algn="l">
              <a:lnSpc>
                <a:spcPct val="118000"/>
              </a:lnSpc>
              <a:spcAft>
                <a:spcPts val="300"/>
              </a:spcAft>
            </a:pPr>
            <a:r>
              <a:rPr sz="1100" b="0">
                <a:solidFill>
                  <a:srgbClr val="3A485C"/>
                </a:solidFill>
                <a:latin typeface="Segoe UI"/>
              </a:rPr>
              <a:t>identical: predict a numeric effort value from issue text alone</a:t>
            </a:r>
          </a:p>
        </p:txBody>
      </p:sp>
      <p:sp>
        <p:nvSpPr>
          <p:cNvPr id="24" name="Oval 23"/>
          <p:cNvSpPr/>
          <p:nvPr/>
        </p:nvSpPr>
        <p:spPr>
          <a:xfrm>
            <a:off x="704088" y="5614416"/>
            <a:ext cx="91440" cy="91440"/>
          </a:xfrm>
          <a:prstGeom prst="ellipse">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50976" y="5541264"/>
            <a:ext cx="2011680" cy="237744"/>
          </a:xfrm>
          <a:prstGeom prst="rect">
            <a:avLst/>
          </a:prstGeom>
          <a:noFill/>
        </p:spPr>
        <p:txBody>
          <a:bodyPr wrap="square" anchor="t" lIns="0" rIns="0" tIns="0" bIns="0">
            <a:spAutoFit/>
          </a:bodyPr>
          <a:lstStyle/>
          <a:p>
            <a:pPr algn="l">
              <a:lnSpc>
                <a:spcPct val="118000"/>
              </a:lnSpc>
              <a:spcAft>
                <a:spcPts val="300"/>
              </a:spcAft>
            </a:pPr>
            <a:r>
              <a:rPr sz="1150" b="1">
                <a:solidFill>
                  <a:srgbClr val="006B4A"/>
                </a:solidFill>
                <a:latin typeface="Segoe UI"/>
              </a:rPr>
              <a:t>Model choice</a:t>
            </a:r>
          </a:p>
        </p:txBody>
      </p:sp>
      <p:sp>
        <p:nvSpPr>
          <p:cNvPr id="26" name="TextBox 25"/>
          <p:cNvSpPr txBox="1"/>
          <p:nvPr/>
        </p:nvSpPr>
        <p:spPr>
          <a:xfrm>
            <a:off x="2944368" y="5541264"/>
            <a:ext cx="8412480" cy="365760"/>
          </a:xfrm>
          <a:prstGeom prst="rect">
            <a:avLst/>
          </a:prstGeom>
          <a:noFill/>
        </p:spPr>
        <p:txBody>
          <a:bodyPr wrap="square" anchor="t" lIns="0" rIns="0" tIns="0" bIns="0">
            <a:spAutoFit/>
          </a:bodyPr>
          <a:lstStyle/>
          <a:p>
            <a:pPr algn="l">
              <a:lnSpc>
                <a:spcPct val="118000"/>
              </a:lnSpc>
              <a:spcAft>
                <a:spcPts val="300"/>
              </a:spcAft>
            </a:pPr>
            <a:r>
              <a:rPr sz="1100" b="0">
                <a:solidFill>
                  <a:srgbClr val="3A485C"/>
                </a:solidFill>
                <a:latin typeface="Segoe UI"/>
              </a:rPr>
              <a:t>we deliberately use a simpler, interpretable estimator rather than a deep network — justified on the next slide</a:t>
            </a:r>
          </a:p>
        </p:txBody>
      </p:sp>
      <p:sp>
        <p:nvSpPr>
          <p:cNvPr id="27" name="Oval 26"/>
          <p:cNvSpPr/>
          <p:nvPr/>
        </p:nvSpPr>
        <p:spPr>
          <a:xfrm>
            <a:off x="704088" y="6035040"/>
            <a:ext cx="91440" cy="91440"/>
          </a:xfrm>
          <a:prstGeom prst="ellipse">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50976" y="5961888"/>
            <a:ext cx="2011680" cy="237744"/>
          </a:xfrm>
          <a:prstGeom prst="rect">
            <a:avLst/>
          </a:prstGeom>
          <a:noFill/>
        </p:spPr>
        <p:txBody>
          <a:bodyPr wrap="square" anchor="t" lIns="0" rIns="0" tIns="0" bIns="0">
            <a:spAutoFit/>
          </a:bodyPr>
          <a:lstStyle/>
          <a:p>
            <a:pPr algn="l">
              <a:lnSpc>
                <a:spcPct val="118000"/>
              </a:lnSpc>
              <a:spcAft>
                <a:spcPts val="300"/>
              </a:spcAft>
            </a:pPr>
            <a:r>
              <a:rPr sz="1150" b="1">
                <a:solidFill>
                  <a:srgbClr val="006B4A"/>
                </a:solidFill>
                <a:latin typeface="Segoe UI"/>
              </a:rPr>
              <a:t>Contribution</a:t>
            </a:r>
          </a:p>
        </p:txBody>
      </p:sp>
      <p:sp>
        <p:nvSpPr>
          <p:cNvPr id="29" name="TextBox 28"/>
          <p:cNvSpPr txBox="1"/>
          <p:nvPr/>
        </p:nvSpPr>
        <p:spPr>
          <a:xfrm>
            <a:off x="2944368" y="5961888"/>
            <a:ext cx="8412480" cy="365760"/>
          </a:xfrm>
          <a:prstGeom prst="rect">
            <a:avLst/>
          </a:prstGeom>
          <a:noFill/>
        </p:spPr>
        <p:txBody>
          <a:bodyPr wrap="square" anchor="t" lIns="0" rIns="0" tIns="0" bIns="0">
            <a:spAutoFit/>
          </a:bodyPr>
          <a:lstStyle/>
          <a:p>
            <a:pPr algn="l">
              <a:lnSpc>
                <a:spcPct val="118000"/>
              </a:lnSpc>
              <a:spcAft>
                <a:spcPts val="300"/>
              </a:spcAft>
            </a:pPr>
            <a:r>
              <a:rPr sz="1100" b="0">
                <a:solidFill>
                  <a:srgbClr val="3A485C"/>
                </a:solidFill>
                <a:latin typeface="Segoe UI"/>
              </a:rPr>
              <a:t>we integrate the estimator into a live delivery system, where its output drives project progress</a:t>
            </a:r>
          </a:p>
        </p:txBody>
      </p:sp>
      <p:sp>
        <p:nvSpPr>
          <p:cNvPr id="30" name="Rectangle 29"/>
          <p:cNvSpPr/>
          <p:nvPr/>
        </p:nvSpPr>
        <p:spPr>
          <a:xfrm>
            <a:off x="658368" y="6419088"/>
            <a:ext cx="10874959" cy="9525"/>
          </a:xfrm>
          <a:prstGeom prst="rect">
            <a:avLst/>
          </a:prstGeom>
          <a:solidFill>
            <a:srgbClr val="DD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58368" y="6510528"/>
            <a:ext cx="6400800" cy="219456"/>
          </a:xfrm>
          <a:prstGeom prst="rect">
            <a:avLst/>
          </a:prstGeom>
          <a:noFill/>
        </p:spPr>
        <p:txBody>
          <a:bodyPr wrap="square" anchor="t" lIns="0" rIns="0" tIns="0" bIns="0">
            <a:spAutoFit/>
          </a:bodyPr>
          <a:lstStyle/>
          <a:p>
            <a:pPr algn="l">
              <a:lnSpc>
                <a:spcPct val="118000"/>
              </a:lnSpc>
              <a:spcAft>
                <a:spcPts val="300"/>
              </a:spcAft>
            </a:pPr>
            <a:r>
              <a:rPr sz="900" b="0">
                <a:solidFill>
                  <a:srgbClr val="9AA8BC"/>
                </a:solidFill>
                <a:latin typeface="Segoe UI"/>
              </a:rPr>
              <a:t>DayMark  ·  Final Year Project</a:t>
            </a:r>
          </a:p>
        </p:txBody>
      </p:sp>
      <p:sp>
        <p:nvSpPr>
          <p:cNvPr id="32" name="TextBox 31"/>
          <p:cNvSpPr txBox="1"/>
          <p:nvPr/>
        </p:nvSpPr>
        <p:spPr>
          <a:xfrm>
            <a:off x="11076127" y="6510528"/>
            <a:ext cx="457200" cy="219456"/>
          </a:xfrm>
          <a:prstGeom prst="rect">
            <a:avLst/>
          </a:prstGeom>
          <a:noFill/>
        </p:spPr>
        <p:txBody>
          <a:bodyPr wrap="square" anchor="t" lIns="0" rIns="0" tIns="0" bIns="0">
            <a:spAutoFit/>
          </a:bodyPr>
          <a:lstStyle/>
          <a:p>
            <a:pPr algn="r">
              <a:lnSpc>
                <a:spcPct val="118000"/>
              </a:lnSpc>
              <a:spcAft>
                <a:spcPts val="300"/>
              </a:spcAft>
            </a:pPr>
            <a:r>
              <a:rPr sz="900" b="1">
                <a:solidFill>
                  <a:srgbClr val="6B7A90"/>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58368" y="365760"/>
            <a:ext cx="10874959" cy="237744"/>
          </a:xfrm>
          <a:prstGeom prst="rect">
            <a:avLst/>
          </a:prstGeom>
          <a:noFill/>
        </p:spPr>
        <p:txBody>
          <a:bodyPr wrap="square" anchor="t" lIns="0" rIns="0" tIns="0" bIns="0">
            <a:spAutoFit/>
          </a:bodyPr>
          <a:lstStyle/>
          <a:p>
            <a:pPr algn="l">
              <a:lnSpc>
                <a:spcPct val="118000"/>
              </a:lnSpc>
              <a:spcAft>
                <a:spcPts val="300"/>
              </a:spcAft>
            </a:pPr>
            <a:r>
              <a:rPr sz="1100" b="1">
                <a:solidFill>
                  <a:srgbClr val="009E6D"/>
                </a:solidFill>
                <a:latin typeface="Segoe UI"/>
              </a:rPr>
              <a:t>1.4  LITERATURE REVIEW</a:t>
            </a:r>
          </a:p>
        </p:txBody>
      </p:sp>
      <p:sp>
        <p:nvSpPr>
          <p:cNvPr id="5" name="TextBox 4"/>
          <p:cNvSpPr txBox="1"/>
          <p:nvPr/>
        </p:nvSpPr>
        <p:spPr>
          <a:xfrm>
            <a:off x="658368" y="603504"/>
            <a:ext cx="10874959" cy="457200"/>
          </a:xfrm>
          <a:prstGeom prst="rect">
            <a:avLst/>
          </a:prstGeom>
          <a:noFill/>
        </p:spPr>
        <p:txBody>
          <a:bodyPr wrap="square" anchor="t" lIns="0" rIns="0" tIns="0" bIns="0">
            <a:spAutoFit/>
          </a:bodyPr>
          <a:lstStyle/>
          <a:p>
            <a:pPr algn="l">
              <a:lnSpc>
                <a:spcPct val="118000"/>
              </a:lnSpc>
              <a:spcAft>
                <a:spcPts val="300"/>
              </a:spcAft>
            </a:pPr>
            <a:r>
              <a:rPr sz="2600" b="1">
                <a:solidFill>
                  <a:srgbClr val="0B1224"/>
                </a:solidFill>
                <a:latin typeface="Segoe UI"/>
              </a:rPr>
              <a:t>Literature review — related work</a:t>
            </a:r>
          </a:p>
        </p:txBody>
      </p:sp>
      <p:sp>
        <p:nvSpPr>
          <p:cNvPr id="6" name="Rounded Rectangle 5"/>
          <p:cNvSpPr/>
          <p:nvPr/>
        </p:nvSpPr>
        <p:spPr>
          <a:xfrm>
            <a:off x="658368" y="1152144"/>
            <a:ext cx="10874959" cy="384048"/>
          </a:xfrm>
          <a:prstGeom prst="roundRect">
            <a:avLst>
              <a:gd name="adj" fmla="val 5500"/>
            </a:avLst>
          </a:prstGeom>
          <a:solidFill>
            <a:srgbClr val="0B1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41248" y="1261872"/>
            <a:ext cx="2743200" cy="219456"/>
          </a:xfrm>
          <a:prstGeom prst="rect">
            <a:avLst/>
          </a:prstGeom>
          <a:noFill/>
        </p:spPr>
        <p:txBody>
          <a:bodyPr wrap="square" anchor="t" lIns="0" rIns="0" tIns="0" bIns="0">
            <a:spAutoFit/>
          </a:bodyPr>
          <a:lstStyle/>
          <a:p>
            <a:pPr algn="l">
              <a:lnSpc>
                <a:spcPct val="118000"/>
              </a:lnSpc>
              <a:spcAft>
                <a:spcPts val="300"/>
              </a:spcAft>
            </a:pPr>
            <a:r>
              <a:rPr sz="1000" b="1">
                <a:solidFill>
                  <a:srgbClr val="FFFFFF"/>
                </a:solidFill>
                <a:latin typeface="Segoe UI"/>
              </a:rPr>
              <a:t>STUDY</a:t>
            </a:r>
          </a:p>
        </p:txBody>
      </p:sp>
      <p:sp>
        <p:nvSpPr>
          <p:cNvPr id="8" name="TextBox 7"/>
          <p:cNvSpPr txBox="1"/>
          <p:nvPr/>
        </p:nvSpPr>
        <p:spPr>
          <a:xfrm>
            <a:off x="3584448" y="1261872"/>
            <a:ext cx="3291840" cy="219456"/>
          </a:xfrm>
          <a:prstGeom prst="rect">
            <a:avLst/>
          </a:prstGeom>
          <a:noFill/>
        </p:spPr>
        <p:txBody>
          <a:bodyPr wrap="square" anchor="t" lIns="0" rIns="0" tIns="0" bIns="0">
            <a:spAutoFit/>
          </a:bodyPr>
          <a:lstStyle/>
          <a:p>
            <a:pPr algn="l">
              <a:lnSpc>
                <a:spcPct val="118000"/>
              </a:lnSpc>
              <a:spcAft>
                <a:spcPts val="300"/>
              </a:spcAft>
            </a:pPr>
            <a:r>
              <a:rPr sz="1000" b="1">
                <a:solidFill>
                  <a:srgbClr val="FFFFFF"/>
                </a:solidFill>
                <a:latin typeface="Segoe UI"/>
              </a:rPr>
              <a:t>APPROACH</a:t>
            </a:r>
          </a:p>
        </p:txBody>
      </p:sp>
      <p:sp>
        <p:nvSpPr>
          <p:cNvPr id="9" name="TextBox 8"/>
          <p:cNvSpPr txBox="1"/>
          <p:nvPr/>
        </p:nvSpPr>
        <p:spPr>
          <a:xfrm>
            <a:off x="6876288" y="1261872"/>
            <a:ext cx="4754880" cy="219456"/>
          </a:xfrm>
          <a:prstGeom prst="rect">
            <a:avLst/>
          </a:prstGeom>
          <a:noFill/>
        </p:spPr>
        <p:txBody>
          <a:bodyPr wrap="square" anchor="t" lIns="0" rIns="0" tIns="0" bIns="0">
            <a:spAutoFit/>
          </a:bodyPr>
          <a:lstStyle/>
          <a:p>
            <a:pPr algn="l">
              <a:lnSpc>
                <a:spcPct val="118000"/>
              </a:lnSpc>
              <a:spcAft>
                <a:spcPts val="300"/>
              </a:spcAft>
            </a:pPr>
            <a:r>
              <a:rPr sz="1000" b="1">
                <a:solidFill>
                  <a:srgbClr val="FFFFFF"/>
                </a:solidFill>
                <a:latin typeface="Segoe UI"/>
              </a:rPr>
              <a:t>KEY FINDING</a:t>
            </a:r>
          </a:p>
        </p:txBody>
      </p:sp>
      <p:sp>
        <p:nvSpPr>
          <p:cNvPr id="10" name="Rounded Rectangle 9"/>
          <p:cNvSpPr/>
          <p:nvPr/>
        </p:nvSpPr>
        <p:spPr>
          <a:xfrm>
            <a:off x="658368" y="1536192"/>
            <a:ext cx="10874959" cy="384048"/>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8" y="1655064"/>
            <a:ext cx="274320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Porru et al., 2016 [3]</a:t>
            </a:r>
          </a:p>
        </p:txBody>
      </p:sp>
      <p:sp>
        <p:nvSpPr>
          <p:cNvPr id="12" name="TextBox 11"/>
          <p:cNvSpPr txBox="1"/>
          <p:nvPr/>
        </p:nvSpPr>
        <p:spPr>
          <a:xfrm>
            <a:off x="3584448" y="1655064"/>
            <a:ext cx="329184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TF-IDF features with an SVM classifier</a:t>
            </a:r>
          </a:p>
        </p:txBody>
      </p:sp>
      <p:sp>
        <p:nvSpPr>
          <p:cNvPr id="13" name="TextBox 12"/>
          <p:cNvSpPr txBox="1"/>
          <p:nvPr/>
        </p:nvSpPr>
        <p:spPr>
          <a:xfrm>
            <a:off x="6876288" y="1655064"/>
            <a:ext cx="475488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Showed issue text alone carries enough signal to estimate effort</a:t>
            </a:r>
          </a:p>
        </p:txBody>
      </p:sp>
      <p:sp>
        <p:nvSpPr>
          <p:cNvPr id="14" name="Rounded Rectangle 13"/>
          <p:cNvSpPr/>
          <p:nvPr/>
        </p:nvSpPr>
        <p:spPr>
          <a:xfrm>
            <a:off x="658368" y="1920240"/>
            <a:ext cx="10874959" cy="384048"/>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1248" y="2039112"/>
            <a:ext cx="274320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Scott &amp; Pfahl, 2018 [5]</a:t>
            </a:r>
          </a:p>
        </p:txBody>
      </p:sp>
      <p:sp>
        <p:nvSpPr>
          <p:cNvPr id="16" name="TextBox 15"/>
          <p:cNvSpPr txBox="1"/>
          <p:nvPr/>
        </p:nvSpPr>
        <p:spPr>
          <a:xfrm>
            <a:off x="3584448" y="2039112"/>
            <a:ext cx="329184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Adds developer-specific features</a:t>
            </a:r>
          </a:p>
        </p:txBody>
      </p:sp>
      <p:sp>
        <p:nvSpPr>
          <p:cNvPr id="17" name="TextBox 16"/>
          <p:cNvSpPr txBox="1"/>
          <p:nvPr/>
        </p:nvSpPr>
        <p:spPr>
          <a:xfrm>
            <a:off x="6876288" y="2039112"/>
            <a:ext cx="475488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Who does the work affects effort, not only what the work is</a:t>
            </a:r>
          </a:p>
        </p:txBody>
      </p:sp>
      <p:sp>
        <p:nvSpPr>
          <p:cNvPr id="18" name="Rounded Rectangle 17"/>
          <p:cNvSpPr/>
          <p:nvPr/>
        </p:nvSpPr>
        <p:spPr>
          <a:xfrm>
            <a:off x="658368" y="2304288"/>
            <a:ext cx="10874959" cy="384048"/>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41248" y="2423160"/>
            <a:ext cx="274320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Fu &amp; Tantithamthavorn, 2023 [4]</a:t>
            </a:r>
          </a:p>
        </p:txBody>
      </p:sp>
      <p:sp>
        <p:nvSpPr>
          <p:cNvPr id="20" name="TextBox 19"/>
          <p:cNvSpPr txBox="1"/>
          <p:nvPr/>
        </p:nvSpPr>
        <p:spPr>
          <a:xfrm>
            <a:off x="3584448" y="2423160"/>
            <a:ext cx="329184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GPT2SP, a GPT-2 transformer estimator</a:t>
            </a:r>
          </a:p>
        </p:txBody>
      </p:sp>
      <p:sp>
        <p:nvSpPr>
          <p:cNvPr id="21" name="TextBox 20"/>
          <p:cNvSpPr txBox="1"/>
          <p:nvPr/>
        </p:nvSpPr>
        <p:spPr>
          <a:xfrm>
            <a:off x="6876288" y="2423160"/>
            <a:ext cx="475488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Transformers improve accuracy but need substantial compute</a:t>
            </a:r>
          </a:p>
        </p:txBody>
      </p:sp>
      <p:sp>
        <p:nvSpPr>
          <p:cNvPr id="22" name="Rounded Rectangle 21"/>
          <p:cNvSpPr/>
          <p:nvPr/>
        </p:nvSpPr>
        <p:spPr>
          <a:xfrm>
            <a:off x="658368" y="2688336"/>
            <a:ext cx="10874959" cy="384048"/>
          </a:xfrm>
          <a:prstGeom prst="roundRect">
            <a:avLst>
              <a:gd name="adj" fmla="val 5500"/>
            </a:avLst>
          </a:prstGeom>
          <a:solidFill>
            <a:srgbClr val="E6F7F0"/>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1248" y="2807208"/>
            <a:ext cx="2743200" cy="219456"/>
          </a:xfrm>
          <a:prstGeom prst="rect">
            <a:avLst/>
          </a:prstGeom>
          <a:noFill/>
        </p:spPr>
        <p:txBody>
          <a:bodyPr wrap="square" anchor="t" lIns="0" rIns="0" tIns="0" bIns="0">
            <a:spAutoFit/>
          </a:bodyPr>
          <a:lstStyle/>
          <a:p>
            <a:pPr algn="l">
              <a:lnSpc>
                <a:spcPct val="118000"/>
              </a:lnSpc>
              <a:spcAft>
                <a:spcPts val="300"/>
              </a:spcAft>
            </a:pPr>
            <a:r>
              <a:rPr sz="1050" b="1">
                <a:solidFill>
                  <a:srgbClr val="006B4A"/>
                </a:solidFill>
                <a:latin typeface="Segoe UI"/>
              </a:rPr>
              <a:t>Tawosi et al., 2023 [2]</a:t>
            </a:r>
          </a:p>
        </p:txBody>
      </p:sp>
      <p:sp>
        <p:nvSpPr>
          <p:cNvPr id="24" name="TextBox 23"/>
          <p:cNvSpPr txBox="1"/>
          <p:nvPr/>
        </p:nvSpPr>
        <p:spPr>
          <a:xfrm>
            <a:off x="3584448" y="2807208"/>
            <a:ext cx="3291840" cy="219456"/>
          </a:xfrm>
          <a:prstGeom prst="rect">
            <a:avLst/>
          </a:prstGeom>
          <a:noFill/>
        </p:spPr>
        <p:txBody>
          <a:bodyPr wrap="square" anchor="t" lIns="0" rIns="0" tIns="0" bIns="0">
            <a:spAutoFit/>
          </a:bodyPr>
          <a:lstStyle/>
          <a:p>
            <a:pPr algn="l">
              <a:lnSpc>
                <a:spcPct val="118000"/>
              </a:lnSpc>
              <a:spcAft>
                <a:spcPts val="300"/>
              </a:spcAft>
            </a:pPr>
            <a:r>
              <a:rPr sz="1050" b="1">
                <a:solidFill>
                  <a:srgbClr val="006B4A"/>
                </a:solidFill>
                <a:latin typeface="Segoe UI"/>
              </a:rPr>
              <a:t>Close replication of Deep-SE</a:t>
            </a:r>
          </a:p>
        </p:txBody>
      </p:sp>
      <p:sp>
        <p:nvSpPr>
          <p:cNvPr id="25" name="TextBox 24"/>
          <p:cNvSpPr txBox="1"/>
          <p:nvPr/>
        </p:nvSpPr>
        <p:spPr>
          <a:xfrm>
            <a:off x="6876288" y="2807208"/>
            <a:ext cx="4754880" cy="219456"/>
          </a:xfrm>
          <a:prstGeom prst="rect">
            <a:avLst/>
          </a:prstGeom>
          <a:noFill/>
        </p:spPr>
        <p:txBody>
          <a:bodyPr wrap="square" anchor="t" lIns="0" rIns="0" tIns="0" bIns="0">
            <a:spAutoFit/>
          </a:bodyPr>
          <a:lstStyle/>
          <a:p>
            <a:pPr algn="l">
              <a:lnSpc>
                <a:spcPct val="118000"/>
              </a:lnSpc>
              <a:spcAft>
                <a:spcPts val="300"/>
              </a:spcAft>
            </a:pPr>
            <a:r>
              <a:rPr sz="1050" b="1">
                <a:solidFill>
                  <a:srgbClr val="006B4A"/>
                </a:solidFill>
                <a:latin typeface="Segoe UI"/>
              </a:rPr>
              <a:t>Deep-SE beat simple baselines in only 8 of 42 cases</a:t>
            </a:r>
          </a:p>
        </p:txBody>
      </p:sp>
      <p:sp>
        <p:nvSpPr>
          <p:cNvPr id="26" name="Rounded Rectangle 25"/>
          <p:cNvSpPr/>
          <p:nvPr/>
        </p:nvSpPr>
        <p:spPr>
          <a:xfrm>
            <a:off x="658368" y="3072384"/>
            <a:ext cx="10874959" cy="1371600"/>
          </a:xfrm>
          <a:prstGeom prst="roundRect">
            <a:avLst>
              <a:gd name="adj" fmla="val 5500"/>
            </a:avLst>
          </a:prstGeom>
          <a:solidFill>
            <a:srgbClr val="E6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32688" y="3218688"/>
            <a:ext cx="9144000" cy="237744"/>
          </a:xfrm>
          <a:prstGeom prst="rect">
            <a:avLst/>
          </a:prstGeom>
          <a:noFill/>
        </p:spPr>
        <p:txBody>
          <a:bodyPr wrap="square" anchor="t" lIns="0" rIns="0" tIns="0" bIns="0">
            <a:spAutoFit/>
          </a:bodyPr>
          <a:lstStyle/>
          <a:p>
            <a:pPr algn="l">
              <a:lnSpc>
                <a:spcPct val="118000"/>
              </a:lnSpc>
              <a:spcAft>
                <a:spcPts val="300"/>
              </a:spcAft>
            </a:pPr>
            <a:r>
              <a:rPr sz="950" b="1">
                <a:solidFill>
                  <a:srgbClr val="006B4A"/>
                </a:solidFill>
                <a:latin typeface="Segoe UI"/>
              </a:rPr>
              <a:t>THE FINDING THAT SHAPED OUR METHODOLOGY</a:t>
            </a:r>
          </a:p>
        </p:txBody>
      </p:sp>
      <p:sp>
        <p:nvSpPr>
          <p:cNvPr id="28" name="TextBox 27"/>
          <p:cNvSpPr txBox="1"/>
          <p:nvPr/>
        </p:nvSpPr>
        <p:spPr>
          <a:xfrm>
            <a:off x="932688" y="3493008"/>
            <a:ext cx="10326319" cy="822960"/>
          </a:xfrm>
          <a:prstGeom prst="rect">
            <a:avLst/>
          </a:prstGeom>
          <a:noFill/>
        </p:spPr>
        <p:txBody>
          <a:bodyPr wrap="square" anchor="t" lIns="0" rIns="0" tIns="0" bIns="0">
            <a:spAutoFit/>
          </a:bodyPr>
          <a:lstStyle/>
          <a:p>
            <a:pPr algn="l">
              <a:lnSpc>
                <a:spcPct val="118000"/>
              </a:lnSpc>
              <a:spcAft>
                <a:spcPts val="300"/>
              </a:spcAft>
            </a:pPr>
            <a:r>
              <a:rPr sz="1200" b="0">
                <a:solidFill>
                  <a:srgbClr val="1E293B"/>
                </a:solidFill>
                <a:latin typeface="Segoe UI"/>
              </a:rPr>
              <a:t>Tawosi, Moussa and Sarro replicated Deep-SE and found it outperformed a median baseline and a TF-IDF/SVM estimator with statistical significance in only 8 of 42 and 9 of 32 cases respectively [2]. Deep learning therefore offers no consistent advantage on this dataset, which justifies selecting a simpler, faster and interpretable model for a system that must run inside a serverless function.</a:t>
            </a:r>
          </a:p>
        </p:txBody>
      </p:sp>
      <p:sp>
        <p:nvSpPr>
          <p:cNvPr id="29" name="TextBox 28"/>
          <p:cNvSpPr txBox="1"/>
          <p:nvPr/>
        </p:nvSpPr>
        <p:spPr>
          <a:xfrm>
            <a:off x="658368" y="4645152"/>
            <a:ext cx="10874959" cy="256032"/>
          </a:xfrm>
          <a:prstGeom prst="rect">
            <a:avLst/>
          </a:prstGeom>
          <a:noFill/>
        </p:spPr>
        <p:txBody>
          <a:bodyPr wrap="square" anchor="t" lIns="0" rIns="0" tIns="0" bIns="0">
            <a:spAutoFit/>
          </a:bodyPr>
          <a:lstStyle/>
          <a:p>
            <a:pPr algn="l">
              <a:lnSpc>
                <a:spcPct val="118000"/>
              </a:lnSpc>
              <a:spcAft>
                <a:spcPts val="300"/>
              </a:spcAft>
            </a:pPr>
            <a:r>
              <a:rPr sz="1400" b="1">
                <a:solidFill>
                  <a:srgbClr val="0B1224"/>
                </a:solidFill>
                <a:latin typeface="Segoe UI"/>
              </a:rPr>
              <a:t>Research gap</a:t>
            </a:r>
          </a:p>
        </p:txBody>
      </p:sp>
      <p:sp>
        <p:nvSpPr>
          <p:cNvPr id="30" name="TextBox 29"/>
          <p:cNvSpPr txBox="1"/>
          <p:nvPr/>
        </p:nvSpPr>
        <p:spPr>
          <a:xfrm>
            <a:off x="658368" y="4974336"/>
            <a:ext cx="10874959" cy="1097280"/>
          </a:xfrm>
          <a:prstGeom prst="rect">
            <a:avLst/>
          </a:prstGeom>
          <a:noFill/>
        </p:spPr>
        <p:txBody>
          <a:bodyPr wrap="square" anchor="t" lIns="0" rIns="0" tIns="0" bIns="0">
            <a:spAutoFit/>
          </a:bodyPr>
          <a:lstStyle/>
          <a:p>
            <a:pPr algn="l">
              <a:lnSpc>
                <a:spcPct val="118000"/>
              </a:lnSpc>
              <a:spcAft>
                <a:spcPts val="300"/>
              </a:spcAft>
            </a:pPr>
            <a:r>
              <a:rPr sz="1200" b="0">
                <a:solidFill>
                  <a:srgbClr val="3A485C"/>
                </a:solidFill>
                <a:latin typeface="Segoe UI"/>
              </a:rPr>
              <a:t>All four studies evaluate estimators offline, in isolation from any system that would consume their output. None deploys an estimator inside a working project-management tool, and none reports what happens when the predicted effort is used to drive a live progress metric. This project addresses that gap: the trained model runs in production and its predictions determine how project completion is calculated.</a:t>
            </a:r>
          </a:p>
        </p:txBody>
      </p:sp>
      <p:sp>
        <p:nvSpPr>
          <p:cNvPr id="31" name="Rectangle 30"/>
          <p:cNvSpPr/>
          <p:nvPr/>
        </p:nvSpPr>
        <p:spPr>
          <a:xfrm>
            <a:off x="658368" y="6419088"/>
            <a:ext cx="10874959" cy="9525"/>
          </a:xfrm>
          <a:prstGeom prst="rect">
            <a:avLst/>
          </a:prstGeom>
          <a:solidFill>
            <a:srgbClr val="DD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58368" y="6510528"/>
            <a:ext cx="6400800" cy="219456"/>
          </a:xfrm>
          <a:prstGeom prst="rect">
            <a:avLst/>
          </a:prstGeom>
          <a:noFill/>
        </p:spPr>
        <p:txBody>
          <a:bodyPr wrap="square" anchor="t" lIns="0" rIns="0" tIns="0" bIns="0">
            <a:spAutoFit/>
          </a:bodyPr>
          <a:lstStyle/>
          <a:p>
            <a:pPr algn="l">
              <a:lnSpc>
                <a:spcPct val="118000"/>
              </a:lnSpc>
              <a:spcAft>
                <a:spcPts val="300"/>
              </a:spcAft>
            </a:pPr>
            <a:r>
              <a:rPr sz="900" b="0">
                <a:solidFill>
                  <a:srgbClr val="9AA8BC"/>
                </a:solidFill>
                <a:latin typeface="Segoe UI"/>
              </a:rPr>
              <a:t>DayMark  ·  Final Year Project</a:t>
            </a:r>
          </a:p>
        </p:txBody>
      </p:sp>
      <p:sp>
        <p:nvSpPr>
          <p:cNvPr id="33" name="TextBox 32"/>
          <p:cNvSpPr txBox="1"/>
          <p:nvPr/>
        </p:nvSpPr>
        <p:spPr>
          <a:xfrm>
            <a:off x="11076127" y="6510528"/>
            <a:ext cx="457200" cy="219456"/>
          </a:xfrm>
          <a:prstGeom prst="rect">
            <a:avLst/>
          </a:prstGeom>
          <a:noFill/>
        </p:spPr>
        <p:txBody>
          <a:bodyPr wrap="square" anchor="t" lIns="0" rIns="0" tIns="0" bIns="0">
            <a:spAutoFit/>
          </a:bodyPr>
          <a:lstStyle/>
          <a:p>
            <a:pPr algn="r">
              <a:lnSpc>
                <a:spcPct val="118000"/>
              </a:lnSpc>
              <a:spcAft>
                <a:spcPts val="300"/>
              </a:spcAft>
            </a:pPr>
            <a:r>
              <a:rPr sz="900" b="1">
                <a:solidFill>
                  <a:srgbClr val="6B7A90"/>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58368" y="365760"/>
            <a:ext cx="10874959" cy="237744"/>
          </a:xfrm>
          <a:prstGeom prst="rect">
            <a:avLst/>
          </a:prstGeom>
          <a:noFill/>
        </p:spPr>
        <p:txBody>
          <a:bodyPr wrap="square" anchor="t" lIns="0" rIns="0" tIns="0" bIns="0">
            <a:spAutoFit/>
          </a:bodyPr>
          <a:lstStyle/>
          <a:p>
            <a:pPr algn="l">
              <a:lnSpc>
                <a:spcPct val="118000"/>
              </a:lnSpc>
              <a:spcAft>
                <a:spcPts val="300"/>
              </a:spcAft>
            </a:pPr>
            <a:r>
              <a:rPr sz="1100" b="1">
                <a:solidFill>
                  <a:srgbClr val="009E6D"/>
                </a:solidFill>
                <a:latin typeface="Segoe UI"/>
              </a:rPr>
              <a:t>1.5  METHODOLOGY</a:t>
            </a:r>
          </a:p>
        </p:txBody>
      </p:sp>
      <p:sp>
        <p:nvSpPr>
          <p:cNvPr id="5" name="TextBox 4"/>
          <p:cNvSpPr txBox="1"/>
          <p:nvPr/>
        </p:nvSpPr>
        <p:spPr>
          <a:xfrm>
            <a:off x="658368" y="603504"/>
            <a:ext cx="10874959" cy="457200"/>
          </a:xfrm>
          <a:prstGeom prst="rect">
            <a:avLst/>
          </a:prstGeom>
          <a:noFill/>
        </p:spPr>
        <p:txBody>
          <a:bodyPr wrap="square" anchor="t" lIns="0" rIns="0" tIns="0" bIns="0">
            <a:spAutoFit/>
          </a:bodyPr>
          <a:lstStyle/>
          <a:p>
            <a:pPr algn="l">
              <a:lnSpc>
                <a:spcPct val="118000"/>
              </a:lnSpc>
              <a:spcAft>
                <a:spcPts val="300"/>
              </a:spcAft>
            </a:pPr>
            <a:r>
              <a:rPr sz="2600" b="1">
                <a:solidFill>
                  <a:srgbClr val="0B1224"/>
                </a:solidFill>
                <a:latin typeface="Segoe UI"/>
              </a:rPr>
              <a:t>Proposed methodology — system</a:t>
            </a:r>
          </a:p>
        </p:txBody>
      </p:sp>
      <p:sp>
        <p:nvSpPr>
          <p:cNvPr id="6" name="Rounded Rectangle 5"/>
          <p:cNvSpPr/>
          <p:nvPr/>
        </p:nvSpPr>
        <p:spPr>
          <a:xfrm>
            <a:off x="658368" y="1133856"/>
            <a:ext cx="3401568" cy="1097280"/>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58368" y="1133856"/>
            <a:ext cx="3401568" cy="45720"/>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96112" y="1298448"/>
            <a:ext cx="2926080" cy="237744"/>
          </a:xfrm>
          <a:prstGeom prst="rect">
            <a:avLst/>
          </a:prstGeom>
          <a:noFill/>
        </p:spPr>
        <p:txBody>
          <a:bodyPr wrap="square" anchor="t" lIns="0" rIns="0" tIns="0" bIns="0">
            <a:spAutoFit/>
          </a:bodyPr>
          <a:lstStyle/>
          <a:p>
            <a:pPr algn="l">
              <a:lnSpc>
                <a:spcPct val="118000"/>
              </a:lnSpc>
              <a:spcAft>
                <a:spcPts val="300"/>
              </a:spcAft>
            </a:pPr>
            <a:r>
              <a:rPr sz="1350" b="1">
                <a:solidFill>
                  <a:srgbClr val="0B1224"/>
                </a:solidFill>
                <a:latin typeface="Segoe UI"/>
              </a:rPr>
              <a:t>Web application</a:t>
            </a:r>
          </a:p>
        </p:txBody>
      </p:sp>
      <p:sp>
        <p:nvSpPr>
          <p:cNvPr id="9" name="TextBox 8"/>
          <p:cNvSpPr txBox="1"/>
          <p:nvPr/>
        </p:nvSpPr>
        <p:spPr>
          <a:xfrm>
            <a:off x="896112" y="1572768"/>
            <a:ext cx="2926080" cy="256032"/>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React 19 · Vite · Tailwind</a:t>
            </a:r>
          </a:p>
        </p:txBody>
      </p:sp>
      <p:sp>
        <p:nvSpPr>
          <p:cNvPr id="10" name="TextBox 9"/>
          <p:cNvSpPr txBox="1"/>
          <p:nvPr/>
        </p:nvSpPr>
        <p:spPr>
          <a:xfrm>
            <a:off x="896112" y="1883664"/>
            <a:ext cx="2926080" cy="219456"/>
          </a:xfrm>
          <a:prstGeom prst="rect">
            <a:avLst/>
          </a:prstGeom>
          <a:noFill/>
        </p:spPr>
        <p:txBody>
          <a:bodyPr wrap="square" anchor="t" lIns="0" rIns="0" tIns="0" bIns="0">
            <a:spAutoFit/>
          </a:bodyPr>
          <a:lstStyle/>
          <a:p>
            <a:pPr algn="l">
              <a:lnSpc>
                <a:spcPct val="118000"/>
              </a:lnSpc>
              <a:spcAft>
                <a:spcPts val="300"/>
              </a:spcAft>
            </a:pPr>
            <a:r>
              <a:rPr sz="900" b="1">
                <a:solidFill>
                  <a:srgbClr val="009E6D"/>
                </a:solidFill>
                <a:latin typeface="Segoe UI"/>
              </a:rPr>
              <a:t>NETLIFY</a:t>
            </a:r>
          </a:p>
        </p:txBody>
      </p:sp>
      <p:sp>
        <p:nvSpPr>
          <p:cNvPr id="11" name="Rounded Rectangle 10"/>
          <p:cNvSpPr/>
          <p:nvPr/>
        </p:nvSpPr>
        <p:spPr>
          <a:xfrm>
            <a:off x="4306824" y="1133856"/>
            <a:ext cx="3401568" cy="1097280"/>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06824" y="1133856"/>
            <a:ext cx="3401568" cy="45720"/>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44568" y="1298448"/>
            <a:ext cx="2926080" cy="237744"/>
          </a:xfrm>
          <a:prstGeom prst="rect">
            <a:avLst/>
          </a:prstGeom>
          <a:noFill/>
        </p:spPr>
        <p:txBody>
          <a:bodyPr wrap="square" anchor="t" lIns="0" rIns="0" tIns="0" bIns="0">
            <a:spAutoFit/>
          </a:bodyPr>
          <a:lstStyle/>
          <a:p>
            <a:pPr algn="l">
              <a:lnSpc>
                <a:spcPct val="118000"/>
              </a:lnSpc>
              <a:spcAft>
                <a:spcPts val="300"/>
              </a:spcAft>
            </a:pPr>
            <a:r>
              <a:rPr sz="1350" b="1">
                <a:solidFill>
                  <a:srgbClr val="0B1224"/>
                </a:solidFill>
                <a:latin typeface="Segoe UI"/>
              </a:rPr>
              <a:t>REST API</a:t>
            </a:r>
          </a:p>
        </p:txBody>
      </p:sp>
      <p:sp>
        <p:nvSpPr>
          <p:cNvPr id="14" name="TextBox 13"/>
          <p:cNvSpPr txBox="1"/>
          <p:nvPr/>
        </p:nvSpPr>
        <p:spPr>
          <a:xfrm>
            <a:off x="4544568" y="1572768"/>
            <a:ext cx="2926080" cy="256032"/>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Express · Prisma · PostgreSQL</a:t>
            </a:r>
          </a:p>
        </p:txBody>
      </p:sp>
      <p:sp>
        <p:nvSpPr>
          <p:cNvPr id="15" name="TextBox 14"/>
          <p:cNvSpPr txBox="1"/>
          <p:nvPr/>
        </p:nvSpPr>
        <p:spPr>
          <a:xfrm>
            <a:off x="4544568" y="1883664"/>
            <a:ext cx="2926080" cy="219456"/>
          </a:xfrm>
          <a:prstGeom prst="rect">
            <a:avLst/>
          </a:prstGeom>
          <a:noFill/>
        </p:spPr>
        <p:txBody>
          <a:bodyPr wrap="square" anchor="t" lIns="0" rIns="0" tIns="0" bIns="0">
            <a:spAutoFit/>
          </a:bodyPr>
          <a:lstStyle/>
          <a:p>
            <a:pPr algn="l">
              <a:lnSpc>
                <a:spcPct val="118000"/>
              </a:lnSpc>
              <a:spcAft>
                <a:spcPts val="300"/>
              </a:spcAft>
            </a:pPr>
            <a:r>
              <a:rPr sz="900" b="1">
                <a:solidFill>
                  <a:srgbClr val="009E6D"/>
                </a:solidFill>
                <a:latin typeface="Segoe UI"/>
              </a:rPr>
              <a:t>VERCEL SERVERLESS</a:t>
            </a:r>
          </a:p>
        </p:txBody>
      </p:sp>
      <p:sp>
        <p:nvSpPr>
          <p:cNvPr id="16" name="Rounded Rectangle 15"/>
          <p:cNvSpPr/>
          <p:nvPr/>
        </p:nvSpPr>
        <p:spPr>
          <a:xfrm>
            <a:off x="7955280" y="1133856"/>
            <a:ext cx="3401568" cy="1097280"/>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955280" y="1133856"/>
            <a:ext cx="3401568" cy="45720"/>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93024" y="1298448"/>
            <a:ext cx="2926080" cy="237744"/>
          </a:xfrm>
          <a:prstGeom prst="rect">
            <a:avLst/>
          </a:prstGeom>
          <a:noFill/>
        </p:spPr>
        <p:txBody>
          <a:bodyPr wrap="square" anchor="t" lIns="0" rIns="0" tIns="0" bIns="0">
            <a:spAutoFit/>
          </a:bodyPr>
          <a:lstStyle/>
          <a:p>
            <a:pPr algn="l">
              <a:lnSpc>
                <a:spcPct val="118000"/>
              </a:lnSpc>
              <a:spcAft>
                <a:spcPts val="300"/>
              </a:spcAft>
            </a:pPr>
            <a:r>
              <a:rPr sz="1350" b="1">
                <a:solidFill>
                  <a:srgbClr val="0B1224"/>
                </a:solidFill>
                <a:latin typeface="Segoe UI"/>
              </a:rPr>
              <a:t>Mobile client</a:t>
            </a:r>
          </a:p>
        </p:txBody>
      </p:sp>
      <p:sp>
        <p:nvSpPr>
          <p:cNvPr id="19" name="TextBox 18"/>
          <p:cNvSpPr txBox="1"/>
          <p:nvPr/>
        </p:nvSpPr>
        <p:spPr>
          <a:xfrm>
            <a:off x="8193024" y="1572768"/>
            <a:ext cx="2926080" cy="256032"/>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React Native · Android</a:t>
            </a:r>
          </a:p>
        </p:txBody>
      </p:sp>
      <p:sp>
        <p:nvSpPr>
          <p:cNvPr id="20" name="TextBox 19"/>
          <p:cNvSpPr txBox="1"/>
          <p:nvPr/>
        </p:nvSpPr>
        <p:spPr>
          <a:xfrm>
            <a:off x="8193024" y="1883664"/>
            <a:ext cx="2926080" cy="219456"/>
          </a:xfrm>
          <a:prstGeom prst="rect">
            <a:avLst/>
          </a:prstGeom>
          <a:noFill/>
        </p:spPr>
        <p:txBody>
          <a:bodyPr wrap="square" anchor="t" lIns="0" rIns="0" tIns="0" bIns="0">
            <a:spAutoFit/>
          </a:bodyPr>
          <a:lstStyle/>
          <a:p>
            <a:pPr algn="l">
              <a:lnSpc>
                <a:spcPct val="118000"/>
              </a:lnSpc>
              <a:spcAft>
                <a:spcPts val="300"/>
              </a:spcAft>
            </a:pPr>
            <a:r>
              <a:rPr sz="900" b="1">
                <a:solidFill>
                  <a:srgbClr val="009E6D"/>
                </a:solidFill>
                <a:latin typeface="Segoe UI"/>
              </a:rPr>
              <a:t>SIGNED APK</a:t>
            </a:r>
          </a:p>
        </p:txBody>
      </p:sp>
      <p:sp>
        <p:nvSpPr>
          <p:cNvPr id="21" name="Rounded Rectangle 20"/>
          <p:cNvSpPr/>
          <p:nvPr/>
        </p:nvSpPr>
        <p:spPr>
          <a:xfrm>
            <a:off x="658368" y="2395728"/>
            <a:ext cx="10874959" cy="603504"/>
          </a:xfrm>
          <a:prstGeom prst="roundRect">
            <a:avLst>
              <a:gd name="adj" fmla="val 5500"/>
            </a:avLst>
          </a:prstGeom>
          <a:solidFill>
            <a:srgbClr val="0B1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2505456"/>
            <a:ext cx="10326319" cy="457200"/>
          </a:xfrm>
          <a:prstGeom prst="rect">
            <a:avLst/>
          </a:prstGeom>
          <a:noFill/>
        </p:spPr>
        <p:txBody>
          <a:bodyPr wrap="square" anchor="t" lIns="0" rIns="0" tIns="0" bIns="0">
            <a:spAutoFit/>
          </a:bodyPr>
          <a:lstStyle/>
          <a:p>
            <a:pPr algn="l">
              <a:lnSpc>
                <a:spcPct val="118000"/>
              </a:lnSpc>
              <a:spcAft>
                <a:spcPts val="300"/>
              </a:spcAft>
            </a:pPr>
            <a:r>
              <a:rPr sz="1200" b="1">
                <a:solidFill>
                  <a:srgbClr val="FFFFFF"/>
                </a:solidFill>
                <a:latin typeface="Segoe UI"/>
              </a:rPr>
              <a:t>Shared REST API   ·   88 endpoints   ·   authentication and permission check on every route</a:t>
            </a:r>
          </a:p>
          <a:p>
            <a:pPr algn="l">
              <a:lnSpc>
                <a:spcPct val="118000"/>
              </a:lnSpc>
              <a:spcAft>
                <a:spcPts val="300"/>
              </a:spcAft>
            </a:pPr>
            <a:r>
              <a:rPr sz="1050" b="0">
                <a:solidFill>
                  <a:srgbClr val="9FC7B6"/>
                </a:solidFill>
                <a:latin typeface="Segoe UI"/>
              </a:rPr>
              <a:t>routes (authenticate + authorise)  →  controllers (validate)  →  services (business logic, tenant scoping)</a:t>
            </a:r>
          </a:p>
        </p:txBody>
      </p:sp>
      <p:sp>
        <p:nvSpPr>
          <p:cNvPr id="23" name="TextBox 22"/>
          <p:cNvSpPr txBox="1"/>
          <p:nvPr/>
        </p:nvSpPr>
        <p:spPr>
          <a:xfrm>
            <a:off x="658368" y="3200400"/>
            <a:ext cx="10874959" cy="256032"/>
          </a:xfrm>
          <a:prstGeom prst="rect">
            <a:avLst/>
          </a:prstGeom>
          <a:noFill/>
        </p:spPr>
        <p:txBody>
          <a:bodyPr wrap="square" anchor="t" lIns="0" rIns="0" tIns="0" bIns="0">
            <a:spAutoFit/>
          </a:bodyPr>
          <a:lstStyle/>
          <a:p>
            <a:pPr algn="l">
              <a:lnSpc>
                <a:spcPct val="118000"/>
              </a:lnSpc>
              <a:spcAft>
                <a:spcPts val="300"/>
              </a:spcAft>
            </a:pPr>
            <a:r>
              <a:rPr sz="1400" b="1">
                <a:solidFill>
                  <a:srgbClr val="0B1224"/>
                </a:solidFill>
                <a:latin typeface="Segoe UI"/>
              </a:rPr>
              <a:t>Design decisions</a:t>
            </a:r>
          </a:p>
        </p:txBody>
      </p:sp>
      <p:sp>
        <p:nvSpPr>
          <p:cNvPr id="24" name="Oval 23"/>
          <p:cNvSpPr/>
          <p:nvPr/>
        </p:nvSpPr>
        <p:spPr>
          <a:xfrm>
            <a:off x="704088" y="3630168"/>
            <a:ext cx="91440" cy="91440"/>
          </a:xfrm>
          <a:prstGeom prst="ellipse">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50976" y="3547872"/>
            <a:ext cx="2834640" cy="237744"/>
          </a:xfrm>
          <a:prstGeom prst="rect">
            <a:avLst/>
          </a:prstGeom>
          <a:noFill/>
        </p:spPr>
        <p:txBody>
          <a:bodyPr wrap="square" anchor="t" lIns="0" rIns="0" tIns="0" bIns="0">
            <a:spAutoFit/>
          </a:bodyPr>
          <a:lstStyle/>
          <a:p>
            <a:pPr algn="l">
              <a:lnSpc>
                <a:spcPct val="118000"/>
              </a:lnSpc>
              <a:spcAft>
                <a:spcPts val="300"/>
              </a:spcAft>
            </a:pPr>
            <a:r>
              <a:rPr sz="1150" b="1">
                <a:solidFill>
                  <a:srgbClr val="006B4A"/>
                </a:solidFill>
                <a:latin typeface="Segoe UI"/>
              </a:rPr>
              <a:t>Multi-tenant isolation</a:t>
            </a:r>
          </a:p>
        </p:txBody>
      </p:sp>
      <p:sp>
        <p:nvSpPr>
          <p:cNvPr id="26" name="TextBox 25"/>
          <p:cNvSpPr txBox="1"/>
          <p:nvPr/>
        </p:nvSpPr>
        <p:spPr>
          <a:xfrm>
            <a:off x="3858768" y="3547872"/>
            <a:ext cx="7498079" cy="411480"/>
          </a:xfrm>
          <a:prstGeom prst="rect">
            <a:avLst/>
          </a:prstGeom>
          <a:noFill/>
        </p:spPr>
        <p:txBody>
          <a:bodyPr wrap="square" anchor="t" lIns="0" rIns="0" tIns="0" bIns="0">
            <a:spAutoFit/>
          </a:bodyPr>
          <a:lstStyle/>
          <a:p>
            <a:pPr algn="l">
              <a:lnSpc>
                <a:spcPct val="118000"/>
              </a:lnSpc>
              <a:spcAft>
                <a:spcPts val="300"/>
              </a:spcAft>
            </a:pPr>
            <a:r>
              <a:rPr sz="1100" b="0">
                <a:solidFill>
                  <a:srgbClr val="3A485C"/>
                </a:solidFill>
                <a:latin typeface="Segoe UI"/>
              </a:rPr>
              <a:t>every database query is scoped by organisation, so one deployment serves many companies without data leakage</a:t>
            </a:r>
          </a:p>
        </p:txBody>
      </p:sp>
      <p:sp>
        <p:nvSpPr>
          <p:cNvPr id="27" name="Oval 26"/>
          <p:cNvSpPr/>
          <p:nvPr/>
        </p:nvSpPr>
        <p:spPr>
          <a:xfrm>
            <a:off x="704088" y="4105656"/>
            <a:ext cx="91440" cy="91440"/>
          </a:xfrm>
          <a:prstGeom prst="ellipse">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50976" y="4023360"/>
            <a:ext cx="2834640" cy="237744"/>
          </a:xfrm>
          <a:prstGeom prst="rect">
            <a:avLst/>
          </a:prstGeom>
          <a:noFill/>
        </p:spPr>
        <p:txBody>
          <a:bodyPr wrap="square" anchor="t" lIns="0" rIns="0" tIns="0" bIns="0">
            <a:spAutoFit/>
          </a:bodyPr>
          <a:lstStyle/>
          <a:p>
            <a:pPr algn="l">
              <a:lnSpc>
                <a:spcPct val="118000"/>
              </a:lnSpc>
              <a:spcAft>
                <a:spcPts val="300"/>
              </a:spcAft>
            </a:pPr>
            <a:r>
              <a:rPr sz="1150" b="1">
                <a:solidFill>
                  <a:srgbClr val="006B4A"/>
                </a:solidFill>
                <a:latin typeface="Segoe UI"/>
              </a:rPr>
              <a:t>Two-layer authorisation</a:t>
            </a:r>
          </a:p>
        </p:txBody>
      </p:sp>
      <p:sp>
        <p:nvSpPr>
          <p:cNvPr id="29" name="TextBox 28"/>
          <p:cNvSpPr txBox="1"/>
          <p:nvPr/>
        </p:nvSpPr>
        <p:spPr>
          <a:xfrm>
            <a:off x="3858768" y="4023360"/>
            <a:ext cx="7498079" cy="411480"/>
          </a:xfrm>
          <a:prstGeom prst="rect">
            <a:avLst/>
          </a:prstGeom>
          <a:noFill/>
        </p:spPr>
        <p:txBody>
          <a:bodyPr wrap="square" anchor="t" lIns="0" rIns="0" tIns="0" bIns="0">
            <a:spAutoFit/>
          </a:bodyPr>
          <a:lstStyle/>
          <a:p>
            <a:pPr algn="l">
              <a:lnSpc>
                <a:spcPct val="118000"/>
              </a:lnSpc>
              <a:spcAft>
                <a:spcPts val="300"/>
              </a:spcAft>
            </a:pPr>
            <a:r>
              <a:rPr sz="1100" b="0">
                <a:solidFill>
                  <a:srgbClr val="3A485C"/>
                </a:solidFill>
                <a:latin typeface="Segoe UI"/>
              </a:rPr>
              <a:t>the route declares the permission required; the service independently verifies record ownership</a:t>
            </a:r>
          </a:p>
        </p:txBody>
      </p:sp>
      <p:sp>
        <p:nvSpPr>
          <p:cNvPr id="30" name="Oval 29"/>
          <p:cNvSpPr/>
          <p:nvPr/>
        </p:nvSpPr>
        <p:spPr>
          <a:xfrm>
            <a:off x="704088" y="4581144"/>
            <a:ext cx="91440" cy="91440"/>
          </a:xfrm>
          <a:prstGeom prst="ellipse">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50976" y="4498848"/>
            <a:ext cx="2834640" cy="237744"/>
          </a:xfrm>
          <a:prstGeom prst="rect">
            <a:avLst/>
          </a:prstGeom>
          <a:noFill/>
        </p:spPr>
        <p:txBody>
          <a:bodyPr wrap="square" anchor="t" lIns="0" rIns="0" tIns="0" bIns="0">
            <a:spAutoFit/>
          </a:bodyPr>
          <a:lstStyle/>
          <a:p>
            <a:pPr algn="l">
              <a:lnSpc>
                <a:spcPct val="118000"/>
              </a:lnSpc>
              <a:spcAft>
                <a:spcPts val="300"/>
              </a:spcAft>
            </a:pPr>
            <a:r>
              <a:rPr sz="1150" b="1">
                <a:solidFill>
                  <a:srgbClr val="006B4A"/>
                </a:solidFill>
                <a:latin typeface="Segoe UI"/>
              </a:rPr>
              <a:t>Business-day attendance engine</a:t>
            </a:r>
          </a:p>
        </p:txBody>
      </p:sp>
      <p:sp>
        <p:nvSpPr>
          <p:cNvPr id="32" name="TextBox 31"/>
          <p:cNvSpPr txBox="1"/>
          <p:nvPr/>
        </p:nvSpPr>
        <p:spPr>
          <a:xfrm>
            <a:off x="3858768" y="4498848"/>
            <a:ext cx="7498079" cy="411480"/>
          </a:xfrm>
          <a:prstGeom prst="rect">
            <a:avLst/>
          </a:prstGeom>
          <a:noFill/>
        </p:spPr>
        <p:txBody>
          <a:bodyPr wrap="square" anchor="t" lIns="0" rIns="0" tIns="0" bIns="0">
            <a:spAutoFit/>
          </a:bodyPr>
          <a:lstStyle/>
          <a:p>
            <a:pPr algn="l">
              <a:lnSpc>
                <a:spcPct val="118000"/>
              </a:lnSpc>
              <a:spcAft>
                <a:spcPts val="300"/>
              </a:spcAft>
            </a:pPr>
            <a:r>
              <a:rPr sz="1100" b="0">
                <a:solidFill>
                  <a:srgbClr val="3A485C"/>
                </a:solidFill>
                <a:latin typeface="Segoe UI"/>
              </a:rPr>
              <a:t>a scan after midnight is attributed to the day the shift began, shared by attendance, reporting and the calendar</a:t>
            </a:r>
          </a:p>
        </p:txBody>
      </p:sp>
      <p:sp>
        <p:nvSpPr>
          <p:cNvPr id="33" name="Oval 32"/>
          <p:cNvSpPr/>
          <p:nvPr/>
        </p:nvSpPr>
        <p:spPr>
          <a:xfrm>
            <a:off x="704088" y="5056632"/>
            <a:ext cx="91440" cy="91440"/>
          </a:xfrm>
          <a:prstGeom prst="ellipse">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50976" y="4974336"/>
            <a:ext cx="2834640" cy="237744"/>
          </a:xfrm>
          <a:prstGeom prst="rect">
            <a:avLst/>
          </a:prstGeom>
          <a:noFill/>
        </p:spPr>
        <p:txBody>
          <a:bodyPr wrap="square" anchor="t" lIns="0" rIns="0" tIns="0" bIns="0">
            <a:spAutoFit/>
          </a:bodyPr>
          <a:lstStyle/>
          <a:p>
            <a:pPr algn="l">
              <a:lnSpc>
                <a:spcPct val="118000"/>
              </a:lnSpc>
              <a:spcAft>
                <a:spcPts val="300"/>
              </a:spcAft>
            </a:pPr>
            <a:r>
              <a:rPr sz="1150" b="1">
                <a:solidFill>
                  <a:srgbClr val="006B4A"/>
                </a:solidFill>
                <a:latin typeface="Segoe UI"/>
              </a:rPr>
              <a:t>Deterministic fallbacks</a:t>
            </a:r>
          </a:p>
        </p:txBody>
      </p:sp>
      <p:sp>
        <p:nvSpPr>
          <p:cNvPr id="35" name="TextBox 34"/>
          <p:cNvSpPr txBox="1"/>
          <p:nvPr/>
        </p:nvSpPr>
        <p:spPr>
          <a:xfrm>
            <a:off x="3858768" y="4974336"/>
            <a:ext cx="7498079" cy="411480"/>
          </a:xfrm>
          <a:prstGeom prst="rect">
            <a:avLst/>
          </a:prstGeom>
          <a:noFill/>
        </p:spPr>
        <p:txBody>
          <a:bodyPr wrap="square" anchor="t" lIns="0" rIns="0" tIns="0" bIns="0">
            <a:spAutoFit/>
          </a:bodyPr>
          <a:lstStyle/>
          <a:p>
            <a:pPr algn="l">
              <a:lnSpc>
                <a:spcPct val="118000"/>
              </a:lnSpc>
              <a:spcAft>
                <a:spcPts val="300"/>
              </a:spcAft>
            </a:pPr>
            <a:r>
              <a:rPr sz="1100" b="0">
                <a:solidFill>
                  <a:srgbClr val="3A485C"/>
                </a:solidFill>
                <a:latin typeface="Segoe UI"/>
              </a:rPr>
              <a:t>every AI-assisted feature has a non-AI path, so the system remains usable when a provider is unavailable</a:t>
            </a:r>
          </a:p>
        </p:txBody>
      </p:sp>
      <p:sp>
        <p:nvSpPr>
          <p:cNvPr id="36" name="Rounded Rectangle 35"/>
          <p:cNvSpPr/>
          <p:nvPr/>
        </p:nvSpPr>
        <p:spPr>
          <a:xfrm>
            <a:off x="658368" y="5541264"/>
            <a:ext cx="10874959" cy="603504"/>
          </a:xfrm>
          <a:prstGeom prst="roundRect">
            <a:avLst>
              <a:gd name="adj" fmla="val 5500"/>
            </a:avLst>
          </a:prstGeom>
          <a:solidFill>
            <a:srgbClr val="E6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32688" y="5705856"/>
            <a:ext cx="10326319" cy="292608"/>
          </a:xfrm>
          <a:prstGeom prst="rect">
            <a:avLst/>
          </a:prstGeom>
          <a:noFill/>
        </p:spPr>
        <p:txBody>
          <a:bodyPr wrap="square" anchor="t" lIns="0" rIns="0" tIns="0" bIns="0">
            <a:spAutoFit/>
          </a:bodyPr>
          <a:lstStyle/>
          <a:p>
            <a:pPr algn="l">
              <a:lnSpc>
                <a:spcPct val="118000"/>
              </a:lnSpc>
              <a:spcAft>
                <a:spcPts val="300"/>
              </a:spcAft>
            </a:pPr>
            <a:r>
              <a:rPr sz="1100" b="1">
                <a:solidFill>
                  <a:srgbClr val="1E293B"/>
                </a:solidFill>
                <a:latin typeface="Segoe UI"/>
              </a:rPr>
              <a:t>PostgreSQL (30 relational models, 16 migrations)  ·  Redis for one-time codes and rate limits  ·  Firebase authentication  ·  LLM provider with automatic failover</a:t>
            </a:r>
          </a:p>
        </p:txBody>
      </p:sp>
      <p:sp>
        <p:nvSpPr>
          <p:cNvPr id="38" name="Rectangle 37"/>
          <p:cNvSpPr/>
          <p:nvPr/>
        </p:nvSpPr>
        <p:spPr>
          <a:xfrm>
            <a:off x="658368" y="6419088"/>
            <a:ext cx="10874959" cy="9525"/>
          </a:xfrm>
          <a:prstGeom prst="rect">
            <a:avLst/>
          </a:prstGeom>
          <a:solidFill>
            <a:srgbClr val="DD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58368" y="6510528"/>
            <a:ext cx="6400800" cy="219456"/>
          </a:xfrm>
          <a:prstGeom prst="rect">
            <a:avLst/>
          </a:prstGeom>
          <a:noFill/>
        </p:spPr>
        <p:txBody>
          <a:bodyPr wrap="square" anchor="t" lIns="0" rIns="0" tIns="0" bIns="0">
            <a:spAutoFit/>
          </a:bodyPr>
          <a:lstStyle/>
          <a:p>
            <a:pPr algn="l">
              <a:lnSpc>
                <a:spcPct val="118000"/>
              </a:lnSpc>
              <a:spcAft>
                <a:spcPts val="300"/>
              </a:spcAft>
            </a:pPr>
            <a:r>
              <a:rPr sz="900" b="0">
                <a:solidFill>
                  <a:srgbClr val="9AA8BC"/>
                </a:solidFill>
                <a:latin typeface="Segoe UI"/>
              </a:rPr>
              <a:t>DayMark  ·  Final Year Project</a:t>
            </a:r>
          </a:p>
        </p:txBody>
      </p:sp>
      <p:sp>
        <p:nvSpPr>
          <p:cNvPr id="40" name="TextBox 39"/>
          <p:cNvSpPr txBox="1"/>
          <p:nvPr/>
        </p:nvSpPr>
        <p:spPr>
          <a:xfrm>
            <a:off x="11076127" y="6510528"/>
            <a:ext cx="457200" cy="219456"/>
          </a:xfrm>
          <a:prstGeom prst="rect">
            <a:avLst/>
          </a:prstGeom>
          <a:noFill/>
        </p:spPr>
        <p:txBody>
          <a:bodyPr wrap="square" anchor="t" lIns="0" rIns="0" tIns="0" bIns="0">
            <a:spAutoFit/>
          </a:bodyPr>
          <a:lstStyle/>
          <a:p>
            <a:pPr algn="r">
              <a:lnSpc>
                <a:spcPct val="118000"/>
              </a:lnSpc>
              <a:spcAft>
                <a:spcPts val="300"/>
              </a:spcAft>
            </a:pPr>
            <a:r>
              <a:rPr sz="900" b="1">
                <a:solidFill>
                  <a:srgbClr val="6B7A90"/>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58368" y="365760"/>
            <a:ext cx="10874959" cy="237744"/>
          </a:xfrm>
          <a:prstGeom prst="rect">
            <a:avLst/>
          </a:prstGeom>
          <a:noFill/>
        </p:spPr>
        <p:txBody>
          <a:bodyPr wrap="square" anchor="t" lIns="0" rIns="0" tIns="0" bIns="0">
            <a:spAutoFit/>
          </a:bodyPr>
          <a:lstStyle/>
          <a:p>
            <a:pPr algn="l">
              <a:lnSpc>
                <a:spcPct val="118000"/>
              </a:lnSpc>
              <a:spcAft>
                <a:spcPts val="300"/>
              </a:spcAft>
            </a:pPr>
            <a:r>
              <a:rPr sz="1100" b="1">
                <a:solidFill>
                  <a:srgbClr val="009E6D"/>
                </a:solidFill>
                <a:latin typeface="Segoe UI"/>
              </a:rPr>
              <a:t>1.5  METHODOLOGY</a:t>
            </a:r>
          </a:p>
        </p:txBody>
      </p:sp>
      <p:sp>
        <p:nvSpPr>
          <p:cNvPr id="5" name="TextBox 4"/>
          <p:cNvSpPr txBox="1"/>
          <p:nvPr/>
        </p:nvSpPr>
        <p:spPr>
          <a:xfrm>
            <a:off x="658368" y="603504"/>
            <a:ext cx="10874959" cy="457200"/>
          </a:xfrm>
          <a:prstGeom prst="rect">
            <a:avLst/>
          </a:prstGeom>
          <a:noFill/>
        </p:spPr>
        <p:txBody>
          <a:bodyPr wrap="square" anchor="t" lIns="0" rIns="0" tIns="0" bIns="0">
            <a:spAutoFit/>
          </a:bodyPr>
          <a:lstStyle/>
          <a:p>
            <a:pPr algn="l">
              <a:lnSpc>
                <a:spcPct val="118000"/>
              </a:lnSpc>
              <a:spcAft>
                <a:spcPts val="300"/>
              </a:spcAft>
            </a:pPr>
            <a:r>
              <a:rPr sz="2600" b="1">
                <a:solidFill>
                  <a:srgbClr val="0B1224"/>
                </a:solidFill>
                <a:latin typeface="Segoe UI"/>
              </a:rPr>
              <a:t>Proposed methodology — the trained model</a:t>
            </a:r>
          </a:p>
        </p:txBody>
      </p:sp>
      <p:sp>
        <p:nvSpPr>
          <p:cNvPr id="6" name="Rounded Rectangle 5"/>
          <p:cNvSpPr/>
          <p:nvPr/>
        </p:nvSpPr>
        <p:spPr>
          <a:xfrm>
            <a:off x="658368" y="1133856"/>
            <a:ext cx="1975104" cy="1042415"/>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04672" y="1261872"/>
            <a:ext cx="1737360" cy="237744"/>
          </a:xfrm>
          <a:prstGeom prst="rect">
            <a:avLst/>
          </a:prstGeom>
          <a:noFill/>
        </p:spPr>
        <p:txBody>
          <a:bodyPr wrap="square" anchor="t" lIns="0" rIns="0" tIns="0" bIns="0">
            <a:spAutoFit/>
          </a:bodyPr>
          <a:lstStyle/>
          <a:p>
            <a:pPr algn="l">
              <a:lnSpc>
                <a:spcPct val="118000"/>
              </a:lnSpc>
              <a:spcAft>
                <a:spcPts val="300"/>
              </a:spcAft>
            </a:pPr>
            <a:r>
              <a:rPr sz="1250" b="1">
                <a:solidFill>
                  <a:srgbClr val="0B1224"/>
                </a:solidFill>
                <a:latin typeface="Segoe UI"/>
              </a:rPr>
              <a:t>Dataset</a:t>
            </a:r>
          </a:p>
        </p:txBody>
      </p:sp>
      <p:sp>
        <p:nvSpPr>
          <p:cNvPr id="8" name="TextBox 7"/>
          <p:cNvSpPr txBox="1"/>
          <p:nvPr/>
        </p:nvSpPr>
        <p:spPr>
          <a:xfrm>
            <a:off x="804672" y="1536192"/>
            <a:ext cx="1755648" cy="566928"/>
          </a:xfrm>
          <a:prstGeom prst="rect">
            <a:avLst/>
          </a:prstGeom>
          <a:noFill/>
        </p:spPr>
        <p:txBody>
          <a:bodyPr wrap="square" anchor="t" lIns="0" rIns="0" tIns="0" bIns="0">
            <a:spAutoFit/>
          </a:bodyPr>
          <a:lstStyle/>
          <a:p>
            <a:pPr algn="l">
              <a:lnSpc>
                <a:spcPct val="118000"/>
              </a:lnSpc>
              <a:spcAft>
                <a:spcPts val="300"/>
              </a:spcAft>
            </a:pPr>
            <a:r>
              <a:rPr sz="950" b="0">
                <a:solidFill>
                  <a:srgbClr val="3A485C"/>
                </a:solidFill>
                <a:latin typeface="Segoe UI"/>
              </a:rPr>
              <a:t>23,313 labelled</a:t>
            </a:r>
          </a:p>
          <a:p>
            <a:pPr algn="l">
              <a:lnSpc>
                <a:spcPct val="118000"/>
              </a:lnSpc>
              <a:spcAft>
                <a:spcPts val="300"/>
              </a:spcAft>
            </a:pPr>
            <a:r>
              <a:rPr sz="950" b="0">
                <a:solidFill>
                  <a:srgbClr val="3A485C"/>
                </a:solidFill>
                <a:latin typeface="Segoe UI"/>
              </a:rPr>
              <a:t>issues [1]</a:t>
            </a:r>
          </a:p>
        </p:txBody>
      </p:sp>
      <p:sp>
        <p:nvSpPr>
          <p:cNvPr id="9" name="TextBox 8"/>
          <p:cNvSpPr txBox="1"/>
          <p:nvPr/>
        </p:nvSpPr>
        <p:spPr>
          <a:xfrm>
            <a:off x="2615184" y="1554480"/>
            <a:ext cx="274320" cy="274320"/>
          </a:xfrm>
          <a:prstGeom prst="rect">
            <a:avLst/>
          </a:prstGeom>
          <a:noFill/>
        </p:spPr>
        <p:txBody>
          <a:bodyPr wrap="square" anchor="t" lIns="0" rIns="0" tIns="0" bIns="0">
            <a:spAutoFit/>
          </a:bodyPr>
          <a:lstStyle/>
          <a:p>
            <a:pPr algn="l">
              <a:lnSpc>
                <a:spcPct val="118000"/>
              </a:lnSpc>
              <a:spcAft>
                <a:spcPts val="300"/>
              </a:spcAft>
            </a:pPr>
            <a:r>
              <a:rPr sz="1500" b="1">
                <a:solidFill>
                  <a:srgbClr val="009E6D"/>
                </a:solidFill>
                <a:latin typeface="Segoe UI"/>
              </a:rPr>
              <a:t>→</a:t>
            </a:r>
          </a:p>
        </p:txBody>
      </p:sp>
      <p:sp>
        <p:nvSpPr>
          <p:cNvPr id="10" name="Rounded Rectangle 9"/>
          <p:cNvSpPr/>
          <p:nvPr/>
        </p:nvSpPr>
        <p:spPr>
          <a:xfrm>
            <a:off x="2871216" y="1133856"/>
            <a:ext cx="1975104" cy="1042415"/>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017520" y="1261872"/>
            <a:ext cx="1737360" cy="237744"/>
          </a:xfrm>
          <a:prstGeom prst="rect">
            <a:avLst/>
          </a:prstGeom>
          <a:noFill/>
        </p:spPr>
        <p:txBody>
          <a:bodyPr wrap="square" anchor="t" lIns="0" rIns="0" tIns="0" bIns="0">
            <a:spAutoFit/>
          </a:bodyPr>
          <a:lstStyle/>
          <a:p>
            <a:pPr algn="l">
              <a:lnSpc>
                <a:spcPct val="118000"/>
              </a:lnSpc>
              <a:spcAft>
                <a:spcPts val="300"/>
              </a:spcAft>
            </a:pPr>
            <a:r>
              <a:rPr sz="1250" b="1">
                <a:solidFill>
                  <a:srgbClr val="0B1224"/>
                </a:solidFill>
                <a:latin typeface="Segoe UI"/>
              </a:rPr>
              <a:t>Preprocess</a:t>
            </a:r>
          </a:p>
        </p:txBody>
      </p:sp>
      <p:sp>
        <p:nvSpPr>
          <p:cNvPr id="12" name="TextBox 11"/>
          <p:cNvSpPr txBox="1"/>
          <p:nvPr/>
        </p:nvSpPr>
        <p:spPr>
          <a:xfrm>
            <a:off x="3017520" y="1536192"/>
            <a:ext cx="1755648" cy="566928"/>
          </a:xfrm>
          <a:prstGeom prst="rect">
            <a:avLst/>
          </a:prstGeom>
          <a:noFill/>
        </p:spPr>
        <p:txBody>
          <a:bodyPr wrap="square" anchor="t" lIns="0" rIns="0" tIns="0" bIns="0">
            <a:spAutoFit/>
          </a:bodyPr>
          <a:lstStyle/>
          <a:p>
            <a:pPr algn="l">
              <a:lnSpc>
                <a:spcPct val="118000"/>
              </a:lnSpc>
              <a:spcAft>
                <a:spcPts val="300"/>
              </a:spcAft>
            </a:pPr>
            <a:r>
              <a:rPr sz="950" b="0">
                <a:solidFill>
                  <a:srgbClr val="3A485C"/>
                </a:solidFill>
                <a:latin typeface="Segoe UI"/>
              </a:rPr>
              <a:t>clean text,</a:t>
            </a:r>
          </a:p>
          <a:p>
            <a:pPr algn="l">
              <a:lnSpc>
                <a:spcPct val="118000"/>
              </a:lnSpc>
              <a:spcAft>
                <a:spcPts val="300"/>
              </a:spcAft>
            </a:pPr>
            <a:r>
              <a:rPr sz="950" b="0">
                <a:solidFill>
                  <a:srgbClr val="3A485C"/>
                </a:solidFill>
                <a:latin typeface="Segoe UI"/>
              </a:rPr>
              <a:t>22,612 usable</a:t>
            </a:r>
          </a:p>
        </p:txBody>
      </p:sp>
      <p:sp>
        <p:nvSpPr>
          <p:cNvPr id="13" name="TextBox 12"/>
          <p:cNvSpPr txBox="1"/>
          <p:nvPr/>
        </p:nvSpPr>
        <p:spPr>
          <a:xfrm>
            <a:off x="4828032" y="1554480"/>
            <a:ext cx="274320" cy="274320"/>
          </a:xfrm>
          <a:prstGeom prst="rect">
            <a:avLst/>
          </a:prstGeom>
          <a:noFill/>
        </p:spPr>
        <p:txBody>
          <a:bodyPr wrap="square" anchor="t" lIns="0" rIns="0" tIns="0" bIns="0">
            <a:spAutoFit/>
          </a:bodyPr>
          <a:lstStyle/>
          <a:p>
            <a:pPr algn="l">
              <a:lnSpc>
                <a:spcPct val="118000"/>
              </a:lnSpc>
              <a:spcAft>
                <a:spcPts val="300"/>
              </a:spcAft>
            </a:pPr>
            <a:r>
              <a:rPr sz="1500" b="1">
                <a:solidFill>
                  <a:srgbClr val="009E6D"/>
                </a:solidFill>
                <a:latin typeface="Segoe UI"/>
              </a:rPr>
              <a:t>→</a:t>
            </a:r>
          </a:p>
        </p:txBody>
      </p:sp>
      <p:sp>
        <p:nvSpPr>
          <p:cNvPr id="14" name="Rounded Rectangle 13"/>
          <p:cNvSpPr/>
          <p:nvPr/>
        </p:nvSpPr>
        <p:spPr>
          <a:xfrm>
            <a:off x="5084064" y="1133856"/>
            <a:ext cx="1975104" cy="1042415"/>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230368" y="1261872"/>
            <a:ext cx="1737360" cy="237744"/>
          </a:xfrm>
          <a:prstGeom prst="rect">
            <a:avLst/>
          </a:prstGeom>
          <a:noFill/>
        </p:spPr>
        <p:txBody>
          <a:bodyPr wrap="square" anchor="t" lIns="0" rIns="0" tIns="0" bIns="0">
            <a:spAutoFit/>
          </a:bodyPr>
          <a:lstStyle/>
          <a:p>
            <a:pPr algn="l">
              <a:lnSpc>
                <a:spcPct val="118000"/>
              </a:lnSpc>
              <a:spcAft>
                <a:spcPts val="300"/>
              </a:spcAft>
            </a:pPr>
            <a:r>
              <a:rPr sz="1250" b="1">
                <a:solidFill>
                  <a:srgbClr val="0B1224"/>
                </a:solidFill>
                <a:latin typeface="Segoe UI"/>
              </a:rPr>
              <a:t>Vectorise</a:t>
            </a:r>
          </a:p>
        </p:txBody>
      </p:sp>
      <p:sp>
        <p:nvSpPr>
          <p:cNvPr id="16" name="TextBox 15"/>
          <p:cNvSpPr txBox="1"/>
          <p:nvPr/>
        </p:nvSpPr>
        <p:spPr>
          <a:xfrm>
            <a:off x="5230368" y="1536192"/>
            <a:ext cx="1755648" cy="566928"/>
          </a:xfrm>
          <a:prstGeom prst="rect">
            <a:avLst/>
          </a:prstGeom>
          <a:noFill/>
        </p:spPr>
        <p:txBody>
          <a:bodyPr wrap="square" anchor="t" lIns="0" rIns="0" tIns="0" bIns="0">
            <a:spAutoFit/>
          </a:bodyPr>
          <a:lstStyle/>
          <a:p>
            <a:pPr algn="l">
              <a:lnSpc>
                <a:spcPct val="118000"/>
              </a:lnSpc>
              <a:spcAft>
                <a:spcPts val="300"/>
              </a:spcAft>
            </a:pPr>
            <a:r>
              <a:rPr sz="950" b="0">
                <a:solidFill>
                  <a:srgbClr val="3A485C"/>
                </a:solidFill>
                <a:latin typeface="Segoe UI"/>
              </a:rPr>
              <a:t>TF-IDF, 4,000</a:t>
            </a:r>
          </a:p>
          <a:p>
            <a:pPr algn="l">
              <a:lnSpc>
                <a:spcPct val="118000"/>
              </a:lnSpc>
              <a:spcAft>
                <a:spcPts val="300"/>
              </a:spcAft>
            </a:pPr>
            <a:r>
              <a:rPr sz="950" b="0">
                <a:solidFill>
                  <a:srgbClr val="3A485C"/>
                </a:solidFill>
                <a:latin typeface="Segoe UI"/>
              </a:rPr>
              <a:t>terms, 1–2 grams</a:t>
            </a:r>
          </a:p>
        </p:txBody>
      </p:sp>
      <p:sp>
        <p:nvSpPr>
          <p:cNvPr id="17" name="TextBox 16"/>
          <p:cNvSpPr txBox="1"/>
          <p:nvPr/>
        </p:nvSpPr>
        <p:spPr>
          <a:xfrm>
            <a:off x="7040880" y="1554480"/>
            <a:ext cx="274320" cy="274320"/>
          </a:xfrm>
          <a:prstGeom prst="rect">
            <a:avLst/>
          </a:prstGeom>
          <a:noFill/>
        </p:spPr>
        <p:txBody>
          <a:bodyPr wrap="square" anchor="t" lIns="0" rIns="0" tIns="0" bIns="0">
            <a:spAutoFit/>
          </a:bodyPr>
          <a:lstStyle/>
          <a:p>
            <a:pPr algn="l">
              <a:lnSpc>
                <a:spcPct val="118000"/>
              </a:lnSpc>
              <a:spcAft>
                <a:spcPts val="300"/>
              </a:spcAft>
            </a:pPr>
            <a:r>
              <a:rPr sz="1500" b="1">
                <a:solidFill>
                  <a:srgbClr val="009E6D"/>
                </a:solidFill>
                <a:latin typeface="Segoe UI"/>
              </a:rPr>
              <a:t>→</a:t>
            </a:r>
          </a:p>
        </p:txBody>
      </p:sp>
      <p:sp>
        <p:nvSpPr>
          <p:cNvPr id="18" name="Rounded Rectangle 17"/>
          <p:cNvSpPr/>
          <p:nvPr/>
        </p:nvSpPr>
        <p:spPr>
          <a:xfrm>
            <a:off x="7296912" y="1133856"/>
            <a:ext cx="1975104" cy="1042415"/>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443216" y="1261872"/>
            <a:ext cx="1737360" cy="237744"/>
          </a:xfrm>
          <a:prstGeom prst="rect">
            <a:avLst/>
          </a:prstGeom>
          <a:noFill/>
        </p:spPr>
        <p:txBody>
          <a:bodyPr wrap="square" anchor="t" lIns="0" rIns="0" tIns="0" bIns="0">
            <a:spAutoFit/>
          </a:bodyPr>
          <a:lstStyle/>
          <a:p>
            <a:pPr algn="l">
              <a:lnSpc>
                <a:spcPct val="118000"/>
              </a:lnSpc>
              <a:spcAft>
                <a:spcPts val="300"/>
              </a:spcAft>
            </a:pPr>
            <a:r>
              <a:rPr sz="1250" b="1">
                <a:solidFill>
                  <a:srgbClr val="0B1224"/>
                </a:solidFill>
                <a:latin typeface="Segoe UI"/>
              </a:rPr>
              <a:t>Train</a:t>
            </a:r>
          </a:p>
        </p:txBody>
      </p:sp>
      <p:sp>
        <p:nvSpPr>
          <p:cNvPr id="20" name="TextBox 19"/>
          <p:cNvSpPr txBox="1"/>
          <p:nvPr/>
        </p:nvSpPr>
        <p:spPr>
          <a:xfrm>
            <a:off x="7443216" y="1536192"/>
            <a:ext cx="1755648" cy="566928"/>
          </a:xfrm>
          <a:prstGeom prst="rect">
            <a:avLst/>
          </a:prstGeom>
          <a:noFill/>
        </p:spPr>
        <p:txBody>
          <a:bodyPr wrap="square" anchor="t" lIns="0" rIns="0" tIns="0" bIns="0">
            <a:spAutoFit/>
          </a:bodyPr>
          <a:lstStyle/>
          <a:p>
            <a:pPr algn="l">
              <a:lnSpc>
                <a:spcPct val="118000"/>
              </a:lnSpc>
              <a:spcAft>
                <a:spcPts val="300"/>
              </a:spcAft>
            </a:pPr>
            <a:r>
              <a:rPr sz="950" b="0">
                <a:solidFill>
                  <a:srgbClr val="3A485C"/>
                </a:solidFill>
                <a:latin typeface="Segoe UI"/>
              </a:rPr>
              <a:t>Ridge regression</a:t>
            </a:r>
          </a:p>
          <a:p>
            <a:pPr algn="l">
              <a:lnSpc>
                <a:spcPct val="118000"/>
              </a:lnSpc>
              <a:spcAft>
                <a:spcPts val="300"/>
              </a:spcAft>
            </a:pPr>
            <a:r>
              <a:rPr sz="950" b="0">
                <a:solidFill>
                  <a:srgbClr val="3A485C"/>
                </a:solidFill>
                <a:latin typeface="Segoe UI"/>
              </a:rPr>
              <a:t>80/20 split</a:t>
            </a:r>
          </a:p>
        </p:txBody>
      </p:sp>
      <p:sp>
        <p:nvSpPr>
          <p:cNvPr id="21" name="TextBox 20"/>
          <p:cNvSpPr txBox="1"/>
          <p:nvPr/>
        </p:nvSpPr>
        <p:spPr>
          <a:xfrm>
            <a:off x="9253728" y="1554480"/>
            <a:ext cx="274320" cy="274320"/>
          </a:xfrm>
          <a:prstGeom prst="rect">
            <a:avLst/>
          </a:prstGeom>
          <a:noFill/>
        </p:spPr>
        <p:txBody>
          <a:bodyPr wrap="square" anchor="t" lIns="0" rIns="0" tIns="0" bIns="0">
            <a:spAutoFit/>
          </a:bodyPr>
          <a:lstStyle/>
          <a:p>
            <a:pPr algn="l">
              <a:lnSpc>
                <a:spcPct val="118000"/>
              </a:lnSpc>
              <a:spcAft>
                <a:spcPts val="300"/>
              </a:spcAft>
            </a:pPr>
            <a:r>
              <a:rPr sz="1500" b="1">
                <a:solidFill>
                  <a:srgbClr val="009E6D"/>
                </a:solidFill>
                <a:latin typeface="Segoe UI"/>
              </a:rPr>
              <a:t>→</a:t>
            </a:r>
          </a:p>
        </p:txBody>
      </p:sp>
      <p:sp>
        <p:nvSpPr>
          <p:cNvPr id="22" name="Rounded Rectangle 21"/>
          <p:cNvSpPr/>
          <p:nvPr/>
        </p:nvSpPr>
        <p:spPr>
          <a:xfrm>
            <a:off x="9509760" y="1133856"/>
            <a:ext cx="1975104" cy="1042415"/>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656064" y="1261872"/>
            <a:ext cx="1737360" cy="237744"/>
          </a:xfrm>
          <a:prstGeom prst="rect">
            <a:avLst/>
          </a:prstGeom>
          <a:noFill/>
        </p:spPr>
        <p:txBody>
          <a:bodyPr wrap="square" anchor="t" lIns="0" rIns="0" tIns="0" bIns="0">
            <a:spAutoFit/>
          </a:bodyPr>
          <a:lstStyle/>
          <a:p>
            <a:pPr algn="l">
              <a:lnSpc>
                <a:spcPct val="118000"/>
              </a:lnSpc>
              <a:spcAft>
                <a:spcPts val="300"/>
              </a:spcAft>
            </a:pPr>
            <a:r>
              <a:rPr sz="1250" b="1">
                <a:solidFill>
                  <a:srgbClr val="0B1224"/>
                </a:solidFill>
                <a:latin typeface="Segoe UI"/>
              </a:rPr>
              <a:t>Deploy</a:t>
            </a:r>
          </a:p>
        </p:txBody>
      </p:sp>
      <p:sp>
        <p:nvSpPr>
          <p:cNvPr id="24" name="TextBox 23"/>
          <p:cNvSpPr txBox="1"/>
          <p:nvPr/>
        </p:nvSpPr>
        <p:spPr>
          <a:xfrm>
            <a:off x="9656064" y="1536192"/>
            <a:ext cx="1755648" cy="566928"/>
          </a:xfrm>
          <a:prstGeom prst="rect">
            <a:avLst/>
          </a:prstGeom>
          <a:noFill/>
        </p:spPr>
        <p:txBody>
          <a:bodyPr wrap="square" anchor="t" lIns="0" rIns="0" tIns="0" bIns="0">
            <a:spAutoFit/>
          </a:bodyPr>
          <a:lstStyle/>
          <a:p>
            <a:pPr algn="l">
              <a:lnSpc>
                <a:spcPct val="118000"/>
              </a:lnSpc>
              <a:spcAft>
                <a:spcPts val="300"/>
              </a:spcAft>
            </a:pPr>
            <a:r>
              <a:rPr sz="950" b="0">
                <a:solidFill>
                  <a:srgbClr val="3A485C"/>
                </a:solidFill>
                <a:latin typeface="Segoe UI"/>
              </a:rPr>
              <a:t>export to JSON,</a:t>
            </a:r>
          </a:p>
          <a:p>
            <a:pPr algn="l">
              <a:lnSpc>
                <a:spcPct val="118000"/>
              </a:lnSpc>
              <a:spcAft>
                <a:spcPts val="300"/>
              </a:spcAft>
            </a:pPr>
            <a:r>
              <a:rPr sz="950" b="0">
                <a:solidFill>
                  <a:srgbClr val="3A485C"/>
                </a:solidFill>
                <a:latin typeface="Segoe UI"/>
              </a:rPr>
              <a:t>infer in Node</a:t>
            </a:r>
          </a:p>
        </p:txBody>
      </p:sp>
      <p:sp>
        <p:nvSpPr>
          <p:cNvPr id="25" name="TextBox 24"/>
          <p:cNvSpPr txBox="1"/>
          <p:nvPr/>
        </p:nvSpPr>
        <p:spPr>
          <a:xfrm>
            <a:off x="658368" y="2395728"/>
            <a:ext cx="5330952" cy="256032"/>
          </a:xfrm>
          <a:prstGeom prst="rect">
            <a:avLst/>
          </a:prstGeom>
          <a:noFill/>
        </p:spPr>
        <p:txBody>
          <a:bodyPr wrap="square" anchor="t" lIns="0" rIns="0" tIns="0" bIns="0">
            <a:spAutoFit/>
          </a:bodyPr>
          <a:lstStyle/>
          <a:p>
            <a:pPr algn="l">
              <a:lnSpc>
                <a:spcPct val="118000"/>
              </a:lnSpc>
              <a:spcAft>
                <a:spcPts val="300"/>
              </a:spcAft>
            </a:pPr>
            <a:r>
              <a:rPr sz="1350" b="1">
                <a:solidFill>
                  <a:srgbClr val="0B1224"/>
                </a:solidFill>
                <a:latin typeface="Segoe UI"/>
              </a:rPr>
              <a:t>Model specification</a:t>
            </a:r>
          </a:p>
        </p:txBody>
      </p:sp>
      <p:sp>
        <p:nvSpPr>
          <p:cNvPr id="26" name="TextBox 25"/>
          <p:cNvSpPr txBox="1"/>
          <p:nvPr/>
        </p:nvSpPr>
        <p:spPr>
          <a:xfrm>
            <a:off x="658368" y="2743200"/>
            <a:ext cx="1645920" cy="237744"/>
          </a:xfrm>
          <a:prstGeom prst="rect">
            <a:avLst/>
          </a:prstGeom>
          <a:noFill/>
        </p:spPr>
        <p:txBody>
          <a:bodyPr wrap="square" anchor="t" lIns="0" rIns="0" tIns="0" bIns="0">
            <a:spAutoFit/>
          </a:bodyPr>
          <a:lstStyle/>
          <a:p>
            <a:pPr algn="l">
              <a:lnSpc>
                <a:spcPct val="118000"/>
              </a:lnSpc>
              <a:spcAft>
                <a:spcPts val="300"/>
              </a:spcAft>
            </a:pPr>
            <a:r>
              <a:rPr sz="1100" b="1">
                <a:solidFill>
                  <a:srgbClr val="006B4A"/>
                </a:solidFill>
                <a:latin typeface="Segoe UI"/>
              </a:rPr>
              <a:t>Input</a:t>
            </a:r>
          </a:p>
        </p:txBody>
      </p:sp>
      <p:sp>
        <p:nvSpPr>
          <p:cNvPr id="27" name="TextBox 26"/>
          <p:cNvSpPr txBox="1"/>
          <p:nvPr/>
        </p:nvSpPr>
        <p:spPr>
          <a:xfrm>
            <a:off x="2350008" y="2743200"/>
            <a:ext cx="3566160" cy="365760"/>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issue title concatenated with its description</a:t>
            </a:r>
          </a:p>
        </p:txBody>
      </p:sp>
      <p:sp>
        <p:nvSpPr>
          <p:cNvPr id="28" name="TextBox 27"/>
          <p:cNvSpPr txBox="1"/>
          <p:nvPr/>
        </p:nvSpPr>
        <p:spPr>
          <a:xfrm>
            <a:off x="658368" y="3145536"/>
            <a:ext cx="1645920" cy="237744"/>
          </a:xfrm>
          <a:prstGeom prst="rect">
            <a:avLst/>
          </a:prstGeom>
          <a:noFill/>
        </p:spPr>
        <p:txBody>
          <a:bodyPr wrap="square" anchor="t" lIns="0" rIns="0" tIns="0" bIns="0">
            <a:spAutoFit/>
          </a:bodyPr>
          <a:lstStyle/>
          <a:p>
            <a:pPr algn="l">
              <a:lnSpc>
                <a:spcPct val="118000"/>
              </a:lnSpc>
              <a:spcAft>
                <a:spcPts val="300"/>
              </a:spcAft>
            </a:pPr>
            <a:r>
              <a:rPr sz="1100" b="1">
                <a:solidFill>
                  <a:srgbClr val="006B4A"/>
                </a:solidFill>
                <a:latin typeface="Segoe UI"/>
              </a:rPr>
              <a:t>Representation</a:t>
            </a:r>
          </a:p>
        </p:txBody>
      </p:sp>
      <p:sp>
        <p:nvSpPr>
          <p:cNvPr id="29" name="TextBox 28"/>
          <p:cNvSpPr txBox="1"/>
          <p:nvPr/>
        </p:nvSpPr>
        <p:spPr>
          <a:xfrm>
            <a:off x="2350008" y="3145536"/>
            <a:ext cx="3566160" cy="365760"/>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TF-IDF, unigrams and bigrams, 4,000 features, min_df = 3</a:t>
            </a:r>
          </a:p>
        </p:txBody>
      </p:sp>
      <p:sp>
        <p:nvSpPr>
          <p:cNvPr id="30" name="TextBox 29"/>
          <p:cNvSpPr txBox="1"/>
          <p:nvPr/>
        </p:nvSpPr>
        <p:spPr>
          <a:xfrm>
            <a:off x="658368" y="3547872"/>
            <a:ext cx="1645920" cy="237744"/>
          </a:xfrm>
          <a:prstGeom prst="rect">
            <a:avLst/>
          </a:prstGeom>
          <a:noFill/>
        </p:spPr>
        <p:txBody>
          <a:bodyPr wrap="square" anchor="t" lIns="0" rIns="0" tIns="0" bIns="0">
            <a:spAutoFit/>
          </a:bodyPr>
          <a:lstStyle/>
          <a:p>
            <a:pPr algn="l">
              <a:lnSpc>
                <a:spcPct val="118000"/>
              </a:lnSpc>
              <a:spcAft>
                <a:spcPts val="300"/>
              </a:spcAft>
            </a:pPr>
            <a:r>
              <a:rPr sz="1100" b="1">
                <a:solidFill>
                  <a:srgbClr val="006B4A"/>
                </a:solidFill>
                <a:latin typeface="Segoe UI"/>
              </a:rPr>
              <a:t>Estimator</a:t>
            </a:r>
          </a:p>
        </p:txBody>
      </p:sp>
      <p:sp>
        <p:nvSpPr>
          <p:cNvPr id="31" name="TextBox 30"/>
          <p:cNvSpPr txBox="1"/>
          <p:nvPr/>
        </p:nvSpPr>
        <p:spPr>
          <a:xfrm>
            <a:off x="2350008" y="3547872"/>
            <a:ext cx="3566160" cy="365760"/>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Ridge regression (L2 regularised linear model), α = 1.0</a:t>
            </a:r>
          </a:p>
        </p:txBody>
      </p:sp>
      <p:sp>
        <p:nvSpPr>
          <p:cNvPr id="32" name="TextBox 31"/>
          <p:cNvSpPr txBox="1"/>
          <p:nvPr/>
        </p:nvSpPr>
        <p:spPr>
          <a:xfrm>
            <a:off x="658368" y="3950208"/>
            <a:ext cx="1645920" cy="237744"/>
          </a:xfrm>
          <a:prstGeom prst="rect">
            <a:avLst/>
          </a:prstGeom>
          <a:noFill/>
        </p:spPr>
        <p:txBody>
          <a:bodyPr wrap="square" anchor="t" lIns="0" rIns="0" tIns="0" bIns="0">
            <a:spAutoFit/>
          </a:bodyPr>
          <a:lstStyle/>
          <a:p>
            <a:pPr algn="l">
              <a:lnSpc>
                <a:spcPct val="118000"/>
              </a:lnSpc>
              <a:spcAft>
                <a:spcPts val="300"/>
              </a:spcAft>
            </a:pPr>
            <a:r>
              <a:rPr sz="1100" b="1">
                <a:solidFill>
                  <a:srgbClr val="006B4A"/>
                </a:solidFill>
                <a:latin typeface="Segoe UI"/>
              </a:rPr>
              <a:t>Target</a:t>
            </a:r>
          </a:p>
        </p:txBody>
      </p:sp>
      <p:sp>
        <p:nvSpPr>
          <p:cNvPr id="33" name="TextBox 32"/>
          <p:cNvSpPr txBox="1"/>
          <p:nvPr/>
        </p:nvSpPr>
        <p:spPr>
          <a:xfrm>
            <a:off x="2350008" y="3950208"/>
            <a:ext cx="3566160" cy="365760"/>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story points, clipped to the 1–21 range observed in training</a:t>
            </a:r>
          </a:p>
        </p:txBody>
      </p:sp>
      <p:sp>
        <p:nvSpPr>
          <p:cNvPr id="34" name="TextBox 33"/>
          <p:cNvSpPr txBox="1"/>
          <p:nvPr/>
        </p:nvSpPr>
        <p:spPr>
          <a:xfrm>
            <a:off x="658368" y="4352544"/>
            <a:ext cx="1645920" cy="237744"/>
          </a:xfrm>
          <a:prstGeom prst="rect">
            <a:avLst/>
          </a:prstGeom>
          <a:noFill/>
        </p:spPr>
        <p:txBody>
          <a:bodyPr wrap="square" anchor="t" lIns="0" rIns="0" tIns="0" bIns="0">
            <a:spAutoFit/>
          </a:bodyPr>
          <a:lstStyle/>
          <a:p>
            <a:pPr algn="l">
              <a:lnSpc>
                <a:spcPct val="118000"/>
              </a:lnSpc>
              <a:spcAft>
                <a:spcPts val="300"/>
              </a:spcAft>
            </a:pPr>
            <a:r>
              <a:rPr sz="1100" b="1">
                <a:solidFill>
                  <a:srgbClr val="006B4A"/>
                </a:solidFill>
                <a:latin typeface="Segoe UI"/>
              </a:rPr>
              <a:t>Validation</a:t>
            </a:r>
          </a:p>
        </p:txBody>
      </p:sp>
      <p:sp>
        <p:nvSpPr>
          <p:cNvPr id="35" name="TextBox 34"/>
          <p:cNvSpPr txBox="1"/>
          <p:nvPr/>
        </p:nvSpPr>
        <p:spPr>
          <a:xfrm>
            <a:off x="2350008" y="4352544"/>
            <a:ext cx="3566160" cy="365760"/>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80/20 hold-out split plus 5-fold cross-validation</a:t>
            </a:r>
          </a:p>
        </p:txBody>
      </p:sp>
      <p:sp>
        <p:nvSpPr>
          <p:cNvPr id="36" name="TextBox 35"/>
          <p:cNvSpPr txBox="1"/>
          <p:nvPr/>
        </p:nvSpPr>
        <p:spPr>
          <a:xfrm>
            <a:off x="6199632" y="2395728"/>
            <a:ext cx="5330952" cy="256032"/>
          </a:xfrm>
          <a:prstGeom prst="rect">
            <a:avLst/>
          </a:prstGeom>
          <a:noFill/>
        </p:spPr>
        <p:txBody>
          <a:bodyPr wrap="square" anchor="t" lIns="0" rIns="0" tIns="0" bIns="0">
            <a:spAutoFit/>
          </a:bodyPr>
          <a:lstStyle/>
          <a:p>
            <a:pPr algn="l">
              <a:lnSpc>
                <a:spcPct val="118000"/>
              </a:lnSpc>
              <a:spcAft>
                <a:spcPts val="300"/>
              </a:spcAft>
            </a:pPr>
            <a:r>
              <a:rPr sz="1350" b="1">
                <a:solidFill>
                  <a:srgbClr val="0B1224"/>
                </a:solidFill>
                <a:latin typeface="Segoe UI"/>
              </a:rPr>
              <a:t>Why a linear model, not a deep network</a:t>
            </a:r>
          </a:p>
        </p:txBody>
      </p:sp>
      <p:sp>
        <p:nvSpPr>
          <p:cNvPr id="37" name="TextBox 36"/>
          <p:cNvSpPr txBox="1"/>
          <p:nvPr/>
        </p:nvSpPr>
        <p:spPr>
          <a:xfrm>
            <a:off x="6199632" y="2743200"/>
            <a:ext cx="1371600" cy="237744"/>
          </a:xfrm>
          <a:prstGeom prst="rect">
            <a:avLst/>
          </a:prstGeom>
          <a:noFill/>
        </p:spPr>
        <p:txBody>
          <a:bodyPr wrap="square" anchor="t" lIns="0" rIns="0" tIns="0" bIns="0">
            <a:spAutoFit/>
          </a:bodyPr>
          <a:lstStyle/>
          <a:p>
            <a:pPr algn="l">
              <a:lnSpc>
                <a:spcPct val="118000"/>
              </a:lnSpc>
              <a:spcAft>
                <a:spcPts val="300"/>
              </a:spcAft>
            </a:pPr>
            <a:r>
              <a:rPr sz="1100" b="1">
                <a:solidFill>
                  <a:srgbClr val="006B4A"/>
                </a:solidFill>
                <a:latin typeface="Segoe UI"/>
              </a:rPr>
              <a:t>Evidence</a:t>
            </a:r>
          </a:p>
        </p:txBody>
      </p:sp>
      <p:sp>
        <p:nvSpPr>
          <p:cNvPr id="38" name="TextBox 37"/>
          <p:cNvSpPr txBox="1"/>
          <p:nvPr/>
        </p:nvSpPr>
        <p:spPr>
          <a:xfrm>
            <a:off x="7607808" y="2743200"/>
            <a:ext cx="3931920" cy="548640"/>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a published replication found deep learning gave no consistent gain on this dataset [2]</a:t>
            </a:r>
          </a:p>
        </p:txBody>
      </p:sp>
      <p:sp>
        <p:nvSpPr>
          <p:cNvPr id="39" name="TextBox 38"/>
          <p:cNvSpPr txBox="1"/>
          <p:nvPr/>
        </p:nvSpPr>
        <p:spPr>
          <a:xfrm>
            <a:off x="6199632" y="3310128"/>
            <a:ext cx="1371600" cy="237744"/>
          </a:xfrm>
          <a:prstGeom prst="rect">
            <a:avLst/>
          </a:prstGeom>
          <a:noFill/>
        </p:spPr>
        <p:txBody>
          <a:bodyPr wrap="square" anchor="t" lIns="0" rIns="0" tIns="0" bIns="0">
            <a:spAutoFit/>
          </a:bodyPr>
          <a:lstStyle/>
          <a:p>
            <a:pPr algn="l">
              <a:lnSpc>
                <a:spcPct val="118000"/>
              </a:lnSpc>
              <a:spcAft>
                <a:spcPts val="300"/>
              </a:spcAft>
            </a:pPr>
            <a:r>
              <a:rPr sz="1100" b="1">
                <a:solidFill>
                  <a:srgbClr val="006B4A"/>
                </a:solidFill>
                <a:latin typeface="Segoe UI"/>
              </a:rPr>
              <a:t>Interpretability</a:t>
            </a:r>
          </a:p>
        </p:txBody>
      </p:sp>
      <p:sp>
        <p:nvSpPr>
          <p:cNvPr id="40" name="TextBox 39"/>
          <p:cNvSpPr txBox="1"/>
          <p:nvPr/>
        </p:nvSpPr>
        <p:spPr>
          <a:xfrm>
            <a:off x="7607808" y="3310128"/>
            <a:ext cx="3931920" cy="548640"/>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coefficients show which words drive an estimate, which a reviewer can inspect</a:t>
            </a:r>
          </a:p>
        </p:txBody>
      </p:sp>
      <p:sp>
        <p:nvSpPr>
          <p:cNvPr id="41" name="TextBox 40"/>
          <p:cNvSpPr txBox="1"/>
          <p:nvPr/>
        </p:nvSpPr>
        <p:spPr>
          <a:xfrm>
            <a:off x="6199632" y="3877056"/>
            <a:ext cx="1371600" cy="237744"/>
          </a:xfrm>
          <a:prstGeom prst="rect">
            <a:avLst/>
          </a:prstGeom>
          <a:noFill/>
        </p:spPr>
        <p:txBody>
          <a:bodyPr wrap="square" anchor="t" lIns="0" rIns="0" tIns="0" bIns="0">
            <a:spAutoFit/>
          </a:bodyPr>
          <a:lstStyle/>
          <a:p>
            <a:pPr algn="l">
              <a:lnSpc>
                <a:spcPct val="118000"/>
              </a:lnSpc>
              <a:spcAft>
                <a:spcPts val="300"/>
              </a:spcAft>
            </a:pPr>
            <a:r>
              <a:rPr sz="1100" b="1">
                <a:solidFill>
                  <a:srgbClr val="006B4A"/>
                </a:solidFill>
                <a:latin typeface="Segoe UI"/>
              </a:rPr>
              <a:t>Deployability</a:t>
            </a:r>
          </a:p>
        </p:txBody>
      </p:sp>
      <p:sp>
        <p:nvSpPr>
          <p:cNvPr id="42" name="TextBox 41"/>
          <p:cNvSpPr txBox="1"/>
          <p:nvPr/>
        </p:nvSpPr>
        <p:spPr>
          <a:xfrm>
            <a:off x="7607808" y="3877056"/>
            <a:ext cx="3931920" cy="548640"/>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a Ridge prediction is a dot product, so inference was ported to JavaScript and runs inside the existing API</a:t>
            </a:r>
          </a:p>
        </p:txBody>
      </p:sp>
      <p:sp>
        <p:nvSpPr>
          <p:cNvPr id="43" name="TextBox 42"/>
          <p:cNvSpPr txBox="1"/>
          <p:nvPr/>
        </p:nvSpPr>
        <p:spPr>
          <a:xfrm>
            <a:off x="6199632" y="4443984"/>
            <a:ext cx="1371600" cy="237744"/>
          </a:xfrm>
          <a:prstGeom prst="rect">
            <a:avLst/>
          </a:prstGeom>
          <a:noFill/>
        </p:spPr>
        <p:txBody>
          <a:bodyPr wrap="square" anchor="t" lIns="0" rIns="0" tIns="0" bIns="0">
            <a:spAutoFit/>
          </a:bodyPr>
          <a:lstStyle/>
          <a:p>
            <a:pPr algn="l">
              <a:lnSpc>
                <a:spcPct val="118000"/>
              </a:lnSpc>
              <a:spcAft>
                <a:spcPts val="300"/>
              </a:spcAft>
            </a:pPr>
            <a:r>
              <a:rPr sz="1100" b="1">
                <a:solidFill>
                  <a:srgbClr val="006B4A"/>
                </a:solidFill>
                <a:latin typeface="Segoe UI"/>
              </a:rPr>
              <a:t>Cost</a:t>
            </a:r>
          </a:p>
        </p:txBody>
      </p:sp>
      <p:sp>
        <p:nvSpPr>
          <p:cNvPr id="44" name="TextBox 43"/>
          <p:cNvSpPr txBox="1"/>
          <p:nvPr/>
        </p:nvSpPr>
        <p:spPr>
          <a:xfrm>
            <a:off x="7607808" y="4443984"/>
            <a:ext cx="3931920" cy="548640"/>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no model server, no GPU, no per-request charge, and no network call at prediction time</a:t>
            </a:r>
          </a:p>
        </p:txBody>
      </p:sp>
      <p:sp>
        <p:nvSpPr>
          <p:cNvPr id="45" name="Rounded Rectangle 44"/>
          <p:cNvSpPr/>
          <p:nvPr/>
        </p:nvSpPr>
        <p:spPr>
          <a:xfrm>
            <a:off x="658368" y="5175504"/>
            <a:ext cx="10874959" cy="969264"/>
          </a:xfrm>
          <a:prstGeom prst="roundRect">
            <a:avLst>
              <a:gd name="adj" fmla="val 5500"/>
            </a:avLst>
          </a:prstGeom>
          <a:solidFill>
            <a:srgbClr val="0B1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932688" y="5321808"/>
            <a:ext cx="9144000" cy="219456"/>
          </a:xfrm>
          <a:prstGeom prst="rect">
            <a:avLst/>
          </a:prstGeom>
          <a:noFill/>
        </p:spPr>
        <p:txBody>
          <a:bodyPr wrap="square" anchor="t" lIns="0" rIns="0" tIns="0" bIns="0">
            <a:spAutoFit/>
          </a:bodyPr>
          <a:lstStyle/>
          <a:p>
            <a:pPr algn="l">
              <a:lnSpc>
                <a:spcPct val="118000"/>
              </a:lnSpc>
              <a:spcAft>
                <a:spcPts val="300"/>
              </a:spcAft>
            </a:pPr>
            <a:r>
              <a:rPr sz="950" b="1">
                <a:solidFill>
                  <a:srgbClr val="009E6D"/>
                </a:solidFill>
                <a:latin typeface="Segoe UI"/>
              </a:rPr>
              <a:t>INTEGRATION</a:t>
            </a:r>
          </a:p>
        </p:txBody>
      </p:sp>
      <p:sp>
        <p:nvSpPr>
          <p:cNvPr id="47" name="TextBox 46"/>
          <p:cNvSpPr txBox="1"/>
          <p:nvPr/>
        </p:nvSpPr>
        <p:spPr>
          <a:xfrm>
            <a:off x="932688" y="5577840"/>
            <a:ext cx="10326319" cy="457200"/>
          </a:xfrm>
          <a:prstGeom prst="rect">
            <a:avLst/>
          </a:prstGeom>
          <a:noFill/>
        </p:spPr>
        <p:txBody>
          <a:bodyPr wrap="square" anchor="t" lIns="0" rIns="0" tIns="0" bIns="0">
            <a:spAutoFit/>
          </a:bodyPr>
          <a:lstStyle/>
          <a:p>
            <a:pPr algn="l">
              <a:lnSpc>
                <a:spcPct val="118000"/>
              </a:lnSpc>
              <a:spcAft>
                <a:spcPts val="300"/>
              </a:spcAft>
            </a:pPr>
            <a:r>
              <a:rPr sz="1150" b="0">
                <a:solidFill>
                  <a:srgbClr val="FFFFFF"/>
                </a:solidFill>
                <a:latin typeface="Segoe UI"/>
              </a:rPr>
              <a:t>Predicted efforts are normalised into project weights summing to 100. Completing a task advances project progress in proportion to its predicted effort, so the model's output drives a metric users act on.</a:t>
            </a:r>
          </a:p>
        </p:txBody>
      </p:sp>
      <p:sp>
        <p:nvSpPr>
          <p:cNvPr id="48" name="Rectangle 47"/>
          <p:cNvSpPr/>
          <p:nvPr/>
        </p:nvSpPr>
        <p:spPr>
          <a:xfrm>
            <a:off x="658368" y="6419088"/>
            <a:ext cx="10874959" cy="9525"/>
          </a:xfrm>
          <a:prstGeom prst="rect">
            <a:avLst/>
          </a:prstGeom>
          <a:solidFill>
            <a:srgbClr val="DD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658368" y="6510528"/>
            <a:ext cx="6400800" cy="219456"/>
          </a:xfrm>
          <a:prstGeom prst="rect">
            <a:avLst/>
          </a:prstGeom>
          <a:noFill/>
        </p:spPr>
        <p:txBody>
          <a:bodyPr wrap="square" anchor="t" lIns="0" rIns="0" tIns="0" bIns="0">
            <a:spAutoFit/>
          </a:bodyPr>
          <a:lstStyle/>
          <a:p>
            <a:pPr algn="l">
              <a:lnSpc>
                <a:spcPct val="118000"/>
              </a:lnSpc>
              <a:spcAft>
                <a:spcPts val="300"/>
              </a:spcAft>
            </a:pPr>
            <a:r>
              <a:rPr sz="900" b="0">
                <a:solidFill>
                  <a:srgbClr val="9AA8BC"/>
                </a:solidFill>
                <a:latin typeface="Segoe UI"/>
              </a:rPr>
              <a:t>DayMark  ·  Final Year Project</a:t>
            </a:r>
          </a:p>
        </p:txBody>
      </p:sp>
      <p:sp>
        <p:nvSpPr>
          <p:cNvPr id="50" name="TextBox 49"/>
          <p:cNvSpPr txBox="1"/>
          <p:nvPr/>
        </p:nvSpPr>
        <p:spPr>
          <a:xfrm>
            <a:off x="11076127" y="6510528"/>
            <a:ext cx="457200" cy="219456"/>
          </a:xfrm>
          <a:prstGeom prst="rect">
            <a:avLst/>
          </a:prstGeom>
          <a:noFill/>
        </p:spPr>
        <p:txBody>
          <a:bodyPr wrap="square" anchor="t" lIns="0" rIns="0" tIns="0" bIns="0">
            <a:spAutoFit/>
          </a:bodyPr>
          <a:lstStyle/>
          <a:p>
            <a:pPr algn="r">
              <a:lnSpc>
                <a:spcPct val="118000"/>
              </a:lnSpc>
              <a:spcAft>
                <a:spcPts val="300"/>
              </a:spcAft>
            </a:pPr>
            <a:r>
              <a:rPr sz="900" b="1">
                <a:solidFill>
                  <a:srgbClr val="6B7A90"/>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58368" y="365760"/>
            <a:ext cx="10874959" cy="237744"/>
          </a:xfrm>
          <a:prstGeom prst="rect">
            <a:avLst/>
          </a:prstGeom>
          <a:noFill/>
        </p:spPr>
        <p:txBody>
          <a:bodyPr wrap="square" anchor="t" lIns="0" rIns="0" tIns="0" bIns="0">
            <a:spAutoFit/>
          </a:bodyPr>
          <a:lstStyle/>
          <a:p>
            <a:pPr algn="l">
              <a:lnSpc>
                <a:spcPct val="118000"/>
              </a:lnSpc>
              <a:spcAft>
                <a:spcPts val="300"/>
              </a:spcAft>
            </a:pPr>
            <a:r>
              <a:rPr sz="1100" b="1">
                <a:solidFill>
                  <a:srgbClr val="009E6D"/>
                </a:solidFill>
                <a:latin typeface="Segoe UI"/>
              </a:rPr>
              <a:t>1.6  RESULTS</a:t>
            </a:r>
          </a:p>
        </p:txBody>
      </p:sp>
      <p:sp>
        <p:nvSpPr>
          <p:cNvPr id="5" name="TextBox 4"/>
          <p:cNvSpPr txBox="1"/>
          <p:nvPr/>
        </p:nvSpPr>
        <p:spPr>
          <a:xfrm>
            <a:off x="658368" y="603504"/>
            <a:ext cx="10874959" cy="457200"/>
          </a:xfrm>
          <a:prstGeom prst="rect">
            <a:avLst/>
          </a:prstGeom>
          <a:noFill/>
        </p:spPr>
        <p:txBody>
          <a:bodyPr wrap="square" anchor="t" lIns="0" rIns="0" tIns="0" bIns="0">
            <a:spAutoFit/>
          </a:bodyPr>
          <a:lstStyle/>
          <a:p>
            <a:pPr algn="l">
              <a:lnSpc>
                <a:spcPct val="118000"/>
              </a:lnSpc>
              <a:spcAft>
                <a:spcPts val="300"/>
              </a:spcAft>
            </a:pPr>
            <a:r>
              <a:rPr sz="2600" b="1">
                <a:solidFill>
                  <a:srgbClr val="0B1224"/>
                </a:solidFill>
                <a:latin typeface="Segoe UI"/>
              </a:rPr>
              <a:t>Results — model evaluation</a:t>
            </a:r>
          </a:p>
        </p:txBody>
      </p:sp>
      <p:sp>
        <p:nvSpPr>
          <p:cNvPr id="6" name="TextBox 5"/>
          <p:cNvSpPr txBox="1"/>
          <p:nvPr/>
        </p:nvSpPr>
        <p:spPr>
          <a:xfrm>
            <a:off x="658368" y="1097280"/>
            <a:ext cx="10874959" cy="274320"/>
          </a:xfrm>
          <a:prstGeom prst="rect">
            <a:avLst/>
          </a:prstGeom>
          <a:noFill/>
        </p:spPr>
        <p:txBody>
          <a:bodyPr wrap="square" anchor="t" lIns="0" rIns="0" tIns="0" bIns="0">
            <a:spAutoFit/>
          </a:bodyPr>
          <a:lstStyle/>
          <a:p>
            <a:pPr algn="l">
              <a:lnSpc>
                <a:spcPct val="118000"/>
              </a:lnSpc>
              <a:spcAft>
                <a:spcPts val="300"/>
              </a:spcAft>
            </a:pPr>
            <a:r>
              <a:rPr sz="1200" b="0">
                <a:solidFill>
                  <a:srgbClr val="3A485C"/>
                </a:solidFill>
                <a:latin typeface="Segoe UI"/>
              </a:rPr>
              <a:t>Trained on 18,089 issues and evaluated on 4,523 held-out issues the model had never seen. Lower MAE and RMSE are better; higher R² is better.</a:t>
            </a:r>
          </a:p>
        </p:txBody>
      </p:sp>
      <p:sp>
        <p:nvSpPr>
          <p:cNvPr id="7" name="Rounded Rectangle 6"/>
          <p:cNvSpPr/>
          <p:nvPr/>
        </p:nvSpPr>
        <p:spPr>
          <a:xfrm>
            <a:off x="658368" y="1517904"/>
            <a:ext cx="10874959" cy="384048"/>
          </a:xfrm>
          <a:prstGeom prst="roundRect">
            <a:avLst>
              <a:gd name="adj" fmla="val 5500"/>
            </a:avLst>
          </a:prstGeom>
          <a:solidFill>
            <a:srgbClr val="0B1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41248" y="1627632"/>
            <a:ext cx="4206240" cy="219456"/>
          </a:xfrm>
          <a:prstGeom prst="rect">
            <a:avLst/>
          </a:prstGeom>
          <a:noFill/>
        </p:spPr>
        <p:txBody>
          <a:bodyPr wrap="square" anchor="t" lIns="0" rIns="0" tIns="0" bIns="0">
            <a:spAutoFit/>
          </a:bodyPr>
          <a:lstStyle/>
          <a:p>
            <a:pPr algn="l">
              <a:lnSpc>
                <a:spcPct val="118000"/>
              </a:lnSpc>
              <a:spcAft>
                <a:spcPts val="300"/>
              </a:spcAft>
            </a:pPr>
            <a:r>
              <a:rPr sz="1000" b="1">
                <a:solidFill>
                  <a:srgbClr val="FFFFFF"/>
                </a:solidFill>
                <a:latin typeface="Segoe UI"/>
              </a:rPr>
              <a:t>MODEL</a:t>
            </a:r>
          </a:p>
        </p:txBody>
      </p:sp>
      <p:sp>
        <p:nvSpPr>
          <p:cNvPr id="9" name="TextBox 8"/>
          <p:cNvSpPr txBox="1"/>
          <p:nvPr/>
        </p:nvSpPr>
        <p:spPr>
          <a:xfrm>
            <a:off x="5047488" y="1627632"/>
            <a:ext cx="1554480" cy="219456"/>
          </a:xfrm>
          <a:prstGeom prst="rect">
            <a:avLst/>
          </a:prstGeom>
          <a:noFill/>
        </p:spPr>
        <p:txBody>
          <a:bodyPr wrap="square" anchor="t" lIns="0" rIns="0" tIns="0" bIns="0">
            <a:spAutoFit/>
          </a:bodyPr>
          <a:lstStyle/>
          <a:p>
            <a:pPr algn="l">
              <a:lnSpc>
                <a:spcPct val="118000"/>
              </a:lnSpc>
              <a:spcAft>
                <a:spcPts val="300"/>
              </a:spcAft>
            </a:pPr>
            <a:r>
              <a:rPr sz="1000" b="1">
                <a:solidFill>
                  <a:srgbClr val="FFFFFF"/>
                </a:solidFill>
                <a:latin typeface="Segoe UI"/>
              </a:rPr>
              <a:t>MAE</a:t>
            </a:r>
          </a:p>
        </p:txBody>
      </p:sp>
      <p:sp>
        <p:nvSpPr>
          <p:cNvPr id="10" name="TextBox 9"/>
          <p:cNvSpPr txBox="1"/>
          <p:nvPr/>
        </p:nvSpPr>
        <p:spPr>
          <a:xfrm>
            <a:off x="6601968" y="1627632"/>
            <a:ext cx="1554480" cy="219456"/>
          </a:xfrm>
          <a:prstGeom prst="rect">
            <a:avLst/>
          </a:prstGeom>
          <a:noFill/>
        </p:spPr>
        <p:txBody>
          <a:bodyPr wrap="square" anchor="t" lIns="0" rIns="0" tIns="0" bIns="0">
            <a:spAutoFit/>
          </a:bodyPr>
          <a:lstStyle/>
          <a:p>
            <a:pPr algn="l">
              <a:lnSpc>
                <a:spcPct val="118000"/>
              </a:lnSpc>
              <a:spcAft>
                <a:spcPts val="300"/>
              </a:spcAft>
            </a:pPr>
            <a:r>
              <a:rPr sz="1000" b="1">
                <a:solidFill>
                  <a:srgbClr val="FFFFFF"/>
                </a:solidFill>
                <a:latin typeface="Segoe UI"/>
              </a:rPr>
              <a:t>RMSE</a:t>
            </a:r>
          </a:p>
        </p:txBody>
      </p:sp>
      <p:sp>
        <p:nvSpPr>
          <p:cNvPr id="11" name="TextBox 10"/>
          <p:cNvSpPr txBox="1"/>
          <p:nvPr/>
        </p:nvSpPr>
        <p:spPr>
          <a:xfrm>
            <a:off x="8156448" y="1627632"/>
            <a:ext cx="1554480" cy="219456"/>
          </a:xfrm>
          <a:prstGeom prst="rect">
            <a:avLst/>
          </a:prstGeom>
          <a:noFill/>
        </p:spPr>
        <p:txBody>
          <a:bodyPr wrap="square" anchor="t" lIns="0" rIns="0" tIns="0" bIns="0">
            <a:spAutoFit/>
          </a:bodyPr>
          <a:lstStyle/>
          <a:p>
            <a:pPr algn="l">
              <a:lnSpc>
                <a:spcPct val="118000"/>
              </a:lnSpc>
              <a:spcAft>
                <a:spcPts val="300"/>
              </a:spcAft>
            </a:pPr>
            <a:r>
              <a:rPr sz="1000" b="1">
                <a:solidFill>
                  <a:srgbClr val="FFFFFF"/>
                </a:solidFill>
                <a:latin typeface="Segoe UI"/>
              </a:rPr>
              <a:t>R²</a:t>
            </a:r>
          </a:p>
        </p:txBody>
      </p:sp>
      <p:sp>
        <p:nvSpPr>
          <p:cNvPr id="12" name="TextBox 11"/>
          <p:cNvSpPr txBox="1"/>
          <p:nvPr/>
        </p:nvSpPr>
        <p:spPr>
          <a:xfrm>
            <a:off x="9710928" y="1627632"/>
            <a:ext cx="1828800" cy="219456"/>
          </a:xfrm>
          <a:prstGeom prst="rect">
            <a:avLst/>
          </a:prstGeom>
          <a:noFill/>
        </p:spPr>
        <p:txBody>
          <a:bodyPr wrap="square" anchor="t" lIns="0" rIns="0" tIns="0" bIns="0">
            <a:spAutoFit/>
          </a:bodyPr>
          <a:lstStyle/>
          <a:p>
            <a:pPr algn="l">
              <a:lnSpc>
                <a:spcPct val="118000"/>
              </a:lnSpc>
              <a:spcAft>
                <a:spcPts val="300"/>
              </a:spcAft>
            </a:pPr>
            <a:r>
              <a:rPr sz="1000" b="1">
                <a:solidFill>
                  <a:srgbClr val="FFFFFF"/>
                </a:solidFill>
                <a:latin typeface="Segoe UI"/>
              </a:rPr>
              <a:t>WITHIN ±1</a:t>
            </a:r>
          </a:p>
        </p:txBody>
      </p:sp>
      <p:sp>
        <p:nvSpPr>
          <p:cNvPr id="13" name="Rounded Rectangle 12"/>
          <p:cNvSpPr/>
          <p:nvPr/>
        </p:nvSpPr>
        <p:spPr>
          <a:xfrm>
            <a:off x="658368" y="1901952"/>
            <a:ext cx="10874959" cy="384048"/>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8" y="2020824"/>
            <a:ext cx="420624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Baseline (mean predictor)</a:t>
            </a:r>
          </a:p>
        </p:txBody>
      </p:sp>
      <p:sp>
        <p:nvSpPr>
          <p:cNvPr id="15" name="TextBox 14"/>
          <p:cNvSpPr txBox="1"/>
          <p:nvPr/>
        </p:nvSpPr>
        <p:spPr>
          <a:xfrm>
            <a:off x="5047488" y="2020824"/>
            <a:ext cx="155448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2.880</a:t>
            </a:r>
          </a:p>
        </p:txBody>
      </p:sp>
      <p:sp>
        <p:nvSpPr>
          <p:cNvPr id="16" name="TextBox 15"/>
          <p:cNvSpPr txBox="1"/>
          <p:nvPr/>
        </p:nvSpPr>
        <p:spPr>
          <a:xfrm>
            <a:off x="6601968" y="2020824"/>
            <a:ext cx="155448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3.955</a:t>
            </a:r>
          </a:p>
        </p:txBody>
      </p:sp>
      <p:sp>
        <p:nvSpPr>
          <p:cNvPr id="17" name="TextBox 16"/>
          <p:cNvSpPr txBox="1"/>
          <p:nvPr/>
        </p:nvSpPr>
        <p:spPr>
          <a:xfrm>
            <a:off x="8156448" y="2020824"/>
            <a:ext cx="155448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0.000</a:t>
            </a:r>
          </a:p>
        </p:txBody>
      </p:sp>
      <p:sp>
        <p:nvSpPr>
          <p:cNvPr id="18" name="TextBox 17"/>
          <p:cNvSpPr txBox="1"/>
          <p:nvPr/>
        </p:nvSpPr>
        <p:spPr>
          <a:xfrm>
            <a:off x="9710928" y="2020824"/>
            <a:ext cx="182880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23.3%</a:t>
            </a:r>
          </a:p>
        </p:txBody>
      </p:sp>
      <p:sp>
        <p:nvSpPr>
          <p:cNvPr id="19" name="Rounded Rectangle 18"/>
          <p:cNvSpPr/>
          <p:nvPr/>
        </p:nvSpPr>
        <p:spPr>
          <a:xfrm>
            <a:off x="658368" y="2286000"/>
            <a:ext cx="10874959" cy="384048"/>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41248" y="2404872"/>
            <a:ext cx="420624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Random Forest + SVD</a:t>
            </a:r>
          </a:p>
        </p:txBody>
      </p:sp>
      <p:sp>
        <p:nvSpPr>
          <p:cNvPr id="21" name="TextBox 20"/>
          <p:cNvSpPr txBox="1"/>
          <p:nvPr/>
        </p:nvSpPr>
        <p:spPr>
          <a:xfrm>
            <a:off x="5047488" y="2404872"/>
            <a:ext cx="155448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2.665</a:t>
            </a:r>
          </a:p>
        </p:txBody>
      </p:sp>
      <p:sp>
        <p:nvSpPr>
          <p:cNvPr id="22" name="TextBox 21"/>
          <p:cNvSpPr txBox="1"/>
          <p:nvPr/>
        </p:nvSpPr>
        <p:spPr>
          <a:xfrm>
            <a:off x="6601968" y="2404872"/>
            <a:ext cx="155448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3.657</a:t>
            </a:r>
          </a:p>
        </p:txBody>
      </p:sp>
      <p:sp>
        <p:nvSpPr>
          <p:cNvPr id="23" name="TextBox 22"/>
          <p:cNvSpPr txBox="1"/>
          <p:nvPr/>
        </p:nvSpPr>
        <p:spPr>
          <a:xfrm>
            <a:off x="8156448" y="2404872"/>
            <a:ext cx="155448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+0.144</a:t>
            </a:r>
          </a:p>
        </p:txBody>
      </p:sp>
      <p:sp>
        <p:nvSpPr>
          <p:cNvPr id="24" name="TextBox 23"/>
          <p:cNvSpPr txBox="1"/>
          <p:nvPr/>
        </p:nvSpPr>
        <p:spPr>
          <a:xfrm>
            <a:off x="9710928" y="2404872"/>
            <a:ext cx="182880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24.2%</a:t>
            </a:r>
          </a:p>
        </p:txBody>
      </p:sp>
      <p:sp>
        <p:nvSpPr>
          <p:cNvPr id="25" name="Rounded Rectangle 24"/>
          <p:cNvSpPr/>
          <p:nvPr/>
        </p:nvSpPr>
        <p:spPr>
          <a:xfrm>
            <a:off x="658368" y="2670048"/>
            <a:ext cx="10874959" cy="384048"/>
          </a:xfrm>
          <a:prstGeom prst="roundRect">
            <a:avLst>
              <a:gd name="adj" fmla="val 5500"/>
            </a:avLst>
          </a:prstGeom>
          <a:solidFill>
            <a:srgbClr val="E6F7F0"/>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8" y="2788920"/>
            <a:ext cx="4206240" cy="219456"/>
          </a:xfrm>
          <a:prstGeom prst="rect">
            <a:avLst/>
          </a:prstGeom>
          <a:noFill/>
        </p:spPr>
        <p:txBody>
          <a:bodyPr wrap="square" anchor="t" lIns="0" rIns="0" tIns="0" bIns="0">
            <a:spAutoFit/>
          </a:bodyPr>
          <a:lstStyle/>
          <a:p>
            <a:pPr algn="l">
              <a:lnSpc>
                <a:spcPct val="118000"/>
              </a:lnSpc>
              <a:spcAft>
                <a:spcPts val="300"/>
              </a:spcAft>
            </a:pPr>
            <a:r>
              <a:rPr sz="1050" b="1">
                <a:solidFill>
                  <a:srgbClr val="006B4A"/>
                </a:solidFill>
                <a:latin typeface="Segoe UI"/>
              </a:rPr>
              <a:t>Ridge + TF-IDF  (deployed)</a:t>
            </a:r>
          </a:p>
        </p:txBody>
      </p:sp>
      <p:sp>
        <p:nvSpPr>
          <p:cNvPr id="27" name="TextBox 26"/>
          <p:cNvSpPr txBox="1"/>
          <p:nvPr/>
        </p:nvSpPr>
        <p:spPr>
          <a:xfrm>
            <a:off x="5047488" y="2788920"/>
            <a:ext cx="1554480" cy="219456"/>
          </a:xfrm>
          <a:prstGeom prst="rect">
            <a:avLst/>
          </a:prstGeom>
          <a:noFill/>
        </p:spPr>
        <p:txBody>
          <a:bodyPr wrap="square" anchor="t" lIns="0" rIns="0" tIns="0" bIns="0">
            <a:spAutoFit/>
          </a:bodyPr>
          <a:lstStyle/>
          <a:p>
            <a:pPr algn="l">
              <a:lnSpc>
                <a:spcPct val="118000"/>
              </a:lnSpc>
              <a:spcAft>
                <a:spcPts val="300"/>
              </a:spcAft>
            </a:pPr>
            <a:r>
              <a:rPr sz="1050" b="1">
                <a:solidFill>
                  <a:srgbClr val="006B4A"/>
                </a:solidFill>
                <a:latin typeface="Segoe UI"/>
              </a:rPr>
              <a:t>2.587</a:t>
            </a:r>
          </a:p>
        </p:txBody>
      </p:sp>
      <p:sp>
        <p:nvSpPr>
          <p:cNvPr id="28" name="TextBox 27"/>
          <p:cNvSpPr txBox="1"/>
          <p:nvPr/>
        </p:nvSpPr>
        <p:spPr>
          <a:xfrm>
            <a:off x="6601968" y="2788920"/>
            <a:ext cx="1554480" cy="219456"/>
          </a:xfrm>
          <a:prstGeom prst="rect">
            <a:avLst/>
          </a:prstGeom>
          <a:noFill/>
        </p:spPr>
        <p:txBody>
          <a:bodyPr wrap="square" anchor="t" lIns="0" rIns="0" tIns="0" bIns="0">
            <a:spAutoFit/>
          </a:bodyPr>
          <a:lstStyle/>
          <a:p>
            <a:pPr algn="l">
              <a:lnSpc>
                <a:spcPct val="118000"/>
              </a:lnSpc>
              <a:spcAft>
                <a:spcPts val="300"/>
              </a:spcAft>
            </a:pPr>
            <a:r>
              <a:rPr sz="1050" b="1">
                <a:solidFill>
                  <a:srgbClr val="006B4A"/>
                </a:solidFill>
                <a:latin typeface="Segoe UI"/>
              </a:rPr>
              <a:t>3.575</a:t>
            </a:r>
          </a:p>
        </p:txBody>
      </p:sp>
      <p:sp>
        <p:nvSpPr>
          <p:cNvPr id="29" name="TextBox 28"/>
          <p:cNvSpPr txBox="1"/>
          <p:nvPr/>
        </p:nvSpPr>
        <p:spPr>
          <a:xfrm>
            <a:off x="8156448" y="2788920"/>
            <a:ext cx="1554480" cy="219456"/>
          </a:xfrm>
          <a:prstGeom prst="rect">
            <a:avLst/>
          </a:prstGeom>
          <a:noFill/>
        </p:spPr>
        <p:txBody>
          <a:bodyPr wrap="square" anchor="t" lIns="0" rIns="0" tIns="0" bIns="0">
            <a:spAutoFit/>
          </a:bodyPr>
          <a:lstStyle/>
          <a:p>
            <a:pPr algn="l">
              <a:lnSpc>
                <a:spcPct val="118000"/>
              </a:lnSpc>
              <a:spcAft>
                <a:spcPts val="300"/>
              </a:spcAft>
            </a:pPr>
            <a:r>
              <a:rPr sz="1050" b="1">
                <a:solidFill>
                  <a:srgbClr val="006B4A"/>
                </a:solidFill>
                <a:latin typeface="Segoe UI"/>
              </a:rPr>
              <a:t>+0.182</a:t>
            </a:r>
          </a:p>
        </p:txBody>
      </p:sp>
      <p:sp>
        <p:nvSpPr>
          <p:cNvPr id="30" name="TextBox 29"/>
          <p:cNvSpPr txBox="1"/>
          <p:nvPr/>
        </p:nvSpPr>
        <p:spPr>
          <a:xfrm>
            <a:off x="9710928" y="2788920"/>
            <a:ext cx="1828800" cy="219456"/>
          </a:xfrm>
          <a:prstGeom prst="rect">
            <a:avLst/>
          </a:prstGeom>
          <a:noFill/>
        </p:spPr>
        <p:txBody>
          <a:bodyPr wrap="square" anchor="t" lIns="0" rIns="0" tIns="0" bIns="0">
            <a:spAutoFit/>
          </a:bodyPr>
          <a:lstStyle/>
          <a:p>
            <a:pPr algn="l">
              <a:lnSpc>
                <a:spcPct val="118000"/>
              </a:lnSpc>
              <a:spcAft>
                <a:spcPts val="300"/>
              </a:spcAft>
            </a:pPr>
            <a:r>
              <a:rPr sz="1050" b="1">
                <a:solidFill>
                  <a:srgbClr val="006B4A"/>
                </a:solidFill>
                <a:latin typeface="Segoe UI"/>
              </a:rPr>
              <a:t>27.9%</a:t>
            </a:r>
          </a:p>
        </p:txBody>
      </p:sp>
      <p:sp>
        <p:nvSpPr>
          <p:cNvPr id="31" name="Rounded Rectangle 30"/>
          <p:cNvSpPr/>
          <p:nvPr/>
        </p:nvSpPr>
        <p:spPr>
          <a:xfrm>
            <a:off x="658368" y="3163824"/>
            <a:ext cx="2487168" cy="822960"/>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960" y="3273552"/>
            <a:ext cx="2212848" cy="329184"/>
          </a:xfrm>
          <a:prstGeom prst="rect">
            <a:avLst/>
          </a:prstGeom>
          <a:noFill/>
        </p:spPr>
        <p:txBody>
          <a:bodyPr wrap="square" anchor="t" lIns="0" rIns="0" tIns="0" bIns="0">
            <a:spAutoFit/>
          </a:bodyPr>
          <a:lstStyle/>
          <a:p>
            <a:pPr algn="l">
              <a:lnSpc>
                <a:spcPct val="118000"/>
              </a:lnSpc>
              <a:spcAft>
                <a:spcPts val="300"/>
              </a:spcAft>
            </a:pPr>
            <a:r>
              <a:rPr sz="2000" b="1">
                <a:solidFill>
                  <a:srgbClr val="009E6D"/>
                </a:solidFill>
                <a:latin typeface="Segoe UI"/>
              </a:rPr>
              <a:t>2.587</a:t>
            </a:r>
          </a:p>
        </p:txBody>
      </p:sp>
      <p:sp>
        <p:nvSpPr>
          <p:cNvPr id="33" name="TextBox 32"/>
          <p:cNvSpPr txBox="1"/>
          <p:nvPr/>
        </p:nvSpPr>
        <p:spPr>
          <a:xfrm>
            <a:off x="822960" y="3657600"/>
            <a:ext cx="2212848" cy="219456"/>
          </a:xfrm>
          <a:prstGeom prst="rect">
            <a:avLst/>
          </a:prstGeom>
          <a:noFill/>
        </p:spPr>
        <p:txBody>
          <a:bodyPr wrap="square" anchor="t" lIns="0" rIns="0" tIns="0" bIns="0">
            <a:spAutoFit/>
          </a:bodyPr>
          <a:lstStyle/>
          <a:p>
            <a:pPr algn="l">
              <a:lnSpc>
                <a:spcPct val="118000"/>
              </a:lnSpc>
              <a:spcAft>
                <a:spcPts val="300"/>
              </a:spcAft>
            </a:pPr>
            <a:r>
              <a:rPr sz="900" b="1">
                <a:solidFill>
                  <a:srgbClr val="6B7A90"/>
                </a:solidFill>
                <a:latin typeface="Segoe UI"/>
              </a:rPr>
              <a:t>MAE, DEPLOYED MODEL</a:t>
            </a:r>
          </a:p>
        </p:txBody>
      </p:sp>
      <p:sp>
        <p:nvSpPr>
          <p:cNvPr id="34" name="Rounded Rectangle 33"/>
          <p:cNvSpPr/>
          <p:nvPr/>
        </p:nvSpPr>
        <p:spPr>
          <a:xfrm>
            <a:off x="3392424" y="3163824"/>
            <a:ext cx="2487168" cy="822960"/>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57016" y="3273552"/>
            <a:ext cx="2212848" cy="329184"/>
          </a:xfrm>
          <a:prstGeom prst="rect">
            <a:avLst/>
          </a:prstGeom>
          <a:noFill/>
        </p:spPr>
        <p:txBody>
          <a:bodyPr wrap="square" anchor="t" lIns="0" rIns="0" tIns="0" bIns="0">
            <a:spAutoFit/>
          </a:bodyPr>
          <a:lstStyle/>
          <a:p>
            <a:pPr algn="l">
              <a:lnSpc>
                <a:spcPct val="118000"/>
              </a:lnSpc>
              <a:spcAft>
                <a:spcPts val="300"/>
              </a:spcAft>
            </a:pPr>
            <a:r>
              <a:rPr sz="2000" b="1">
                <a:solidFill>
                  <a:srgbClr val="009E6D"/>
                </a:solidFill>
                <a:latin typeface="Segoe UI"/>
              </a:rPr>
              <a:t>10.2%</a:t>
            </a:r>
          </a:p>
        </p:txBody>
      </p:sp>
      <p:sp>
        <p:nvSpPr>
          <p:cNvPr id="36" name="TextBox 35"/>
          <p:cNvSpPr txBox="1"/>
          <p:nvPr/>
        </p:nvSpPr>
        <p:spPr>
          <a:xfrm>
            <a:off x="3557016" y="3657600"/>
            <a:ext cx="2212848" cy="219456"/>
          </a:xfrm>
          <a:prstGeom prst="rect">
            <a:avLst/>
          </a:prstGeom>
          <a:noFill/>
        </p:spPr>
        <p:txBody>
          <a:bodyPr wrap="square" anchor="t" lIns="0" rIns="0" tIns="0" bIns="0">
            <a:spAutoFit/>
          </a:bodyPr>
          <a:lstStyle/>
          <a:p>
            <a:pPr algn="l">
              <a:lnSpc>
                <a:spcPct val="118000"/>
              </a:lnSpc>
              <a:spcAft>
                <a:spcPts val="300"/>
              </a:spcAft>
            </a:pPr>
            <a:r>
              <a:rPr sz="900" b="1">
                <a:solidFill>
                  <a:srgbClr val="6B7A90"/>
                </a:solidFill>
                <a:latin typeface="Segoe UI"/>
              </a:rPr>
              <a:t>ERROR REDUCTION VS BASELINE</a:t>
            </a:r>
          </a:p>
        </p:txBody>
      </p:sp>
      <p:sp>
        <p:nvSpPr>
          <p:cNvPr id="37" name="Rounded Rectangle 36"/>
          <p:cNvSpPr/>
          <p:nvPr/>
        </p:nvSpPr>
        <p:spPr>
          <a:xfrm>
            <a:off x="6126480" y="3163824"/>
            <a:ext cx="2487168" cy="822960"/>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291072" y="3273552"/>
            <a:ext cx="2212848" cy="329184"/>
          </a:xfrm>
          <a:prstGeom prst="rect">
            <a:avLst/>
          </a:prstGeom>
          <a:noFill/>
        </p:spPr>
        <p:txBody>
          <a:bodyPr wrap="square" anchor="t" lIns="0" rIns="0" tIns="0" bIns="0">
            <a:spAutoFit/>
          </a:bodyPr>
          <a:lstStyle/>
          <a:p>
            <a:pPr algn="l">
              <a:lnSpc>
                <a:spcPct val="118000"/>
              </a:lnSpc>
              <a:spcAft>
                <a:spcPts val="300"/>
              </a:spcAft>
            </a:pPr>
            <a:r>
              <a:rPr sz="2000" b="1">
                <a:solidFill>
                  <a:srgbClr val="009E6D"/>
                </a:solidFill>
                <a:latin typeface="Segoe UI"/>
              </a:rPr>
              <a:t>±0.038</a:t>
            </a:r>
          </a:p>
        </p:txBody>
      </p:sp>
      <p:sp>
        <p:nvSpPr>
          <p:cNvPr id="39" name="TextBox 38"/>
          <p:cNvSpPr txBox="1"/>
          <p:nvPr/>
        </p:nvSpPr>
        <p:spPr>
          <a:xfrm>
            <a:off x="6291072" y="3657600"/>
            <a:ext cx="2212848" cy="219456"/>
          </a:xfrm>
          <a:prstGeom prst="rect">
            <a:avLst/>
          </a:prstGeom>
          <a:noFill/>
        </p:spPr>
        <p:txBody>
          <a:bodyPr wrap="square" anchor="t" lIns="0" rIns="0" tIns="0" bIns="0">
            <a:spAutoFit/>
          </a:bodyPr>
          <a:lstStyle/>
          <a:p>
            <a:pPr algn="l">
              <a:lnSpc>
                <a:spcPct val="118000"/>
              </a:lnSpc>
              <a:spcAft>
                <a:spcPts val="300"/>
              </a:spcAft>
            </a:pPr>
            <a:r>
              <a:rPr sz="900" b="1">
                <a:solidFill>
                  <a:srgbClr val="6B7A90"/>
                </a:solidFill>
                <a:latin typeface="Segoe UI"/>
              </a:rPr>
              <a:t>5-FOLD CV DEVIATION</a:t>
            </a:r>
          </a:p>
        </p:txBody>
      </p:sp>
      <p:sp>
        <p:nvSpPr>
          <p:cNvPr id="40" name="Rounded Rectangle 39"/>
          <p:cNvSpPr/>
          <p:nvPr/>
        </p:nvSpPr>
        <p:spPr>
          <a:xfrm>
            <a:off x="8860536" y="3163824"/>
            <a:ext cx="2487168" cy="822960"/>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025128" y="3273552"/>
            <a:ext cx="2212848" cy="329184"/>
          </a:xfrm>
          <a:prstGeom prst="rect">
            <a:avLst/>
          </a:prstGeom>
          <a:noFill/>
        </p:spPr>
        <p:txBody>
          <a:bodyPr wrap="square" anchor="t" lIns="0" rIns="0" tIns="0" bIns="0">
            <a:spAutoFit/>
          </a:bodyPr>
          <a:lstStyle/>
          <a:p>
            <a:pPr algn="l">
              <a:lnSpc>
                <a:spcPct val="118000"/>
              </a:lnSpc>
              <a:spcAft>
                <a:spcPts val="300"/>
              </a:spcAft>
            </a:pPr>
            <a:r>
              <a:rPr sz="2000" b="1">
                <a:solidFill>
                  <a:srgbClr val="6B7A90"/>
                </a:solidFill>
                <a:latin typeface="Segoe UI"/>
              </a:rPr>
              <a:t>22,612</a:t>
            </a:r>
          </a:p>
        </p:txBody>
      </p:sp>
      <p:sp>
        <p:nvSpPr>
          <p:cNvPr id="42" name="TextBox 41"/>
          <p:cNvSpPr txBox="1"/>
          <p:nvPr/>
        </p:nvSpPr>
        <p:spPr>
          <a:xfrm>
            <a:off x="9025128" y="3657600"/>
            <a:ext cx="2212848" cy="219456"/>
          </a:xfrm>
          <a:prstGeom prst="rect">
            <a:avLst/>
          </a:prstGeom>
          <a:noFill/>
        </p:spPr>
        <p:txBody>
          <a:bodyPr wrap="square" anchor="t" lIns="0" rIns="0" tIns="0" bIns="0">
            <a:spAutoFit/>
          </a:bodyPr>
          <a:lstStyle/>
          <a:p>
            <a:pPr algn="l">
              <a:lnSpc>
                <a:spcPct val="118000"/>
              </a:lnSpc>
              <a:spcAft>
                <a:spcPts val="300"/>
              </a:spcAft>
            </a:pPr>
            <a:r>
              <a:rPr sz="900" b="1">
                <a:solidFill>
                  <a:srgbClr val="6B7A90"/>
                </a:solidFill>
                <a:latin typeface="Segoe UI"/>
              </a:rPr>
              <a:t>TRAINING EXAMPLES</a:t>
            </a:r>
          </a:p>
        </p:txBody>
      </p:sp>
      <p:sp>
        <p:nvSpPr>
          <p:cNvPr id="43" name="TextBox 42"/>
          <p:cNvSpPr txBox="1"/>
          <p:nvPr/>
        </p:nvSpPr>
        <p:spPr>
          <a:xfrm>
            <a:off x="658368" y="4187952"/>
            <a:ext cx="10874959" cy="256032"/>
          </a:xfrm>
          <a:prstGeom prst="rect">
            <a:avLst/>
          </a:prstGeom>
          <a:noFill/>
        </p:spPr>
        <p:txBody>
          <a:bodyPr wrap="square" anchor="t" lIns="0" rIns="0" tIns="0" bIns="0">
            <a:spAutoFit/>
          </a:bodyPr>
          <a:lstStyle/>
          <a:p>
            <a:pPr algn="l">
              <a:lnSpc>
                <a:spcPct val="118000"/>
              </a:lnSpc>
              <a:spcAft>
                <a:spcPts val="300"/>
              </a:spcAft>
            </a:pPr>
            <a:r>
              <a:rPr sz="1400" b="1">
                <a:solidFill>
                  <a:srgbClr val="0B1224"/>
                </a:solidFill>
                <a:latin typeface="Segoe UI"/>
              </a:rPr>
              <a:t>Interpretation</a:t>
            </a:r>
          </a:p>
        </p:txBody>
      </p:sp>
      <p:sp>
        <p:nvSpPr>
          <p:cNvPr id="44" name="Oval 43"/>
          <p:cNvSpPr/>
          <p:nvPr/>
        </p:nvSpPr>
        <p:spPr>
          <a:xfrm>
            <a:off x="704088" y="4617720"/>
            <a:ext cx="91440" cy="91440"/>
          </a:xfrm>
          <a:prstGeom prst="ellipse">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50976" y="4535424"/>
            <a:ext cx="2651760" cy="237744"/>
          </a:xfrm>
          <a:prstGeom prst="rect">
            <a:avLst/>
          </a:prstGeom>
          <a:noFill/>
        </p:spPr>
        <p:txBody>
          <a:bodyPr wrap="square" anchor="t" lIns="0" rIns="0" tIns="0" bIns="0">
            <a:spAutoFit/>
          </a:bodyPr>
          <a:lstStyle/>
          <a:p>
            <a:pPr algn="l">
              <a:lnSpc>
                <a:spcPct val="118000"/>
              </a:lnSpc>
              <a:spcAft>
                <a:spcPts val="300"/>
              </a:spcAft>
            </a:pPr>
            <a:r>
              <a:rPr sz="1150" b="1">
                <a:solidFill>
                  <a:srgbClr val="006B4A"/>
                </a:solidFill>
                <a:latin typeface="Segoe UI"/>
              </a:rPr>
              <a:t>The model learns from text</a:t>
            </a:r>
          </a:p>
        </p:txBody>
      </p:sp>
      <p:sp>
        <p:nvSpPr>
          <p:cNvPr id="46" name="TextBox 45"/>
          <p:cNvSpPr txBox="1"/>
          <p:nvPr/>
        </p:nvSpPr>
        <p:spPr>
          <a:xfrm>
            <a:off x="3675888" y="4535424"/>
            <a:ext cx="7680960" cy="457200"/>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it reduces mean absolute error by 10.2% against a baseline that always predicts the training mean, and the baseline's R² of 0.000 confirms that baseline explains none of the variance</a:t>
            </a:r>
          </a:p>
        </p:txBody>
      </p:sp>
      <p:sp>
        <p:nvSpPr>
          <p:cNvPr id="47" name="Oval 46"/>
          <p:cNvSpPr/>
          <p:nvPr/>
        </p:nvSpPr>
        <p:spPr>
          <a:xfrm>
            <a:off x="704088" y="5129784"/>
            <a:ext cx="91440" cy="91440"/>
          </a:xfrm>
          <a:prstGeom prst="ellipse">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50976" y="5047488"/>
            <a:ext cx="2651760" cy="237744"/>
          </a:xfrm>
          <a:prstGeom prst="rect">
            <a:avLst/>
          </a:prstGeom>
          <a:noFill/>
        </p:spPr>
        <p:txBody>
          <a:bodyPr wrap="square" anchor="t" lIns="0" rIns="0" tIns="0" bIns="0">
            <a:spAutoFit/>
          </a:bodyPr>
          <a:lstStyle/>
          <a:p>
            <a:pPr algn="l">
              <a:lnSpc>
                <a:spcPct val="118000"/>
              </a:lnSpc>
              <a:spcAft>
                <a:spcPts val="300"/>
              </a:spcAft>
            </a:pPr>
            <a:r>
              <a:rPr sz="1150" b="1">
                <a:solidFill>
                  <a:srgbClr val="006B4A"/>
                </a:solidFill>
                <a:latin typeface="Segoe UI"/>
              </a:rPr>
              <a:t>The result is stable</a:t>
            </a:r>
          </a:p>
        </p:txBody>
      </p:sp>
      <p:sp>
        <p:nvSpPr>
          <p:cNvPr id="49" name="TextBox 48"/>
          <p:cNvSpPr txBox="1"/>
          <p:nvPr/>
        </p:nvSpPr>
        <p:spPr>
          <a:xfrm>
            <a:off x="3675888" y="5047488"/>
            <a:ext cx="7680960" cy="457200"/>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5-fold cross-validation gives 2.713 ± 0.038, so performance does not depend on a favourable split</a:t>
            </a:r>
          </a:p>
        </p:txBody>
      </p:sp>
      <p:sp>
        <p:nvSpPr>
          <p:cNvPr id="50" name="Oval 49"/>
          <p:cNvSpPr/>
          <p:nvPr/>
        </p:nvSpPr>
        <p:spPr>
          <a:xfrm>
            <a:off x="704088" y="5641848"/>
            <a:ext cx="91440" cy="91440"/>
          </a:xfrm>
          <a:prstGeom prst="ellipse">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50976" y="5559552"/>
            <a:ext cx="2651760" cy="237744"/>
          </a:xfrm>
          <a:prstGeom prst="rect">
            <a:avLst/>
          </a:prstGeom>
          <a:noFill/>
        </p:spPr>
        <p:txBody>
          <a:bodyPr wrap="square" anchor="t" lIns="0" rIns="0" tIns="0" bIns="0">
            <a:spAutoFit/>
          </a:bodyPr>
          <a:lstStyle/>
          <a:p>
            <a:pPr algn="l">
              <a:lnSpc>
                <a:spcPct val="118000"/>
              </a:lnSpc>
              <a:spcAft>
                <a:spcPts val="300"/>
              </a:spcAft>
            </a:pPr>
            <a:r>
              <a:rPr sz="1150" b="1">
                <a:solidFill>
                  <a:srgbClr val="006B4A"/>
                </a:solidFill>
                <a:latin typeface="Segoe UI"/>
              </a:rPr>
              <a:t>Linear beats trees here</a:t>
            </a:r>
          </a:p>
        </p:txBody>
      </p:sp>
      <p:sp>
        <p:nvSpPr>
          <p:cNvPr id="52" name="TextBox 51"/>
          <p:cNvSpPr txBox="1"/>
          <p:nvPr/>
        </p:nvSpPr>
        <p:spPr>
          <a:xfrm>
            <a:off x="3675888" y="5559552"/>
            <a:ext cx="7680960" cy="457200"/>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Ridge outperformed Random Forest on every metric, consistent with sparse high-dimensional text features</a:t>
            </a:r>
          </a:p>
        </p:txBody>
      </p:sp>
      <p:sp>
        <p:nvSpPr>
          <p:cNvPr id="53" name="Rectangle 52"/>
          <p:cNvSpPr/>
          <p:nvPr/>
        </p:nvSpPr>
        <p:spPr>
          <a:xfrm>
            <a:off x="658368" y="6419088"/>
            <a:ext cx="10874959" cy="9525"/>
          </a:xfrm>
          <a:prstGeom prst="rect">
            <a:avLst/>
          </a:prstGeom>
          <a:solidFill>
            <a:srgbClr val="DD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658368" y="6510528"/>
            <a:ext cx="6400800" cy="219456"/>
          </a:xfrm>
          <a:prstGeom prst="rect">
            <a:avLst/>
          </a:prstGeom>
          <a:noFill/>
        </p:spPr>
        <p:txBody>
          <a:bodyPr wrap="square" anchor="t" lIns="0" rIns="0" tIns="0" bIns="0">
            <a:spAutoFit/>
          </a:bodyPr>
          <a:lstStyle/>
          <a:p>
            <a:pPr algn="l">
              <a:lnSpc>
                <a:spcPct val="118000"/>
              </a:lnSpc>
              <a:spcAft>
                <a:spcPts val="300"/>
              </a:spcAft>
            </a:pPr>
            <a:r>
              <a:rPr sz="900" b="0">
                <a:solidFill>
                  <a:srgbClr val="9AA8BC"/>
                </a:solidFill>
                <a:latin typeface="Segoe UI"/>
              </a:rPr>
              <a:t>DayMark  ·  Final Year Project</a:t>
            </a:r>
          </a:p>
        </p:txBody>
      </p:sp>
      <p:sp>
        <p:nvSpPr>
          <p:cNvPr id="55" name="TextBox 54"/>
          <p:cNvSpPr txBox="1"/>
          <p:nvPr/>
        </p:nvSpPr>
        <p:spPr>
          <a:xfrm>
            <a:off x="11076127" y="6510528"/>
            <a:ext cx="457200" cy="219456"/>
          </a:xfrm>
          <a:prstGeom prst="rect">
            <a:avLst/>
          </a:prstGeom>
          <a:noFill/>
        </p:spPr>
        <p:txBody>
          <a:bodyPr wrap="square" anchor="t" lIns="0" rIns="0" tIns="0" bIns="0">
            <a:spAutoFit/>
          </a:bodyPr>
          <a:lstStyle/>
          <a:p>
            <a:pPr algn="r">
              <a:lnSpc>
                <a:spcPct val="118000"/>
              </a:lnSpc>
              <a:spcAft>
                <a:spcPts val="300"/>
              </a:spcAft>
            </a:pPr>
            <a:r>
              <a:rPr sz="900" b="1">
                <a:solidFill>
                  <a:srgbClr val="6B7A90"/>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58368" y="365760"/>
            <a:ext cx="10874959" cy="237744"/>
          </a:xfrm>
          <a:prstGeom prst="rect">
            <a:avLst/>
          </a:prstGeom>
          <a:noFill/>
        </p:spPr>
        <p:txBody>
          <a:bodyPr wrap="square" anchor="t" lIns="0" rIns="0" tIns="0" bIns="0">
            <a:spAutoFit/>
          </a:bodyPr>
          <a:lstStyle/>
          <a:p>
            <a:pPr algn="l">
              <a:lnSpc>
                <a:spcPct val="118000"/>
              </a:lnSpc>
              <a:spcAft>
                <a:spcPts val="300"/>
              </a:spcAft>
            </a:pPr>
            <a:r>
              <a:rPr sz="1100" b="1">
                <a:solidFill>
                  <a:srgbClr val="009E6D"/>
                </a:solidFill>
                <a:latin typeface="Segoe UI"/>
              </a:rPr>
              <a:t>1.6  COMPARISON</a:t>
            </a:r>
          </a:p>
        </p:txBody>
      </p:sp>
      <p:sp>
        <p:nvSpPr>
          <p:cNvPr id="5" name="TextBox 4"/>
          <p:cNvSpPr txBox="1"/>
          <p:nvPr/>
        </p:nvSpPr>
        <p:spPr>
          <a:xfrm>
            <a:off x="658368" y="603504"/>
            <a:ext cx="10874959" cy="457200"/>
          </a:xfrm>
          <a:prstGeom prst="rect">
            <a:avLst/>
          </a:prstGeom>
          <a:noFill/>
        </p:spPr>
        <p:txBody>
          <a:bodyPr wrap="square" anchor="t" lIns="0" rIns="0" tIns="0" bIns="0">
            <a:spAutoFit/>
          </a:bodyPr>
          <a:lstStyle/>
          <a:p>
            <a:pPr algn="l">
              <a:lnSpc>
                <a:spcPct val="118000"/>
              </a:lnSpc>
              <a:spcAft>
                <a:spcPts val="300"/>
              </a:spcAft>
            </a:pPr>
            <a:r>
              <a:rPr sz="2600" b="1">
                <a:solidFill>
                  <a:srgbClr val="0B1224"/>
                </a:solidFill>
                <a:latin typeface="Segoe UI"/>
              </a:rPr>
              <a:t>Results — comparison with the literature</a:t>
            </a:r>
          </a:p>
        </p:txBody>
      </p:sp>
      <p:sp>
        <p:nvSpPr>
          <p:cNvPr id="6" name="TextBox 5"/>
          <p:cNvSpPr txBox="1"/>
          <p:nvPr/>
        </p:nvSpPr>
        <p:spPr>
          <a:xfrm>
            <a:off x="658368" y="1097280"/>
            <a:ext cx="10874959" cy="274320"/>
          </a:xfrm>
          <a:prstGeom prst="rect">
            <a:avLst/>
          </a:prstGeom>
          <a:noFill/>
        </p:spPr>
        <p:txBody>
          <a:bodyPr wrap="square" anchor="t" lIns="0" rIns="0" tIns="0" bIns="0">
            <a:spAutoFit/>
          </a:bodyPr>
          <a:lstStyle/>
          <a:p>
            <a:pPr algn="l">
              <a:lnSpc>
                <a:spcPct val="118000"/>
              </a:lnSpc>
              <a:spcAft>
                <a:spcPts val="300"/>
              </a:spcAft>
            </a:pPr>
            <a:r>
              <a:rPr sz="1200" b="0">
                <a:solidFill>
                  <a:srgbClr val="3A485C"/>
                </a:solidFill>
                <a:latin typeface="Segoe UI"/>
              </a:rPr>
              <a:t>Reported mean absolute error on the same 16-project benchmark corpus.</a:t>
            </a:r>
          </a:p>
        </p:txBody>
      </p:sp>
      <p:sp>
        <p:nvSpPr>
          <p:cNvPr id="7" name="Rounded Rectangle 6"/>
          <p:cNvSpPr/>
          <p:nvPr/>
        </p:nvSpPr>
        <p:spPr>
          <a:xfrm>
            <a:off x="658368" y="1481328"/>
            <a:ext cx="10874959" cy="384048"/>
          </a:xfrm>
          <a:prstGeom prst="roundRect">
            <a:avLst>
              <a:gd name="adj" fmla="val 5500"/>
            </a:avLst>
          </a:prstGeom>
          <a:solidFill>
            <a:srgbClr val="0B1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41248" y="1591056"/>
            <a:ext cx="3931920" cy="219456"/>
          </a:xfrm>
          <a:prstGeom prst="rect">
            <a:avLst/>
          </a:prstGeom>
          <a:noFill/>
        </p:spPr>
        <p:txBody>
          <a:bodyPr wrap="square" anchor="t" lIns="0" rIns="0" tIns="0" bIns="0">
            <a:spAutoFit/>
          </a:bodyPr>
          <a:lstStyle/>
          <a:p>
            <a:pPr algn="l">
              <a:lnSpc>
                <a:spcPct val="118000"/>
              </a:lnSpc>
              <a:spcAft>
                <a:spcPts val="300"/>
              </a:spcAft>
            </a:pPr>
            <a:r>
              <a:rPr sz="1000" b="1">
                <a:solidFill>
                  <a:srgbClr val="FFFFFF"/>
                </a:solidFill>
                <a:latin typeface="Segoe UI"/>
              </a:rPr>
              <a:t>APPROACH</a:t>
            </a:r>
          </a:p>
        </p:txBody>
      </p:sp>
      <p:sp>
        <p:nvSpPr>
          <p:cNvPr id="9" name="TextBox 8"/>
          <p:cNvSpPr txBox="1"/>
          <p:nvPr/>
        </p:nvSpPr>
        <p:spPr>
          <a:xfrm>
            <a:off x="4773168" y="1591056"/>
            <a:ext cx="2103120" cy="219456"/>
          </a:xfrm>
          <a:prstGeom prst="rect">
            <a:avLst/>
          </a:prstGeom>
          <a:noFill/>
        </p:spPr>
        <p:txBody>
          <a:bodyPr wrap="square" anchor="t" lIns="0" rIns="0" tIns="0" bIns="0">
            <a:spAutoFit/>
          </a:bodyPr>
          <a:lstStyle/>
          <a:p>
            <a:pPr algn="l">
              <a:lnSpc>
                <a:spcPct val="118000"/>
              </a:lnSpc>
              <a:spcAft>
                <a:spcPts val="300"/>
              </a:spcAft>
            </a:pPr>
            <a:r>
              <a:rPr sz="1000" b="1">
                <a:solidFill>
                  <a:srgbClr val="FFFFFF"/>
                </a:solidFill>
                <a:latin typeface="Segoe UI"/>
              </a:rPr>
              <a:t>FAMILY</a:t>
            </a:r>
          </a:p>
        </p:txBody>
      </p:sp>
      <p:sp>
        <p:nvSpPr>
          <p:cNvPr id="10" name="TextBox 9"/>
          <p:cNvSpPr txBox="1"/>
          <p:nvPr/>
        </p:nvSpPr>
        <p:spPr>
          <a:xfrm>
            <a:off x="6876288" y="1591056"/>
            <a:ext cx="2743200" cy="219456"/>
          </a:xfrm>
          <a:prstGeom prst="rect">
            <a:avLst/>
          </a:prstGeom>
          <a:noFill/>
        </p:spPr>
        <p:txBody>
          <a:bodyPr wrap="square" anchor="t" lIns="0" rIns="0" tIns="0" bIns="0">
            <a:spAutoFit/>
          </a:bodyPr>
          <a:lstStyle/>
          <a:p>
            <a:pPr algn="l">
              <a:lnSpc>
                <a:spcPct val="118000"/>
              </a:lnSpc>
              <a:spcAft>
                <a:spcPts val="300"/>
              </a:spcAft>
            </a:pPr>
            <a:r>
              <a:rPr sz="1000" b="1">
                <a:solidFill>
                  <a:srgbClr val="FFFFFF"/>
                </a:solidFill>
                <a:latin typeface="Segoe UI"/>
              </a:rPr>
              <a:t>EVALUATION</a:t>
            </a:r>
          </a:p>
        </p:txBody>
      </p:sp>
      <p:sp>
        <p:nvSpPr>
          <p:cNvPr id="11" name="TextBox 10"/>
          <p:cNvSpPr txBox="1"/>
          <p:nvPr/>
        </p:nvSpPr>
        <p:spPr>
          <a:xfrm>
            <a:off x="9619488" y="1591056"/>
            <a:ext cx="2103120" cy="219456"/>
          </a:xfrm>
          <a:prstGeom prst="rect">
            <a:avLst/>
          </a:prstGeom>
          <a:noFill/>
        </p:spPr>
        <p:txBody>
          <a:bodyPr wrap="square" anchor="t" lIns="0" rIns="0" tIns="0" bIns="0">
            <a:spAutoFit/>
          </a:bodyPr>
          <a:lstStyle/>
          <a:p>
            <a:pPr algn="l">
              <a:lnSpc>
                <a:spcPct val="118000"/>
              </a:lnSpc>
              <a:spcAft>
                <a:spcPts val="300"/>
              </a:spcAft>
            </a:pPr>
            <a:r>
              <a:rPr sz="1000" b="1">
                <a:solidFill>
                  <a:srgbClr val="FFFFFF"/>
                </a:solidFill>
                <a:latin typeface="Segoe UI"/>
              </a:rPr>
              <a:t>MAE</a:t>
            </a:r>
          </a:p>
        </p:txBody>
      </p:sp>
      <p:sp>
        <p:nvSpPr>
          <p:cNvPr id="12" name="Rounded Rectangle 11"/>
          <p:cNvSpPr/>
          <p:nvPr/>
        </p:nvSpPr>
        <p:spPr>
          <a:xfrm>
            <a:off x="658368" y="1865376"/>
            <a:ext cx="10874959" cy="384048"/>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41248" y="1984248"/>
            <a:ext cx="393192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Deep-SE — LSTM + RHN [1]</a:t>
            </a:r>
          </a:p>
        </p:txBody>
      </p:sp>
      <p:sp>
        <p:nvSpPr>
          <p:cNvPr id="14" name="TextBox 13"/>
          <p:cNvSpPr txBox="1"/>
          <p:nvPr/>
        </p:nvSpPr>
        <p:spPr>
          <a:xfrm>
            <a:off x="4773168" y="1984248"/>
            <a:ext cx="210312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Deep learning</a:t>
            </a:r>
          </a:p>
        </p:txBody>
      </p:sp>
      <p:sp>
        <p:nvSpPr>
          <p:cNvPr id="15" name="TextBox 14"/>
          <p:cNvSpPr txBox="1"/>
          <p:nvPr/>
        </p:nvSpPr>
        <p:spPr>
          <a:xfrm>
            <a:off x="6876288" y="1984248"/>
            <a:ext cx="274320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Within-project</a:t>
            </a:r>
          </a:p>
        </p:txBody>
      </p:sp>
      <p:sp>
        <p:nvSpPr>
          <p:cNvPr id="16" name="TextBox 15"/>
          <p:cNvSpPr txBox="1"/>
          <p:nvPr/>
        </p:nvSpPr>
        <p:spPr>
          <a:xfrm>
            <a:off x="9619488" y="1984248"/>
            <a:ext cx="210312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1.29 – 5.97</a:t>
            </a:r>
          </a:p>
        </p:txBody>
      </p:sp>
      <p:sp>
        <p:nvSpPr>
          <p:cNvPr id="17" name="Rounded Rectangle 16"/>
          <p:cNvSpPr/>
          <p:nvPr/>
        </p:nvSpPr>
        <p:spPr>
          <a:xfrm>
            <a:off x="658368" y="2249424"/>
            <a:ext cx="10874959" cy="384048"/>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8" y="2368296"/>
            <a:ext cx="393192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TF-IDF + SVM baseline [2]</a:t>
            </a:r>
          </a:p>
        </p:txBody>
      </p:sp>
      <p:sp>
        <p:nvSpPr>
          <p:cNvPr id="19" name="TextBox 18"/>
          <p:cNvSpPr txBox="1"/>
          <p:nvPr/>
        </p:nvSpPr>
        <p:spPr>
          <a:xfrm>
            <a:off x="4773168" y="2368296"/>
            <a:ext cx="210312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Classical ML</a:t>
            </a:r>
          </a:p>
        </p:txBody>
      </p:sp>
      <p:sp>
        <p:nvSpPr>
          <p:cNvPr id="20" name="TextBox 19"/>
          <p:cNvSpPr txBox="1"/>
          <p:nvPr/>
        </p:nvSpPr>
        <p:spPr>
          <a:xfrm>
            <a:off x="6876288" y="2368296"/>
            <a:ext cx="274320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Within-project</a:t>
            </a:r>
          </a:p>
        </p:txBody>
      </p:sp>
      <p:sp>
        <p:nvSpPr>
          <p:cNvPr id="21" name="TextBox 20"/>
          <p:cNvSpPr txBox="1"/>
          <p:nvPr/>
        </p:nvSpPr>
        <p:spPr>
          <a:xfrm>
            <a:off x="9619488" y="2368296"/>
            <a:ext cx="210312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comparable to Deep-SE</a:t>
            </a:r>
          </a:p>
        </p:txBody>
      </p:sp>
      <p:sp>
        <p:nvSpPr>
          <p:cNvPr id="22" name="Rounded Rectangle 21"/>
          <p:cNvSpPr/>
          <p:nvPr/>
        </p:nvSpPr>
        <p:spPr>
          <a:xfrm>
            <a:off x="658368" y="2633472"/>
            <a:ext cx="10874959" cy="384048"/>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1248" y="2752344"/>
            <a:ext cx="393192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Median baseline [2]</a:t>
            </a:r>
          </a:p>
        </p:txBody>
      </p:sp>
      <p:sp>
        <p:nvSpPr>
          <p:cNvPr id="24" name="TextBox 23"/>
          <p:cNvSpPr txBox="1"/>
          <p:nvPr/>
        </p:nvSpPr>
        <p:spPr>
          <a:xfrm>
            <a:off x="4773168" y="2752344"/>
            <a:ext cx="210312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Statistical</a:t>
            </a:r>
          </a:p>
        </p:txBody>
      </p:sp>
      <p:sp>
        <p:nvSpPr>
          <p:cNvPr id="25" name="TextBox 24"/>
          <p:cNvSpPr txBox="1"/>
          <p:nvPr/>
        </p:nvSpPr>
        <p:spPr>
          <a:xfrm>
            <a:off x="6876288" y="2752344"/>
            <a:ext cx="274320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Within-project</a:t>
            </a:r>
          </a:p>
        </p:txBody>
      </p:sp>
      <p:sp>
        <p:nvSpPr>
          <p:cNvPr id="26" name="TextBox 25"/>
          <p:cNvSpPr txBox="1"/>
          <p:nvPr/>
        </p:nvSpPr>
        <p:spPr>
          <a:xfrm>
            <a:off x="9619488" y="2752344"/>
            <a:ext cx="2103120" cy="219456"/>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competitive in 34 of 42 cases</a:t>
            </a:r>
          </a:p>
        </p:txBody>
      </p:sp>
      <p:sp>
        <p:nvSpPr>
          <p:cNvPr id="27" name="Rounded Rectangle 26"/>
          <p:cNvSpPr/>
          <p:nvPr/>
        </p:nvSpPr>
        <p:spPr>
          <a:xfrm>
            <a:off x="658368" y="3017520"/>
            <a:ext cx="10874959" cy="384048"/>
          </a:xfrm>
          <a:prstGeom prst="roundRect">
            <a:avLst>
              <a:gd name="adj" fmla="val 5500"/>
            </a:avLst>
          </a:prstGeom>
          <a:solidFill>
            <a:srgbClr val="E6F7F0"/>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41248" y="3136392"/>
            <a:ext cx="3931920" cy="219456"/>
          </a:xfrm>
          <a:prstGeom prst="rect">
            <a:avLst/>
          </a:prstGeom>
          <a:noFill/>
        </p:spPr>
        <p:txBody>
          <a:bodyPr wrap="square" anchor="t" lIns="0" rIns="0" tIns="0" bIns="0">
            <a:spAutoFit/>
          </a:bodyPr>
          <a:lstStyle/>
          <a:p>
            <a:pPr algn="l">
              <a:lnSpc>
                <a:spcPct val="118000"/>
              </a:lnSpc>
              <a:spcAft>
                <a:spcPts val="300"/>
              </a:spcAft>
            </a:pPr>
            <a:r>
              <a:rPr sz="1050" b="1">
                <a:solidFill>
                  <a:srgbClr val="006B4A"/>
                </a:solidFill>
                <a:latin typeface="Segoe UI"/>
              </a:rPr>
              <a:t>This work — Ridge + TF-IDF</a:t>
            </a:r>
          </a:p>
        </p:txBody>
      </p:sp>
      <p:sp>
        <p:nvSpPr>
          <p:cNvPr id="29" name="TextBox 28"/>
          <p:cNvSpPr txBox="1"/>
          <p:nvPr/>
        </p:nvSpPr>
        <p:spPr>
          <a:xfrm>
            <a:off x="4773168" y="3136392"/>
            <a:ext cx="2103120" cy="219456"/>
          </a:xfrm>
          <a:prstGeom prst="rect">
            <a:avLst/>
          </a:prstGeom>
          <a:noFill/>
        </p:spPr>
        <p:txBody>
          <a:bodyPr wrap="square" anchor="t" lIns="0" rIns="0" tIns="0" bIns="0">
            <a:spAutoFit/>
          </a:bodyPr>
          <a:lstStyle/>
          <a:p>
            <a:pPr algn="l">
              <a:lnSpc>
                <a:spcPct val="118000"/>
              </a:lnSpc>
              <a:spcAft>
                <a:spcPts val="300"/>
              </a:spcAft>
            </a:pPr>
            <a:r>
              <a:rPr sz="1050" b="1">
                <a:solidFill>
                  <a:srgbClr val="006B4A"/>
                </a:solidFill>
                <a:latin typeface="Segoe UI"/>
              </a:rPr>
              <a:t>Classical ML</a:t>
            </a:r>
          </a:p>
        </p:txBody>
      </p:sp>
      <p:sp>
        <p:nvSpPr>
          <p:cNvPr id="30" name="TextBox 29"/>
          <p:cNvSpPr txBox="1"/>
          <p:nvPr/>
        </p:nvSpPr>
        <p:spPr>
          <a:xfrm>
            <a:off x="6876288" y="3136392"/>
            <a:ext cx="2743200" cy="219456"/>
          </a:xfrm>
          <a:prstGeom prst="rect">
            <a:avLst/>
          </a:prstGeom>
          <a:noFill/>
        </p:spPr>
        <p:txBody>
          <a:bodyPr wrap="square" anchor="t" lIns="0" rIns="0" tIns="0" bIns="0">
            <a:spAutoFit/>
          </a:bodyPr>
          <a:lstStyle/>
          <a:p>
            <a:pPr algn="l">
              <a:lnSpc>
                <a:spcPct val="118000"/>
              </a:lnSpc>
              <a:spcAft>
                <a:spcPts val="300"/>
              </a:spcAft>
            </a:pPr>
            <a:r>
              <a:rPr sz="1050" b="1">
                <a:solidFill>
                  <a:srgbClr val="006B4A"/>
                </a:solidFill>
                <a:latin typeface="Segoe UI"/>
              </a:rPr>
              <a:t>Cross-project (pooled)</a:t>
            </a:r>
          </a:p>
        </p:txBody>
      </p:sp>
      <p:sp>
        <p:nvSpPr>
          <p:cNvPr id="31" name="TextBox 30"/>
          <p:cNvSpPr txBox="1"/>
          <p:nvPr/>
        </p:nvSpPr>
        <p:spPr>
          <a:xfrm>
            <a:off x="9619488" y="3136392"/>
            <a:ext cx="2103120" cy="219456"/>
          </a:xfrm>
          <a:prstGeom prst="rect">
            <a:avLst/>
          </a:prstGeom>
          <a:noFill/>
        </p:spPr>
        <p:txBody>
          <a:bodyPr wrap="square" anchor="t" lIns="0" rIns="0" tIns="0" bIns="0">
            <a:spAutoFit/>
          </a:bodyPr>
          <a:lstStyle/>
          <a:p>
            <a:pPr algn="l">
              <a:lnSpc>
                <a:spcPct val="118000"/>
              </a:lnSpc>
              <a:spcAft>
                <a:spcPts val="300"/>
              </a:spcAft>
            </a:pPr>
            <a:r>
              <a:rPr sz="1050" b="1">
                <a:solidFill>
                  <a:srgbClr val="006B4A"/>
                </a:solidFill>
                <a:latin typeface="Segoe UI"/>
              </a:rPr>
              <a:t>2.587</a:t>
            </a:r>
          </a:p>
        </p:txBody>
      </p:sp>
      <p:sp>
        <p:nvSpPr>
          <p:cNvPr id="32" name="Rounded Rectangle 31"/>
          <p:cNvSpPr/>
          <p:nvPr/>
        </p:nvSpPr>
        <p:spPr>
          <a:xfrm>
            <a:off x="658368" y="3493008"/>
            <a:ext cx="10874959" cy="1188720"/>
          </a:xfrm>
          <a:prstGeom prst="roundRect">
            <a:avLst>
              <a:gd name="adj" fmla="val 5500"/>
            </a:avLst>
          </a:prstGeom>
          <a:solidFill>
            <a:srgbClr val="FDEFEF"/>
          </a:solidFill>
          <a:ln w="12700">
            <a:solidFill>
              <a:srgbClr val="F2C7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32688" y="3621024"/>
            <a:ext cx="9144000" cy="237744"/>
          </a:xfrm>
          <a:prstGeom prst="rect">
            <a:avLst/>
          </a:prstGeom>
          <a:noFill/>
        </p:spPr>
        <p:txBody>
          <a:bodyPr wrap="square" anchor="t" lIns="0" rIns="0" tIns="0" bIns="0">
            <a:spAutoFit/>
          </a:bodyPr>
          <a:lstStyle/>
          <a:p>
            <a:pPr algn="l">
              <a:lnSpc>
                <a:spcPct val="118000"/>
              </a:lnSpc>
              <a:spcAft>
                <a:spcPts val="300"/>
              </a:spcAft>
            </a:pPr>
            <a:r>
              <a:rPr sz="950" b="1">
                <a:solidFill>
                  <a:srgbClr val="C02B2B"/>
                </a:solidFill>
                <a:latin typeface="Segoe UI"/>
              </a:rPr>
              <a:t>AN HONEST NOTE ON THIS COMPARISON</a:t>
            </a:r>
          </a:p>
        </p:txBody>
      </p:sp>
      <p:sp>
        <p:nvSpPr>
          <p:cNvPr id="34" name="TextBox 33"/>
          <p:cNvSpPr txBox="1"/>
          <p:nvPr/>
        </p:nvSpPr>
        <p:spPr>
          <a:xfrm>
            <a:off x="932688" y="3877056"/>
            <a:ext cx="10326319" cy="731520"/>
          </a:xfrm>
          <a:prstGeom prst="rect">
            <a:avLst/>
          </a:prstGeom>
          <a:noFill/>
        </p:spPr>
        <p:txBody>
          <a:bodyPr wrap="square" anchor="t" lIns="0" rIns="0" tIns="0" bIns="0">
            <a:spAutoFit/>
          </a:bodyPr>
          <a:lstStyle/>
          <a:p>
            <a:pPr algn="l">
              <a:lnSpc>
                <a:spcPct val="118000"/>
              </a:lnSpc>
              <a:spcAft>
                <a:spcPts val="300"/>
              </a:spcAft>
            </a:pPr>
            <a:r>
              <a:rPr sz="1150" b="0">
                <a:solidFill>
                  <a:srgbClr val="1E293B"/>
                </a:solidFill>
                <a:latin typeface="Segoe UI"/>
              </a:rPr>
              <a:t>These figures are not directly comparable. Published results are per-project: a model is trained and tested within a single project, where the team's scale is consistent. Our model is trained across all 16 projects at once, where a story point of 5 means different things in different organisations. Cross-project estimation is the harder setting, and is reported as such in the literature.</a:t>
            </a:r>
          </a:p>
        </p:txBody>
      </p:sp>
      <p:sp>
        <p:nvSpPr>
          <p:cNvPr id="35" name="TextBox 34"/>
          <p:cNvSpPr txBox="1"/>
          <p:nvPr/>
        </p:nvSpPr>
        <p:spPr>
          <a:xfrm>
            <a:off x="658368" y="4882896"/>
            <a:ext cx="10874959" cy="256032"/>
          </a:xfrm>
          <a:prstGeom prst="rect">
            <a:avLst/>
          </a:prstGeom>
          <a:noFill/>
        </p:spPr>
        <p:txBody>
          <a:bodyPr wrap="square" anchor="t" lIns="0" rIns="0" tIns="0" bIns="0">
            <a:spAutoFit/>
          </a:bodyPr>
          <a:lstStyle/>
          <a:p>
            <a:pPr algn="l">
              <a:lnSpc>
                <a:spcPct val="118000"/>
              </a:lnSpc>
              <a:spcAft>
                <a:spcPts val="300"/>
              </a:spcAft>
            </a:pPr>
            <a:r>
              <a:rPr sz="1400" b="1">
                <a:solidFill>
                  <a:srgbClr val="0B1224"/>
                </a:solidFill>
                <a:latin typeface="Segoe UI"/>
              </a:rPr>
              <a:t>What the comparison does establish</a:t>
            </a:r>
          </a:p>
        </p:txBody>
      </p:sp>
      <p:sp>
        <p:nvSpPr>
          <p:cNvPr id="36" name="Oval 35"/>
          <p:cNvSpPr/>
          <p:nvPr/>
        </p:nvSpPr>
        <p:spPr>
          <a:xfrm>
            <a:off x="704088" y="5294376"/>
            <a:ext cx="91440" cy="91440"/>
          </a:xfrm>
          <a:prstGeom prst="ellipse">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50976" y="5212080"/>
            <a:ext cx="3108960" cy="237744"/>
          </a:xfrm>
          <a:prstGeom prst="rect">
            <a:avLst/>
          </a:prstGeom>
          <a:noFill/>
        </p:spPr>
        <p:txBody>
          <a:bodyPr wrap="square" anchor="t" lIns="0" rIns="0" tIns="0" bIns="0">
            <a:spAutoFit/>
          </a:bodyPr>
          <a:lstStyle/>
          <a:p>
            <a:pPr algn="l">
              <a:lnSpc>
                <a:spcPct val="118000"/>
              </a:lnSpc>
              <a:spcAft>
                <a:spcPts val="300"/>
              </a:spcAft>
            </a:pPr>
            <a:r>
              <a:rPr sz="1150" b="1">
                <a:solidFill>
                  <a:srgbClr val="006B4A"/>
                </a:solidFill>
                <a:latin typeface="Segoe UI"/>
              </a:rPr>
              <a:t>Our result is in the published range</a:t>
            </a:r>
          </a:p>
        </p:txBody>
      </p:sp>
      <p:sp>
        <p:nvSpPr>
          <p:cNvPr id="38" name="TextBox 37"/>
          <p:cNvSpPr txBox="1"/>
          <p:nvPr/>
        </p:nvSpPr>
        <p:spPr>
          <a:xfrm>
            <a:off x="4133088" y="5212080"/>
            <a:ext cx="7223760" cy="457200"/>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2.587 sits inside the 1.29–5.97 band Deep-SE reports across projects, despite the harder cross-project setting</a:t>
            </a:r>
          </a:p>
        </p:txBody>
      </p:sp>
      <p:sp>
        <p:nvSpPr>
          <p:cNvPr id="39" name="Oval 38"/>
          <p:cNvSpPr/>
          <p:nvPr/>
        </p:nvSpPr>
        <p:spPr>
          <a:xfrm>
            <a:off x="704088" y="5824728"/>
            <a:ext cx="91440" cy="91440"/>
          </a:xfrm>
          <a:prstGeom prst="ellipse">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50976" y="5742432"/>
            <a:ext cx="3108960" cy="237744"/>
          </a:xfrm>
          <a:prstGeom prst="rect">
            <a:avLst/>
          </a:prstGeom>
          <a:noFill/>
        </p:spPr>
        <p:txBody>
          <a:bodyPr wrap="square" anchor="t" lIns="0" rIns="0" tIns="0" bIns="0">
            <a:spAutoFit/>
          </a:bodyPr>
          <a:lstStyle/>
          <a:p>
            <a:pPr algn="l">
              <a:lnSpc>
                <a:spcPct val="118000"/>
              </a:lnSpc>
              <a:spcAft>
                <a:spcPts val="300"/>
              </a:spcAft>
            </a:pPr>
            <a:r>
              <a:rPr sz="1150" b="1">
                <a:solidFill>
                  <a:srgbClr val="006B4A"/>
                </a:solidFill>
                <a:latin typeface="Segoe UI"/>
              </a:rPr>
              <a:t>The simpler model was the right choice</a:t>
            </a:r>
          </a:p>
        </p:txBody>
      </p:sp>
      <p:sp>
        <p:nvSpPr>
          <p:cNvPr id="41" name="TextBox 40"/>
          <p:cNvSpPr txBox="1"/>
          <p:nvPr/>
        </p:nvSpPr>
        <p:spPr>
          <a:xfrm>
            <a:off x="4133088" y="5742432"/>
            <a:ext cx="7223760" cy="457200"/>
          </a:xfrm>
          <a:prstGeom prst="rect">
            <a:avLst/>
          </a:prstGeom>
          <a:noFill/>
        </p:spPr>
        <p:txBody>
          <a:bodyPr wrap="square" anchor="t" lIns="0" rIns="0" tIns="0" bIns="0">
            <a:spAutoFit/>
          </a:bodyPr>
          <a:lstStyle/>
          <a:p>
            <a:pPr algn="l">
              <a:lnSpc>
                <a:spcPct val="118000"/>
              </a:lnSpc>
              <a:spcAft>
                <a:spcPts val="300"/>
              </a:spcAft>
            </a:pPr>
            <a:r>
              <a:rPr sz="1050" b="0">
                <a:solidFill>
                  <a:srgbClr val="3A485C"/>
                </a:solidFill>
                <a:latin typeface="Segoe UI"/>
              </a:rPr>
              <a:t>the replication study [2] found deep learning gave no consistent advantage, and our deployment constraints favoured a linear model</a:t>
            </a:r>
          </a:p>
        </p:txBody>
      </p:sp>
      <p:sp>
        <p:nvSpPr>
          <p:cNvPr id="42" name="Rectangle 41"/>
          <p:cNvSpPr/>
          <p:nvPr/>
        </p:nvSpPr>
        <p:spPr>
          <a:xfrm>
            <a:off x="658368" y="6419088"/>
            <a:ext cx="10874959" cy="9525"/>
          </a:xfrm>
          <a:prstGeom prst="rect">
            <a:avLst/>
          </a:prstGeom>
          <a:solidFill>
            <a:srgbClr val="DD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58368" y="6510528"/>
            <a:ext cx="6400800" cy="219456"/>
          </a:xfrm>
          <a:prstGeom prst="rect">
            <a:avLst/>
          </a:prstGeom>
          <a:noFill/>
        </p:spPr>
        <p:txBody>
          <a:bodyPr wrap="square" anchor="t" lIns="0" rIns="0" tIns="0" bIns="0">
            <a:spAutoFit/>
          </a:bodyPr>
          <a:lstStyle/>
          <a:p>
            <a:pPr algn="l">
              <a:lnSpc>
                <a:spcPct val="118000"/>
              </a:lnSpc>
              <a:spcAft>
                <a:spcPts val="300"/>
              </a:spcAft>
            </a:pPr>
            <a:r>
              <a:rPr sz="900" b="0">
                <a:solidFill>
                  <a:srgbClr val="9AA8BC"/>
                </a:solidFill>
                <a:latin typeface="Segoe UI"/>
              </a:rPr>
              <a:t>DayMark  ·  Final Year Project</a:t>
            </a:r>
          </a:p>
        </p:txBody>
      </p:sp>
      <p:sp>
        <p:nvSpPr>
          <p:cNvPr id="44" name="TextBox 43"/>
          <p:cNvSpPr txBox="1"/>
          <p:nvPr/>
        </p:nvSpPr>
        <p:spPr>
          <a:xfrm>
            <a:off x="11076127" y="6510528"/>
            <a:ext cx="457200" cy="219456"/>
          </a:xfrm>
          <a:prstGeom prst="rect">
            <a:avLst/>
          </a:prstGeom>
          <a:noFill/>
        </p:spPr>
        <p:txBody>
          <a:bodyPr wrap="square" anchor="t" lIns="0" rIns="0" tIns="0" bIns="0">
            <a:spAutoFit/>
          </a:bodyPr>
          <a:lstStyle/>
          <a:p>
            <a:pPr algn="r">
              <a:lnSpc>
                <a:spcPct val="118000"/>
              </a:lnSpc>
              <a:spcAft>
                <a:spcPts val="300"/>
              </a:spcAft>
            </a:pPr>
            <a:r>
              <a:rPr sz="900" b="1">
                <a:solidFill>
                  <a:srgbClr val="6B7A90"/>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58368" y="365760"/>
            <a:ext cx="10874959" cy="237744"/>
          </a:xfrm>
          <a:prstGeom prst="rect">
            <a:avLst/>
          </a:prstGeom>
          <a:noFill/>
        </p:spPr>
        <p:txBody>
          <a:bodyPr wrap="square" anchor="t" lIns="0" rIns="0" tIns="0" bIns="0">
            <a:spAutoFit/>
          </a:bodyPr>
          <a:lstStyle/>
          <a:p>
            <a:pPr algn="l">
              <a:lnSpc>
                <a:spcPct val="118000"/>
              </a:lnSpc>
              <a:spcAft>
                <a:spcPts val="300"/>
              </a:spcAft>
            </a:pPr>
            <a:r>
              <a:rPr sz="1100" b="1">
                <a:solidFill>
                  <a:srgbClr val="009E6D"/>
                </a:solidFill>
                <a:latin typeface="Segoe UI"/>
              </a:rPr>
              <a:t>1.7  LIMITATIONS &amp; FUTURE WORK</a:t>
            </a:r>
          </a:p>
        </p:txBody>
      </p:sp>
      <p:sp>
        <p:nvSpPr>
          <p:cNvPr id="5" name="TextBox 4"/>
          <p:cNvSpPr txBox="1"/>
          <p:nvPr/>
        </p:nvSpPr>
        <p:spPr>
          <a:xfrm>
            <a:off x="658368" y="603504"/>
            <a:ext cx="10874959" cy="457200"/>
          </a:xfrm>
          <a:prstGeom prst="rect">
            <a:avLst/>
          </a:prstGeom>
          <a:noFill/>
        </p:spPr>
        <p:txBody>
          <a:bodyPr wrap="square" anchor="t" lIns="0" rIns="0" tIns="0" bIns="0">
            <a:spAutoFit/>
          </a:bodyPr>
          <a:lstStyle/>
          <a:p>
            <a:pPr algn="l">
              <a:lnSpc>
                <a:spcPct val="118000"/>
              </a:lnSpc>
              <a:spcAft>
                <a:spcPts val="300"/>
              </a:spcAft>
            </a:pPr>
            <a:r>
              <a:rPr sz="2600" b="1">
                <a:solidFill>
                  <a:srgbClr val="0B1224"/>
                </a:solidFill>
                <a:latin typeface="Segoe UI"/>
              </a:rPr>
              <a:t>Limitations and future work</a:t>
            </a:r>
          </a:p>
        </p:txBody>
      </p:sp>
      <p:sp>
        <p:nvSpPr>
          <p:cNvPr id="6" name="TextBox 5"/>
          <p:cNvSpPr txBox="1"/>
          <p:nvPr/>
        </p:nvSpPr>
        <p:spPr>
          <a:xfrm>
            <a:off x="658368" y="1115568"/>
            <a:ext cx="5330952" cy="256032"/>
          </a:xfrm>
          <a:prstGeom prst="rect">
            <a:avLst/>
          </a:prstGeom>
          <a:noFill/>
        </p:spPr>
        <p:txBody>
          <a:bodyPr wrap="square" anchor="t" lIns="0" rIns="0" tIns="0" bIns="0">
            <a:spAutoFit/>
          </a:bodyPr>
          <a:lstStyle/>
          <a:p>
            <a:pPr algn="l">
              <a:lnSpc>
                <a:spcPct val="118000"/>
              </a:lnSpc>
              <a:spcAft>
                <a:spcPts val="300"/>
              </a:spcAft>
            </a:pPr>
            <a:r>
              <a:rPr sz="1400" b="1">
                <a:solidFill>
                  <a:srgbClr val="C02B2B"/>
                </a:solidFill>
                <a:latin typeface="Segoe UI"/>
              </a:rPr>
              <a:t>Limitations</a:t>
            </a:r>
          </a:p>
        </p:txBody>
      </p:sp>
      <p:sp>
        <p:nvSpPr>
          <p:cNvPr id="7" name="Rounded Rectangle 6"/>
          <p:cNvSpPr/>
          <p:nvPr/>
        </p:nvSpPr>
        <p:spPr>
          <a:xfrm>
            <a:off x="658368" y="1463040"/>
            <a:ext cx="5330952" cy="694944"/>
          </a:xfrm>
          <a:prstGeom prst="roundRect">
            <a:avLst>
              <a:gd name="adj" fmla="val 5500"/>
            </a:avLst>
          </a:prstGeom>
          <a:solidFill>
            <a:srgbClr val="FDEFEF"/>
          </a:solidFill>
          <a:ln w="12700">
            <a:solidFill>
              <a:srgbClr val="F2C7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77824" y="1572768"/>
            <a:ext cx="4846320" cy="237744"/>
          </a:xfrm>
          <a:prstGeom prst="rect">
            <a:avLst/>
          </a:prstGeom>
          <a:noFill/>
        </p:spPr>
        <p:txBody>
          <a:bodyPr wrap="square" anchor="t" lIns="0" rIns="0" tIns="0" bIns="0">
            <a:spAutoFit/>
          </a:bodyPr>
          <a:lstStyle/>
          <a:p>
            <a:pPr algn="l">
              <a:lnSpc>
                <a:spcPct val="118000"/>
              </a:lnSpc>
              <a:spcAft>
                <a:spcPts val="300"/>
              </a:spcAft>
            </a:pPr>
            <a:r>
              <a:rPr sz="1150" b="1">
                <a:solidFill>
                  <a:srgbClr val="C02B2B"/>
                </a:solidFill>
                <a:latin typeface="Segoe UI"/>
              </a:rPr>
              <a:t>Cross-project scale variance</a:t>
            </a:r>
          </a:p>
        </p:txBody>
      </p:sp>
      <p:sp>
        <p:nvSpPr>
          <p:cNvPr id="9" name="TextBox 8"/>
          <p:cNvSpPr txBox="1"/>
          <p:nvPr/>
        </p:nvSpPr>
        <p:spPr>
          <a:xfrm>
            <a:off x="877824" y="1828800"/>
            <a:ext cx="4937760" cy="310896"/>
          </a:xfrm>
          <a:prstGeom prst="rect">
            <a:avLst/>
          </a:prstGeom>
          <a:noFill/>
        </p:spPr>
        <p:txBody>
          <a:bodyPr wrap="square" anchor="t" lIns="0" rIns="0" tIns="0" bIns="0">
            <a:spAutoFit/>
          </a:bodyPr>
          <a:lstStyle/>
          <a:p>
            <a:pPr algn="l">
              <a:lnSpc>
                <a:spcPct val="118000"/>
              </a:lnSpc>
              <a:spcAft>
                <a:spcPts val="300"/>
              </a:spcAft>
            </a:pPr>
            <a:r>
              <a:rPr sz="1000" b="0">
                <a:solidFill>
                  <a:srgbClr val="3A485C"/>
                </a:solidFill>
                <a:latin typeface="Segoe UI"/>
              </a:rPr>
              <a:t>story points are not calibrated across organisations, which bounds achievable accuracy</a:t>
            </a:r>
          </a:p>
        </p:txBody>
      </p:sp>
      <p:sp>
        <p:nvSpPr>
          <p:cNvPr id="10" name="Rounded Rectangle 9"/>
          <p:cNvSpPr/>
          <p:nvPr/>
        </p:nvSpPr>
        <p:spPr>
          <a:xfrm>
            <a:off x="658368" y="2249424"/>
            <a:ext cx="5330952" cy="694944"/>
          </a:xfrm>
          <a:prstGeom prst="roundRect">
            <a:avLst>
              <a:gd name="adj" fmla="val 5500"/>
            </a:avLst>
          </a:prstGeom>
          <a:solidFill>
            <a:srgbClr val="FDEFEF"/>
          </a:solidFill>
          <a:ln w="12700">
            <a:solidFill>
              <a:srgbClr val="F2C7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77824" y="2359152"/>
            <a:ext cx="4846320" cy="237744"/>
          </a:xfrm>
          <a:prstGeom prst="rect">
            <a:avLst/>
          </a:prstGeom>
          <a:noFill/>
        </p:spPr>
        <p:txBody>
          <a:bodyPr wrap="square" anchor="t" lIns="0" rIns="0" tIns="0" bIns="0">
            <a:spAutoFit/>
          </a:bodyPr>
          <a:lstStyle/>
          <a:p>
            <a:pPr algn="l">
              <a:lnSpc>
                <a:spcPct val="118000"/>
              </a:lnSpc>
              <a:spcAft>
                <a:spcPts val="300"/>
              </a:spcAft>
            </a:pPr>
            <a:r>
              <a:rPr sz="1150" b="1">
                <a:solidFill>
                  <a:srgbClr val="C02B2B"/>
                </a:solidFill>
                <a:latin typeface="Segoe UI"/>
              </a:rPr>
              <a:t>Moderate explanatory power</a:t>
            </a:r>
          </a:p>
        </p:txBody>
      </p:sp>
      <p:sp>
        <p:nvSpPr>
          <p:cNvPr id="12" name="TextBox 11"/>
          <p:cNvSpPr txBox="1"/>
          <p:nvPr/>
        </p:nvSpPr>
        <p:spPr>
          <a:xfrm>
            <a:off x="877824" y="2615184"/>
            <a:ext cx="4937760" cy="310896"/>
          </a:xfrm>
          <a:prstGeom prst="rect">
            <a:avLst/>
          </a:prstGeom>
          <a:noFill/>
        </p:spPr>
        <p:txBody>
          <a:bodyPr wrap="square" anchor="t" lIns="0" rIns="0" tIns="0" bIns="0">
            <a:spAutoFit/>
          </a:bodyPr>
          <a:lstStyle/>
          <a:p>
            <a:pPr algn="l">
              <a:lnSpc>
                <a:spcPct val="118000"/>
              </a:lnSpc>
              <a:spcAft>
                <a:spcPts val="300"/>
              </a:spcAft>
            </a:pPr>
            <a:r>
              <a:rPr sz="1000" b="0">
                <a:solidFill>
                  <a:srgbClr val="3A485C"/>
                </a:solidFill>
                <a:latin typeface="Segoe UI"/>
              </a:rPr>
              <a:t>an R² of 0.182 means most variance in effort is not explained by issue text alone</a:t>
            </a:r>
          </a:p>
        </p:txBody>
      </p:sp>
      <p:sp>
        <p:nvSpPr>
          <p:cNvPr id="13" name="Rounded Rectangle 12"/>
          <p:cNvSpPr/>
          <p:nvPr/>
        </p:nvSpPr>
        <p:spPr>
          <a:xfrm>
            <a:off x="658368" y="3035808"/>
            <a:ext cx="5330952" cy="694944"/>
          </a:xfrm>
          <a:prstGeom prst="roundRect">
            <a:avLst>
              <a:gd name="adj" fmla="val 5500"/>
            </a:avLst>
          </a:prstGeom>
          <a:solidFill>
            <a:srgbClr val="FDEFEF"/>
          </a:solidFill>
          <a:ln w="12700">
            <a:solidFill>
              <a:srgbClr val="F2C7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77824" y="3145536"/>
            <a:ext cx="4846320" cy="237744"/>
          </a:xfrm>
          <a:prstGeom prst="rect">
            <a:avLst/>
          </a:prstGeom>
          <a:noFill/>
        </p:spPr>
        <p:txBody>
          <a:bodyPr wrap="square" anchor="t" lIns="0" rIns="0" tIns="0" bIns="0">
            <a:spAutoFit/>
          </a:bodyPr>
          <a:lstStyle/>
          <a:p>
            <a:pPr algn="l">
              <a:lnSpc>
                <a:spcPct val="118000"/>
              </a:lnSpc>
              <a:spcAft>
                <a:spcPts val="300"/>
              </a:spcAft>
            </a:pPr>
            <a:r>
              <a:rPr sz="1150" b="1">
                <a:solidFill>
                  <a:srgbClr val="C02B2B"/>
                </a:solidFill>
                <a:latin typeface="Segoe UI"/>
              </a:rPr>
              <a:t>Text-only features</a:t>
            </a:r>
          </a:p>
        </p:txBody>
      </p:sp>
      <p:sp>
        <p:nvSpPr>
          <p:cNvPr id="15" name="TextBox 14"/>
          <p:cNvSpPr txBox="1"/>
          <p:nvPr/>
        </p:nvSpPr>
        <p:spPr>
          <a:xfrm>
            <a:off x="877824" y="3401568"/>
            <a:ext cx="4937760" cy="310896"/>
          </a:xfrm>
          <a:prstGeom prst="rect">
            <a:avLst/>
          </a:prstGeom>
          <a:noFill/>
        </p:spPr>
        <p:txBody>
          <a:bodyPr wrap="square" anchor="t" lIns="0" rIns="0" tIns="0" bIns="0">
            <a:spAutoFit/>
          </a:bodyPr>
          <a:lstStyle/>
          <a:p>
            <a:pPr algn="l">
              <a:lnSpc>
                <a:spcPct val="118000"/>
              </a:lnSpc>
              <a:spcAft>
                <a:spcPts val="300"/>
              </a:spcAft>
            </a:pPr>
            <a:r>
              <a:rPr sz="1000" b="0">
                <a:solidFill>
                  <a:srgbClr val="3A485C"/>
                </a:solidFill>
                <a:latin typeface="Segoe UI"/>
              </a:rPr>
              <a:t>the model ignores assignee history, dependencies and project phase, all known to affect effort [5]</a:t>
            </a:r>
          </a:p>
        </p:txBody>
      </p:sp>
      <p:sp>
        <p:nvSpPr>
          <p:cNvPr id="16" name="Rounded Rectangle 15"/>
          <p:cNvSpPr/>
          <p:nvPr/>
        </p:nvSpPr>
        <p:spPr>
          <a:xfrm>
            <a:off x="658368" y="3822192"/>
            <a:ext cx="5330952" cy="694944"/>
          </a:xfrm>
          <a:prstGeom prst="roundRect">
            <a:avLst>
              <a:gd name="adj" fmla="val 5500"/>
            </a:avLst>
          </a:prstGeom>
          <a:solidFill>
            <a:srgbClr val="FDEFEF"/>
          </a:solidFill>
          <a:ln w="12700">
            <a:solidFill>
              <a:srgbClr val="F2C7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77824" y="3931920"/>
            <a:ext cx="4846320" cy="237744"/>
          </a:xfrm>
          <a:prstGeom prst="rect">
            <a:avLst/>
          </a:prstGeom>
          <a:noFill/>
        </p:spPr>
        <p:txBody>
          <a:bodyPr wrap="square" anchor="t" lIns="0" rIns="0" tIns="0" bIns="0">
            <a:spAutoFit/>
          </a:bodyPr>
          <a:lstStyle/>
          <a:p>
            <a:pPr algn="l">
              <a:lnSpc>
                <a:spcPct val="118000"/>
              </a:lnSpc>
              <a:spcAft>
                <a:spcPts val="300"/>
              </a:spcAft>
            </a:pPr>
            <a:r>
              <a:rPr sz="1150" b="1">
                <a:solidFill>
                  <a:srgbClr val="C02B2B"/>
                </a:solidFill>
                <a:latin typeface="Segoe UI"/>
              </a:rPr>
              <a:t>Open-source training data</a:t>
            </a:r>
          </a:p>
        </p:txBody>
      </p:sp>
      <p:sp>
        <p:nvSpPr>
          <p:cNvPr id="18" name="TextBox 17"/>
          <p:cNvSpPr txBox="1"/>
          <p:nvPr/>
        </p:nvSpPr>
        <p:spPr>
          <a:xfrm>
            <a:off x="877824" y="4187952"/>
            <a:ext cx="4937760" cy="310896"/>
          </a:xfrm>
          <a:prstGeom prst="rect">
            <a:avLst/>
          </a:prstGeom>
          <a:noFill/>
        </p:spPr>
        <p:txBody>
          <a:bodyPr wrap="square" anchor="t" lIns="0" rIns="0" tIns="0" bIns="0">
            <a:spAutoFit/>
          </a:bodyPr>
          <a:lstStyle/>
          <a:p>
            <a:pPr algn="l">
              <a:lnSpc>
                <a:spcPct val="118000"/>
              </a:lnSpc>
              <a:spcAft>
                <a:spcPts val="300"/>
              </a:spcAft>
            </a:pPr>
            <a:r>
              <a:rPr sz="1000" b="0">
                <a:solidFill>
                  <a:srgbClr val="3A485C"/>
                </a:solidFill>
                <a:latin typeface="Segoe UI"/>
              </a:rPr>
              <a:t>the corpus is drawn from open-source projects, which may not transfer to commercial teams</a:t>
            </a:r>
          </a:p>
        </p:txBody>
      </p:sp>
      <p:sp>
        <p:nvSpPr>
          <p:cNvPr id="19" name="TextBox 18"/>
          <p:cNvSpPr txBox="1"/>
          <p:nvPr/>
        </p:nvSpPr>
        <p:spPr>
          <a:xfrm>
            <a:off x="6199632" y="1115568"/>
            <a:ext cx="5330952" cy="256032"/>
          </a:xfrm>
          <a:prstGeom prst="rect">
            <a:avLst/>
          </a:prstGeom>
          <a:noFill/>
        </p:spPr>
        <p:txBody>
          <a:bodyPr wrap="square" anchor="t" lIns="0" rIns="0" tIns="0" bIns="0">
            <a:spAutoFit/>
          </a:bodyPr>
          <a:lstStyle/>
          <a:p>
            <a:pPr algn="l">
              <a:lnSpc>
                <a:spcPct val="118000"/>
              </a:lnSpc>
              <a:spcAft>
                <a:spcPts val="300"/>
              </a:spcAft>
            </a:pPr>
            <a:r>
              <a:rPr sz="1400" b="1">
                <a:solidFill>
                  <a:srgbClr val="006B4A"/>
                </a:solidFill>
                <a:latin typeface="Segoe UI"/>
              </a:rPr>
              <a:t>Future work</a:t>
            </a:r>
          </a:p>
        </p:txBody>
      </p:sp>
      <p:sp>
        <p:nvSpPr>
          <p:cNvPr id="20" name="Rounded Rectangle 19"/>
          <p:cNvSpPr/>
          <p:nvPr/>
        </p:nvSpPr>
        <p:spPr>
          <a:xfrm>
            <a:off x="6199632" y="1463040"/>
            <a:ext cx="5330952" cy="694944"/>
          </a:xfrm>
          <a:prstGeom prst="roundRect">
            <a:avLst>
              <a:gd name="adj" fmla="val 5500"/>
            </a:avLst>
          </a:prstGeom>
          <a:solidFill>
            <a:srgbClr val="E6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19088" y="1572768"/>
            <a:ext cx="4846320" cy="237744"/>
          </a:xfrm>
          <a:prstGeom prst="rect">
            <a:avLst/>
          </a:prstGeom>
          <a:noFill/>
        </p:spPr>
        <p:txBody>
          <a:bodyPr wrap="square" anchor="t" lIns="0" rIns="0" tIns="0" bIns="0">
            <a:spAutoFit/>
          </a:bodyPr>
          <a:lstStyle/>
          <a:p>
            <a:pPr algn="l">
              <a:lnSpc>
                <a:spcPct val="118000"/>
              </a:lnSpc>
              <a:spcAft>
                <a:spcPts val="300"/>
              </a:spcAft>
            </a:pPr>
            <a:r>
              <a:rPr sz="1150" b="1">
                <a:solidFill>
                  <a:srgbClr val="006B4A"/>
                </a:solidFill>
                <a:latin typeface="Segoe UI"/>
              </a:rPr>
              <a:t>Per-project fine-tuning</a:t>
            </a:r>
          </a:p>
        </p:txBody>
      </p:sp>
      <p:sp>
        <p:nvSpPr>
          <p:cNvPr id="22" name="TextBox 21"/>
          <p:cNvSpPr txBox="1"/>
          <p:nvPr/>
        </p:nvSpPr>
        <p:spPr>
          <a:xfrm>
            <a:off x="6419088" y="1828800"/>
            <a:ext cx="4937760" cy="310896"/>
          </a:xfrm>
          <a:prstGeom prst="rect">
            <a:avLst/>
          </a:prstGeom>
          <a:noFill/>
        </p:spPr>
        <p:txBody>
          <a:bodyPr wrap="square" anchor="t" lIns="0" rIns="0" tIns="0" bIns="0">
            <a:spAutoFit/>
          </a:bodyPr>
          <a:lstStyle/>
          <a:p>
            <a:pPr algn="l">
              <a:lnSpc>
                <a:spcPct val="118000"/>
              </a:lnSpc>
              <a:spcAft>
                <a:spcPts val="300"/>
              </a:spcAft>
            </a:pPr>
            <a:r>
              <a:rPr sz="1000" b="0">
                <a:solidFill>
                  <a:srgbClr val="1E293B"/>
                </a:solidFill>
                <a:latin typeface="Segoe UI"/>
              </a:rPr>
              <a:t>retrain on each workspace's own history once enough completed tasks exist, removing the scale-variance problem</a:t>
            </a:r>
          </a:p>
        </p:txBody>
      </p:sp>
      <p:sp>
        <p:nvSpPr>
          <p:cNvPr id="23" name="Rounded Rectangle 22"/>
          <p:cNvSpPr/>
          <p:nvPr/>
        </p:nvSpPr>
        <p:spPr>
          <a:xfrm>
            <a:off x="6199632" y="2249424"/>
            <a:ext cx="5330952" cy="694944"/>
          </a:xfrm>
          <a:prstGeom prst="roundRect">
            <a:avLst>
              <a:gd name="adj" fmla="val 5500"/>
            </a:avLst>
          </a:prstGeom>
          <a:solidFill>
            <a:srgbClr val="E6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19088" y="2359152"/>
            <a:ext cx="4846320" cy="237744"/>
          </a:xfrm>
          <a:prstGeom prst="rect">
            <a:avLst/>
          </a:prstGeom>
          <a:noFill/>
        </p:spPr>
        <p:txBody>
          <a:bodyPr wrap="square" anchor="t" lIns="0" rIns="0" tIns="0" bIns="0">
            <a:spAutoFit/>
          </a:bodyPr>
          <a:lstStyle/>
          <a:p>
            <a:pPr algn="l">
              <a:lnSpc>
                <a:spcPct val="118000"/>
              </a:lnSpc>
              <a:spcAft>
                <a:spcPts val="300"/>
              </a:spcAft>
            </a:pPr>
            <a:r>
              <a:rPr sz="1150" b="1">
                <a:solidFill>
                  <a:srgbClr val="006B4A"/>
                </a:solidFill>
                <a:latin typeface="Segoe UI"/>
              </a:rPr>
              <a:t>Richer feature set</a:t>
            </a:r>
          </a:p>
        </p:txBody>
      </p:sp>
      <p:sp>
        <p:nvSpPr>
          <p:cNvPr id="25" name="TextBox 24"/>
          <p:cNvSpPr txBox="1"/>
          <p:nvPr/>
        </p:nvSpPr>
        <p:spPr>
          <a:xfrm>
            <a:off x="6419088" y="2615184"/>
            <a:ext cx="4937760" cy="310896"/>
          </a:xfrm>
          <a:prstGeom prst="rect">
            <a:avLst/>
          </a:prstGeom>
          <a:noFill/>
        </p:spPr>
        <p:txBody>
          <a:bodyPr wrap="square" anchor="t" lIns="0" rIns="0" tIns="0" bIns="0">
            <a:spAutoFit/>
          </a:bodyPr>
          <a:lstStyle/>
          <a:p>
            <a:pPr algn="l">
              <a:lnSpc>
                <a:spcPct val="118000"/>
              </a:lnSpc>
              <a:spcAft>
                <a:spcPts val="300"/>
              </a:spcAft>
            </a:pPr>
            <a:r>
              <a:rPr sz="1000" b="0">
                <a:solidFill>
                  <a:srgbClr val="1E293B"/>
                </a:solidFill>
                <a:latin typeface="Segoe UI"/>
              </a:rPr>
              <a:t>add assignee history, dependency count and task category alongside the text representation</a:t>
            </a:r>
          </a:p>
        </p:txBody>
      </p:sp>
      <p:sp>
        <p:nvSpPr>
          <p:cNvPr id="26" name="Rounded Rectangle 25"/>
          <p:cNvSpPr/>
          <p:nvPr/>
        </p:nvSpPr>
        <p:spPr>
          <a:xfrm>
            <a:off x="6199632" y="3035808"/>
            <a:ext cx="5330952" cy="694944"/>
          </a:xfrm>
          <a:prstGeom prst="roundRect">
            <a:avLst>
              <a:gd name="adj" fmla="val 5500"/>
            </a:avLst>
          </a:prstGeom>
          <a:solidFill>
            <a:srgbClr val="E6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19088" y="3145536"/>
            <a:ext cx="4846320" cy="237744"/>
          </a:xfrm>
          <a:prstGeom prst="rect">
            <a:avLst/>
          </a:prstGeom>
          <a:noFill/>
        </p:spPr>
        <p:txBody>
          <a:bodyPr wrap="square" anchor="t" lIns="0" rIns="0" tIns="0" bIns="0">
            <a:spAutoFit/>
          </a:bodyPr>
          <a:lstStyle/>
          <a:p>
            <a:pPr algn="l">
              <a:lnSpc>
                <a:spcPct val="118000"/>
              </a:lnSpc>
              <a:spcAft>
                <a:spcPts val="300"/>
              </a:spcAft>
            </a:pPr>
            <a:r>
              <a:rPr sz="1150" b="1">
                <a:solidFill>
                  <a:srgbClr val="006B4A"/>
                </a:solidFill>
                <a:latin typeface="Segoe UI"/>
              </a:rPr>
              <a:t>Attendance fraud detection</a:t>
            </a:r>
          </a:p>
        </p:txBody>
      </p:sp>
      <p:sp>
        <p:nvSpPr>
          <p:cNvPr id="28" name="TextBox 27"/>
          <p:cNvSpPr txBox="1"/>
          <p:nvPr/>
        </p:nvSpPr>
        <p:spPr>
          <a:xfrm>
            <a:off x="6419088" y="3401568"/>
            <a:ext cx="4937760" cy="310896"/>
          </a:xfrm>
          <a:prstGeom prst="rect">
            <a:avLst/>
          </a:prstGeom>
          <a:noFill/>
        </p:spPr>
        <p:txBody>
          <a:bodyPr wrap="square" anchor="t" lIns="0" rIns="0" tIns="0" bIns="0">
            <a:spAutoFit/>
          </a:bodyPr>
          <a:lstStyle/>
          <a:p>
            <a:pPr algn="l">
              <a:lnSpc>
                <a:spcPct val="118000"/>
              </a:lnSpc>
              <a:spcAft>
                <a:spcPts val="300"/>
              </a:spcAft>
            </a:pPr>
            <a:r>
              <a:rPr sz="1000" b="0">
                <a:solidFill>
                  <a:srgbClr val="1E293B"/>
                </a:solidFill>
                <a:latin typeface="Segoe UI"/>
              </a:rPr>
              <a:t>an anomaly-detection model over the GPS, accuracy and device signals already recorded for every scan</a:t>
            </a:r>
          </a:p>
        </p:txBody>
      </p:sp>
      <p:sp>
        <p:nvSpPr>
          <p:cNvPr id="29" name="Rounded Rectangle 28"/>
          <p:cNvSpPr/>
          <p:nvPr/>
        </p:nvSpPr>
        <p:spPr>
          <a:xfrm>
            <a:off x="6199632" y="3822192"/>
            <a:ext cx="5330952" cy="694944"/>
          </a:xfrm>
          <a:prstGeom prst="roundRect">
            <a:avLst>
              <a:gd name="adj" fmla="val 5500"/>
            </a:avLst>
          </a:prstGeom>
          <a:solidFill>
            <a:srgbClr val="E6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19088" y="3931920"/>
            <a:ext cx="4846320" cy="237744"/>
          </a:xfrm>
          <a:prstGeom prst="rect">
            <a:avLst/>
          </a:prstGeom>
          <a:noFill/>
        </p:spPr>
        <p:txBody>
          <a:bodyPr wrap="square" anchor="t" lIns="0" rIns="0" tIns="0" bIns="0">
            <a:spAutoFit/>
          </a:bodyPr>
          <a:lstStyle/>
          <a:p>
            <a:pPr algn="l">
              <a:lnSpc>
                <a:spcPct val="118000"/>
              </a:lnSpc>
              <a:spcAft>
                <a:spcPts val="300"/>
              </a:spcAft>
            </a:pPr>
            <a:r>
              <a:rPr sz="1150" b="1">
                <a:solidFill>
                  <a:srgbClr val="006B4A"/>
                </a:solidFill>
                <a:latin typeface="Segoe UI"/>
              </a:rPr>
              <a:t>Continuous evaluation</a:t>
            </a:r>
          </a:p>
        </p:txBody>
      </p:sp>
      <p:sp>
        <p:nvSpPr>
          <p:cNvPr id="31" name="TextBox 30"/>
          <p:cNvSpPr txBox="1"/>
          <p:nvPr/>
        </p:nvSpPr>
        <p:spPr>
          <a:xfrm>
            <a:off x="6419088" y="4187952"/>
            <a:ext cx="4937760" cy="310896"/>
          </a:xfrm>
          <a:prstGeom prst="rect">
            <a:avLst/>
          </a:prstGeom>
          <a:noFill/>
        </p:spPr>
        <p:txBody>
          <a:bodyPr wrap="square" anchor="t" lIns="0" rIns="0" tIns="0" bIns="0">
            <a:spAutoFit/>
          </a:bodyPr>
          <a:lstStyle/>
          <a:p>
            <a:pPr algn="l">
              <a:lnSpc>
                <a:spcPct val="118000"/>
              </a:lnSpc>
              <a:spcAft>
                <a:spcPts val="300"/>
              </a:spcAft>
            </a:pPr>
            <a:r>
              <a:rPr sz="1000" b="0">
                <a:solidFill>
                  <a:srgbClr val="1E293B"/>
                </a:solidFill>
                <a:latin typeface="Segoe UI"/>
              </a:rPr>
              <a:t>compare predicted effort against logged hours as they accumulate, and report drift over time</a:t>
            </a:r>
          </a:p>
        </p:txBody>
      </p:sp>
      <p:sp>
        <p:nvSpPr>
          <p:cNvPr id="32" name="Rounded Rectangle 31"/>
          <p:cNvSpPr/>
          <p:nvPr/>
        </p:nvSpPr>
        <p:spPr>
          <a:xfrm>
            <a:off x="658368" y="4773168"/>
            <a:ext cx="10874959" cy="1371600"/>
          </a:xfrm>
          <a:prstGeom prst="roundRect">
            <a:avLst>
              <a:gd name="adj" fmla="val 5500"/>
            </a:avLst>
          </a:prstGeom>
          <a:solidFill>
            <a:srgbClr val="0B1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32688" y="4919472"/>
            <a:ext cx="9144000" cy="219456"/>
          </a:xfrm>
          <a:prstGeom prst="rect">
            <a:avLst/>
          </a:prstGeom>
          <a:noFill/>
        </p:spPr>
        <p:txBody>
          <a:bodyPr wrap="square" anchor="t" lIns="0" rIns="0" tIns="0" bIns="0">
            <a:spAutoFit/>
          </a:bodyPr>
          <a:lstStyle/>
          <a:p>
            <a:pPr algn="l">
              <a:lnSpc>
                <a:spcPct val="118000"/>
              </a:lnSpc>
              <a:spcAft>
                <a:spcPts val="300"/>
              </a:spcAft>
            </a:pPr>
            <a:r>
              <a:rPr sz="950" b="1">
                <a:solidFill>
                  <a:srgbClr val="009E6D"/>
                </a:solidFill>
                <a:latin typeface="Segoe UI"/>
              </a:rPr>
              <a:t>CONCLUSION</a:t>
            </a:r>
          </a:p>
        </p:txBody>
      </p:sp>
      <p:sp>
        <p:nvSpPr>
          <p:cNvPr id="34" name="TextBox 33"/>
          <p:cNvSpPr txBox="1"/>
          <p:nvPr/>
        </p:nvSpPr>
        <p:spPr>
          <a:xfrm>
            <a:off x="932688" y="5175504"/>
            <a:ext cx="10326319" cy="822960"/>
          </a:xfrm>
          <a:prstGeom prst="rect">
            <a:avLst/>
          </a:prstGeom>
          <a:noFill/>
        </p:spPr>
        <p:txBody>
          <a:bodyPr wrap="square" anchor="t" lIns="0" rIns="0" tIns="0" bIns="0">
            <a:spAutoFit/>
          </a:bodyPr>
          <a:lstStyle/>
          <a:p>
            <a:pPr algn="l">
              <a:lnSpc>
                <a:spcPct val="118000"/>
              </a:lnSpc>
              <a:spcAft>
                <a:spcPts val="300"/>
              </a:spcAft>
            </a:pPr>
            <a:r>
              <a:rPr sz="1150" b="0">
                <a:solidFill>
                  <a:srgbClr val="FFFFFF"/>
                </a:solidFill>
                <a:latin typeface="Segoe UI"/>
              </a:rPr>
              <a:t>DayMark delivers a complete, deployed workforce and project-delivery platform across three applications, including a correct treatment of overnight-shift attendance that conventional calendar-day logic gets wrong. Its machine-learning component was trained by us on a published benchmark corpus, evaluated against a statistical baseline and cross-validated, and — unlike the prior work surveyed here — it runs in production, where its predictions determine how project progress is calculated.</a:t>
            </a:r>
          </a:p>
        </p:txBody>
      </p:sp>
      <p:sp>
        <p:nvSpPr>
          <p:cNvPr id="35" name="Rectangle 34"/>
          <p:cNvSpPr/>
          <p:nvPr/>
        </p:nvSpPr>
        <p:spPr>
          <a:xfrm>
            <a:off x="658368" y="6419088"/>
            <a:ext cx="10874959" cy="9525"/>
          </a:xfrm>
          <a:prstGeom prst="rect">
            <a:avLst/>
          </a:prstGeom>
          <a:solidFill>
            <a:srgbClr val="DD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58368" y="6510528"/>
            <a:ext cx="6400800" cy="219456"/>
          </a:xfrm>
          <a:prstGeom prst="rect">
            <a:avLst/>
          </a:prstGeom>
          <a:noFill/>
        </p:spPr>
        <p:txBody>
          <a:bodyPr wrap="square" anchor="t" lIns="0" rIns="0" tIns="0" bIns="0">
            <a:spAutoFit/>
          </a:bodyPr>
          <a:lstStyle/>
          <a:p>
            <a:pPr algn="l">
              <a:lnSpc>
                <a:spcPct val="118000"/>
              </a:lnSpc>
              <a:spcAft>
                <a:spcPts val="300"/>
              </a:spcAft>
            </a:pPr>
            <a:r>
              <a:rPr sz="900" b="0">
                <a:solidFill>
                  <a:srgbClr val="9AA8BC"/>
                </a:solidFill>
                <a:latin typeface="Segoe UI"/>
              </a:rPr>
              <a:t>DayMark  ·  Final Year Project</a:t>
            </a:r>
          </a:p>
        </p:txBody>
      </p:sp>
      <p:sp>
        <p:nvSpPr>
          <p:cNvPr id="37" name="TextBox 36"/>
          <p:cNvSpPr txBox="1"/>
          <p:nvPr/>
        </p:nvSpPr>
        <p:spPr>
          <a:xfrm>
            <a:off x="11076127" y="6510528"/>
            <a:ext cx="457200" cy="219456"/>
          </a:xfrm>
          <a:prstGeom prst="rect">
            <a:avLst/>
          </a:prstGeom>
          <a:noFill/>
        </p:spPr>
        <p:txBody>
          <a:bodyPr wrap="square" anchor="t" lIns="0" rIns="0" tIns="0" bIns="0">
            <a:spAutoFit/>
          </a:bodyPr>
          <a:lstStyle/>
          <a:p>
            <a:pPr algn="r">
              <a:lnSpc>
                <a:spcPct val="118000"/>
              </a:lnSpc>
              <a:spcAft>
                <a:spcPts val="300"/>
              </a:spcAft>
            </a:pPr>
            <a:r>
              <a:rPr sz="900" b="1">
                <a:solidFill>
                  <a:srgbClr val="6B7A90"/>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58368" y="365760"/>
            <a:ext cx="10874959" cy="237744"/>
          </a:xfrm>
          <a:prstGeom prst="rect">
            <a:avLst/>
          </a:prstGeom>
          <a:noFill/>
        </p:spPr>
        <p:txBody>
          <a:bodyPr wrap="square" anchor="t" lIns="0" rIns="0" tIns="0" bIns="0">
            <a:spAutoFit/>
          </a:bodyPr>
          <a:lstStyle/>
          <a:p>
            <a:pPr algn="l">
              <a:lnSpc>
                <a:spcPct val="118000"/>
              </a:lnSpc>
              <a:spcAft>
                <a:spcPts val="300"/>
              </a:spcAft>
            </a:pPr>
            <a:r>
              <a:rPr sz="1100" b="1">
                <a:solidFill>
                  <a:srgbClr val="009E6D"/>
                </a:solidFill>
                <a:latin typeface="Segoe UI"/>
              </a:rPr>
              <a:t>1.8  REFERENCES</a:t>
            </a:r>
          </a:p>
        </p:txBody>
      </p:sp>
      <p:sp>
        <p:nvSpPr>
          <p:cNvPr id="5" name="TextBox 4"/>
          <p:cNvSpPr txBox="1"/>
          <p:nvPr/>
        </p:nvSpPr>
        <p:spPr>
          <a:xfrm>
            <a:off x="658368" y="603504"/>
            <a:ext cx="10874959" cy="457200"/>
          </a:xfrm>
          <a:prstGeom prst="rect">
            <a:avLst/>
          </a:prstGeom>
          <a:noFill/>
        </p:spPr>
        <p:txBody>
          <a:bodyPr wrap="square" anchor="t" lIns="0" rIns="0" tIns="0" bIns="0">
            <a:spAutoFit/>
          </a:bodyPr>
          <a:lstStyle/>
          <a:p>
            <a:pPr algn="l">
              <a:lnSpc>
                <a:spcPct val="118000"/>
              </a:lnSpc>
              <a:spcAft>
                <a:spcPts val="300"/>
              </a:spcAft>
            </a:pPr>
            <a:r>
              <a:rPr sz="2600" b="1">
                <a:solidFill>
                  <a:srgbClr val="0B1224"/>
                </a:solidFill>
                <a:latin typeface="Segoe UI"/>
              </a:rPr>
              <a:t>References</a:t>
            </a:r>
          </a:p>
        </p:txBody>
      </p:sp>
      <p:sp>
        <p:nvSpPr>
          <p:cNvPr id="6" name="Rounded Rectangle 5"/>
          <p:cNvSpPr/>
          <p:nvPr/>
        </p:nvSpPr>
        <p:spPr>
          <a:xfrm>
            <a:off x="658368" y="1152144"/>
            <a:ext cx="10874959" cy="749808"/>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77824" y="1280160"/>
            <a:ext cx="457200" cy="237744"/>
          </a:xfrm>
          <a:prstGeom prst="rect">
            <a:avLst/>
          </a:prstGeom>
          <a:noFill/>
        </p:spPr>
        <p:txBody>
          <a:bodyPr wrap="square" anchor="t" lIns="0" rIns="0" tIns="0" bIns="0">
            <a:spAutoFit/>
          </a:bodyPr>
          <a:lstStyle/>
          <a:p>
            <a:pPr algn="l">
              <a:lnSpc>
                <a:spcPct val="118000"/>
              </a:lnSpc>
              <a:spcAft>
                <a:spcPts val="300"/>
              </a:spcAft>
            </a:pPr>
            <a:r>
              <a:rPr sz="1200" b="1">
                <a:solidFill>
                  <a:srgbClr val="009E6D"/>
                </a:solidFill>
                <a:latin typeface="Segoe UI"/>
              </a:rPr>
              <a:t>[1]</a:t>
            </a:r>
          </a:p>
        </p:txBody>
      </p:sp>
      <p:sp>
        <p:nvSpPr>
          <p:cNvPr id="8" name="TextBox 7"/>
          <p:cNvSpPr txBox="1"/>
          <p:nvPr/>
        </p:nvSpPr>
        <p:spPr>
          <a:xfrm>
            <a:off x="1371600" y="1261872"/>
            <a:ext cx="9966960" cy="237744"/>
          </a:xfrm>
          <a:prstGeom prst="rect">
            <a:avLst/>
          </a:prstGeom>
          <a:noFill/>
        </p:spPr>
        <p:txBody>
          <a:bodyPr wrap="square" anchor="t" lIns="0" rIns="0" tIns="0" bIns="0">
            <a:spAutoFit/>
          </a:bodyPr>
          <a:lstStyle/>
          <a:p>
            <a:pPr algn="l">
              <a:lnSpc>
                <a:spcPct val="118000"/>
              </a:lnSpc>
              <a:spcAft>
                <a:spcPts val="300"/>
              </a:spcAft>
            </a:pPr>
            <a:r>
              <a:rPr sz="1100" b="1">
                <a:solidFill>
                  <a:srgbClr val="0B1224"/>
                </a:solidFill>
                <a:latin typeface="Segoe UI"/>
              </a:rPr>
              <a:t>M. Choetkiertikul, H. K. Dam, T. Tran, T. Pham, A. Ghose and T. Menzies,</a:t>
            </a:r>
          </a:p>
        </p:txBody>
      </p:sp>
      <p:sp>
        <p:nvSpPr>
          <p:cNvPr id="9" name="TextBox 8"/>
          <p:cNvSpPr txBox="1"/>
          <p:nvPr/>
        </p:nvSpPr>
        <p:spPr>
          <a:xfrm>
            <a:off x="1371600" y="1517904"/>
            <a:ext cx="9966960" cy="329184"/>
          </a:xfrm>
          <a:prstGeom prst="rect">
            <a:avLst/>
          </a:prstGeom>
          <a:noFill/>
        </p:spPr>
        <p:txBody>
          <a:bodyPr wrap="square" anchor="t" lIns="0" rIns="0" tIns="0" bIns="0">
            <a:spAutoFit/>
          </a:bodyPr>
          <a:lstStyle/>
          <a:p>
            <a:pPr algn="l">
              <a:lnSpc>
                <a:spcPct val="118000"/>
              </a:lnSpc>
              <a:spcAft>
                <a:spcPts val="300"/>
              </a:spcAft>
            </a:pPr>
            <a:r>
              <a:rPr sz="1000" b="0">
                <a:solidFill>
                  <a:srgbClr val="3A485C"/>
                </a:solidFill>
                <a:latin typeface="Segoe UI"/>
              </a:rPr>
              <a:t>“A Deep Learning Model for Estimating Story Points,” IEEE Transactions on Software Engineering, vol. 45, no. 7, pp. 637–656, 2019.   —  base paper and source of the dataset</a:t>
            </a:r>
          </a:p>
        </p:txBody>
      </p:sp>
      <p:sp>
        <p:nvSpPr>
          <p:cNvPr id="10" name="Rounded Rectangle 9"/>
          <p:cNvSpPr/>
          <p:nvPr/>
        </p:nvSpPr>
        <p:spPr>
          <a:xfrm>
            <a:off x="658368" y="1993392"/>
            <a:ext cx="10874959" cy="749808"/>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77824" y="2121408"/>
            <a:ext cx="457200" cy="237744"/>
          </a:xfrm>
          <a:prstGeom prst="rect">
            <a:avLst/>
          </a:prstGeom>
          <a:noFill/>
        </p:spPr>
        <p:txBody>
          <a:bodyPr wrap="square" anchor="t" lIns="0" rIns="0" tIns="0" bIns="0">
            <a:spAutoFit/>
          </a:bodyPr>
          <a:lstStyle/>
          <a:p>
            <a:pPr algn="l">
              <a:lnSpc>
                <a:spcPct val="118000"/>
              </a:lnSpc>
              <a:spcAft>
                <a:spcPts val="300"/>
              </a:spcAft>
            </a:pPr>
            <a:r>
              <a:rPr sz="1200" b="1">
                <a:solidFill>
                  <a:srgbClr val="009E6D"/>
                </a:solidFill>
                <a:latin typeface="Segoe UI"/>
              </a:rPr>
              <a:t>[2]</a:t>
            </a:r>
          </a:p>
        </p:txBody>
      </p:sp>
      <p:sp>
        <p:nvSpPr>
          <p:cNvPr id="12" name="TextBox 11"/>
          <p:cNvSpPr txBox="1"/>
          <p:nvPr/>
        </p:nvSpPr>
        <p:spPr>
          <a:xfrm>
            <a:off x="1371600" y="2103120"/>
            <a:ext cx="9966960" cy="237744"/>
          </a:xfrm>
          <a:prstGeom prst="rect">
            <a:avLst/>
          </a:prstGeom>
          <a:noFill/>
        </p:spPr>
        <p:txBody>
          <a:bodyPr wrap="square" anchor="t" lIns="0" rIns="0" tIns="0" bIns="0">
            <a:spAutoFit/>
          </a:bodyPr>
          <a:lstStyle/>
          <a:p>
            <a:pPr algn="l">
              <a:lnSpc>
                <a:spcPct val="118000"/>
              </a:lnSpc>
              <a:spcAft>
                <a:spcPts val="300"/>
              </a:spcAft>
            </a:pPr>
            <a:r>
              <a:rPr sz="1100" b="1">
                <a:solidFill>
                  <a:srgbClr val="0B1224"/>
                </a:solidFill>
                <a:latin typeface="Segoe UI"/>
              </a:rPr>
              <a:t>V. Tawosi, R. Moussa and F. Sarro,</a:t>
            </a:r>
          </a:p>
        </p:txBody>
      </p:sp>
      <p:sp>
        <p:nvSpPr>
          <p:cNvPr id="13" name="TextBox 12"/>
          <p:cNvSpPr txBox="1"/>
          <p:nvPr/>
        </p:nvSpPr>
        <p:spPr>
          <a:xfrm>
            <a:off x="1371600" y="2359152"/>
            <a:ext cx="9966960" cy="329184"/>
          </a:xfrm>
          <a:prstGeom prst="rect">
            <a:avLst/>
          </a:prstGeom>
          <a:noFill/>
        </p:spPr>
        <p:txBody>
          <a:bodyPr wrap="square" anchor="t" lIns="0" rIns="0" tIns="0" bIns="0">
            <a:spAutoFit/>
          </a:bodyPr>
          <a:lstStyle/>
          <a:p>
            <a:pPr algn="l">
              <a:lnSpc>
                <a:spcPct val="118000"/>
              </a:lnSpc>
              <a:spcAft>
                <a:spcPts val="300"/>
              </a:spcAft>
            </a:pPr>
            <a:r>
              <a:rPr sz="1000" b="0">
                <a:solidFill>
                  <a:srgbClr val="3A485C"/>
                </a:solidFill>
                <a:latin typeface="Segoe UI"/>
              </a:rPr>
              <a:t>“Agile Effort Estimation: Have We Solved the Problem Yet? Insights From a Replication Study,” IEEE Transactions on Software Engineering, 2023. doi:10.1109/TSE.2022.3228739</a:t>
            </a:r>
          </a:p>
        </p:txBody>
      </p:sp>
      <p:sp>
        <p:nvSpPr>
          <p:cNvPr id="14" name="Rounded Rectangle 13"/>
          <p:cNvSpPr/>
          <p:nvPr/>
        </p:nvSpPr>
        <p:spPr>
          <a:xfrm>
            <a:off x="658368" y="2834640"/>
            <a:ext cx="10874959" cy="749808"/>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77824" y="2962656"/>
            <a:ext cx="457200" cy="237744"/>
          </a:xfrm>
          <a:prstGeom prst="rect">
            <a:avLst/>
          </a:prstGeom>
          <a:noFill/>
        </p:spPr>
        <p:txBody>
          <a:bodyPr wrap="square" anchor="t" lIns="0" rIns="0" tIns="0" bIns="0">
            <a:spAutoFit/>
          </a:bodyPr>
          <a:lstStyle/>
          <a:p>
            <a:pPr algn="l">
              <a:lnSpc>
                <a:spcPct val="118000"/>
              </a:lnSpc>
              <a:spcAft>
                <a:spcPts val="300"/>
              </a:spcAft>
            </a:pPr>
            <a:r>
              <a:rPr sz="1200" b="1">
                <a:solidFill>
                  <a:srgbClr val="009E6D"/>
                </a:solidFill>
                <a:latin typeface="Segoe UI"/>
              </a:rPr>
              <a:t>[3]</a:t>
            </a:r>
          </a:p>
        </p:txBody>
      </p:sp>
      <p:sp>
        <p:nvSpPr>
          <p:cNvPr id="16" name="TextBox 15"/>
          <p:cNvSpPr txBox="1"/>
          <p:nvPr/>
        </p:nvSpPr>
        <p:spPr>
          <a:xfrm>
            <a:off x="1371600" y="2944368"/>
            <a:ext cx="9966960" cy="237744"/>
          </a:xfrm>
          <a:prstGeom prst="rect">
            <a:avLst/>
          </a:prstGeom>
          <a:noFill/>
        </p:spPr>
        <p:txBody>
          <a:bodyPr wrap="square" anchor="t" lIns="0" rIns="0" tIns="0" bIns="0">
            <a:spAutoFit/>
          </a:bodyPr>
          <a:lstStyle/>
          <a:p>
            <a:pPr algn="l">
              <a:lnSpc>
                <a:spcPct val="118000"/>
              </a:lnSpc>
              <a:spcAft>
                <a:spcPts val="300"/>
              </a:spcAft>
            </a:pPr>
            <a:r>
              <a:rPr sz="1100" b="1">
                <a:solidFill>
                  <a:srgbClr val="0B1224"/>
                </a:solidFill>
                <a:latin typeface="Segoe UI"/>
              </a:rPr>
              <a:t>S. Porru, A. Murgia, S. Demeyer, M. Marchesi and R. Tonelli,</a:t>
            </a:r>
          </a:p>
        </p:txBody>
      </p:sp>
      <p:sp>
        <p:nvSpPr>
          <p:cNvPr id="17" name="TextBox 16"/>
          <p:cNvSpPr txBox="1"/>
          <p:nvPr/>
        </p:nvSpPr>
        <p:spPr>
          <a:xfrm>
            <a:off x="1371600" y="3200400"/>
            <a:ext cx="9966960" cy="329184"/>
          </a:xfrm>
          <a:prstGeom prst="rect">
            <a:avLst/>
          </a:prstGeom>
          <a:noFill/>
        </p:spPr>
        <p:txBody>
          <a:bodyPr wrap="square" anchor="t" lIns="0" rIns="0" tIns="0" bIns="0">
            <a:spAutoFit/>
          </a:bodyPr>
          <a:lstStyle/>
          <a:p>
            <a:pPr algn="l">
              <a:lnSpc>
                <a:spcPct val="118000"/>
              </a:lnSpc>
              <a:spcAft>
                <a:spcPts val="300"/>
              </a:spcAft>
            </a:pPr>
            <a:r>
              <a:rPr sz="1000" b="0">
                <a:solidFill>
                  <a:srgbClr val="3A485C"/>
                </a:solidFill>
                <a:latin typeface="Segoe UI"/>
              </a:rPr>
              <a:t>“Estimating Story Points from Issue Reports,” Proc. 12th Int. Conf. on Predictive Models in Software Engineering (PROMISE), 2016. doi:10.1145/2972958.2972959</a:t>
            </a:r>
          </a:p>
        </p:txBody>
      </p:sp>
      <p:sp>
        <p:nvSpPr>
          <p:cNvPr id="18" name="Rounded Rectangle 17"/>
          <p:cNvSpPr/>
          <p:nvPr/>
        </p:nvSpPr>
        <p:spPr>
          <a:xfrm>
            <a:off x="658368" y="3675888"/>
            <a:ext cx="10874959" cy="749808"/>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77824" y="3803904"/>
            <a:ext cx="457200" cy="237744"/>
          </a:xfrm>
          <a:prstGeom prst="rect">
            <a:avLst/>
          </a:prstGeom>
          <a:noFill/>
        </p:spPr>
        <p:txBody>
          <a:bodyPr wrap="square" anchor="t" lIns="0" rIns="0" tIns="0" bIns="0">
            <a:spAutoFit/>
          </a:bodyPr>
          <a:lstStyle/>
          <a:p>
            <a:pPr algn="l">
              <a:lnSpc>
                <a:spcPct val="118000"/>
              </a:lnSpc>
              <a:spcAft>
                <a:spcPts val="300"/>
              </a:spcAft>
            </a:pPr>
            <a:r>
              <a:rPr sz="1200" b="1">
                <a:solidFill>
                  <a:srgbClr val="009E6D"/>
                </a:solidFill>
                <a:latin typeface="Segoe UI"/>
              </a:rPr>
              <a:t>[4]</a:t>
            </a:r>
          </a:p>
        </p:txBody>
      </p:sp>
      <p:sp>
        <p:nvSpPr>
          <p:cNvPr id="20" name="TextBox 19"/>
          <p:cNvSpPr txBox="1"/>
          <p:nvPr/>
        </p:nvSpPr>
        <p:spPr>
          <a:xfrm>
            <a:off x="1371600" y="3785616"/>
            <a:ext cx="9966960" cy="237744"/>
          </a:xfrm>
          <a:prstGeom prst="rect">
            <a:avLst/>
          </a:prstGeom>
          <a:noFill/>
        </p:spPr>
        <p:txBody>
          <a:bodyPr wrap="square" anchor="t" lIns="0" rIns="0" tIns="0" bIns="0">
            <a:spAutoFit/>
          </a:bodyPr>
          <a:lstStyle/>
          <a:p>
            <a:pPr algn="l">
              <a:lnSpc>
                <a:spcPct val="118000"/>
              </a:lnSpc>
              <a:spcAft>
                <a:spcPts val="300"/>
              </a:spcAft>
            </a:pPr>
            <a:r>
              <a:rPr sz="1100" b="1">
                <a:solidFill>
                  <a:srgbClr val="0B1224"/>
                </a:solidFill>
                <a:latin typeface="Segoe UI"/>
              </a:rPr>
              <a:t>M. Fu and C. Tantithamthavorn,</a:t>
            </a:r>
          </a:p>
        </p:txBody>
      </p:sp>
      <p:sp>
        <p:nvSpPr>
          <p:cNvPr id="21" name="TextBox 20"/>
          <p:cNvSpPr txBox="1"/>
          <p:nvPr/>
        </p:nvSpPr>
        <p:spPr>
          <a:xfrm>
            <a:off x="1371600" y="4041648"/>
            <a:ext cx="9966960" cy="329184"/>
          </a:xfrm>
          <a:prstGeom prst="rect">
            <a:avLst/>
          </a:prstGeom>
          <a:noFill/>
        </p:spPr>
        <p:txBody>
          <a:bodyPr wrap="square" anchor="t" lIns="0" rIns="0" tIns="0" bIns="0">
            <a:spAutoFit/>
          </a:bodyPr>
          <a:lstStyle/>
          <a:p>
            <a:pPr algn="l">
              <a:lnSpc>
                <a:spcPct val="118000"/>
              </a:lnSpc>
              <a:spcAft>
                <a:spcPts val="300"/>
              </a:spcAft>
            </a:pPr>
            <a:r>
              <a:rPr sz="1000" b="0">
                <a:solidFill>
                  <a:srgbClr val="3A485C"/>
                </a:solidFill>
                <a:latin typeface="Segoe UI"/>
              </a:rPr>
              <a:t>“GPT2SP: A Transformer-Based Agile Story Point Estimation Approach,” IEEE Transactions on Software Engineering, vol. 49, no. 2, pp. 611–625, 2023.</a:t>
            </a:r>
          </a:p>
        </p:txBody>
      </p:sp>
      <p:sp>
        <p:nvSpPr>
          <p:cNvPr id="22" name="Rounded Rectangle 21"/>
          <p:cNvSpPr/>
          <p:nvPr/>
        </p:nvSpPr>
        <p:spPr>
          <a:xfrm>
            <a:off x="658368" y="4517136"/>
            <a:ext cx="10874959" cy="749808"/>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77824" y="4645152"/>
            <a:ext cx="457200" cy="237744"/>
          </a:xfrm>
          <a:prstGeom prst="rect">
            <a:avLst/>
          </a:prstGeom>
          <a:noFill/>
        </p:spPr>
        <p:txBody>
          <a:bodyPr wrap="square" anchor="t" lIns="0" rIns="0" tIns="0" bIns="0">
            <a:spAutoFit/>
          </a:bodyPr>
          <a:lstStyle/>
          <a:p>
            <a:pPr algn="l">
              <a:lnSpc>
                <a:spcPct val="118000"/>
              </a:lnSpc>
              <a:spcAft>
                <a:spcPts val="300"/>
              </a:spcAft>
            </a:pPr>
            <a:r>
              <a:rPr sz="1200" b="1">
                <a:solidFill>
                  <a:srgbClr val="009E6D"/>
                </a:solidFill>
                <a:latin typeface="Segoe UI"/>
              </a:rPr>
              <a:t>[5]</a:t>
            </a:r>
          </a:p>
        </p:txBody>
      </p:sp>
      <p:sp>
        <p:nvSpPr>
          <p:cNvPr id="24" name="TextBox 23"/>
          <p:cNvSpPr txBox="1"/>
          <p:nvPr/>
        </p:nvSpPr>
        <p:spPr>
          <a:xfrm>
            <a:off x="1371600" y="4626864"/>
            <a:ext cx="9966960" cy="237744"/>
          </a:xfrm>
          <a:prstGeom prst="rect">
            <a:avLst/>
          </a:prstGeom>
          <a:noFill/>
        </p:spPr>
        <p:txBody>
          <a:bodyPr wrap="square" anchor="t" lIns="0" rIns="0" tIns="0" bIns="0">
            <a:spAutoFit/>
          </a:bodyPr>
          <a:lstStyle/>
          <a:p>
            <a:pPr algn="l">
              <a:lnSpc>
                <a:spcPct val="118000"/>
              </a:lnSpc>
              <a:spcAft>
                <a:spcPts val="300"/>
              </a:spcAft>
            </a:pPr>
            <a:r>
              <a:rPr sz="1100" b="1">
                <a:solidFill>
                  <a:srgbClr val="0B1224"/>
                </a:solidFill>
                <a:latin typeface="Segoe UI"/>
              </a:rPr>
              <a:t>E. Scott and D. Pfahl,</a:t>
            </a:r>
          </a:p>
        </p:txBody>
      </p:sp>
      <p:sp>
        <p:nvSpPr>
          <p:cNvPr id="25" name="TextBox 24"/>
          <p:cNvSpPr txBox="1"/>
          <p:nvPr/>
        </p:nvSpPr>
        <p:spPr>
          <a:xfrm>
            <a:off x="1371600" y="4882896"/>
            <a:ext cx="9966960" cy="329184"/>
          </a:xfrm>
          <a:prstGeom prst="rect">
            <a:avLst/>
          </a:prstGeom>
          <a:noFill/>
        </p:spPr>
        <p:txBody>
          <a:bodyPr wrap="square" anchor="t" lIns="0" rIns="0" tIns="0" bIns="0">
            <a:spAutoFit/>
          </a:bodyPr>
          <a:lstStyle/>
          <a:p>
            <a:pPr algn="l">
              <a:lnSpc>
                <a:spcPct val="118000"/>
              </a:lnSpc>
              <a:spcAft>
                <a:spcPts val="300"/>
              </a:spcAft>
            </a:pPr>
            <a:r>
              <a:rPr sz="1000" b="0">
                <a:solidFill>
                  <a:srgbClr val="3A485C"/>
                </a:solidFill>
                <a:latin typeface="Segoe UI"/>
              </a:rPr>
              <a:t>“Using Developers' Features to Estimate Story Points,” in Proc. Int. Conf. on Software and System Process (ICSSP), 2018. doi:10.1145/3202710.3203160</a:t>
            </a:r>
          </a:p>
        </p:txBody>
      </p:sp>
      <p:sp>
        <p:nvSpPr>
          <p:cNvPr id="26" name="Rounded Rectangle 25"/>
          <p:cNvSpPr/>
          <p:nvPr/>
        </p:nvSpPr>
        <p:spPr>
          <a:xfrm>
            <a:off x="658368" y="5358384"/>
            <a:ext cx="10874959" cy="749808"/>
          </a:xfrm>
          <a:prstGeom prst="roundRect">
            <a:avLst>
              <a:gd name="adj" fmla="val 5500"/>
            </a:avLst>
          </a:prstGeom>
          <a:solidFill>
            <a:srgbClr val="FFFFFF"/>
          </a:solidFill>
          <a:ln w="1270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77824" y="5486400"/>
            <a:ext cx="457200" cy="237744"/>
          </a:xfrm>
          <a:prstGeom prst="rect">
            <a:avLst/>
          </a:prstGeom>
          <a:noFill/>
        </p:spPr>
        <p:txBody>
          <a:bodyPr wrap="square" anchor="t" lIns="0" rIns="0" tIns="0" bIns="0">
            <a:spAutoFit/>
          </a:bodyPr>
          <a:lstStyle/>
          <a:p>
            <a:pPr algn="l">
              <a:lnSpc>
                <a:spcPct val="118000"/>
              </a:lnSpc>
              <a:spcAft>
                <a:spcPts val="300"/>
              </a:spcAft>
            </a:pPr>
            <a:r>
              <a:rPr sz="1200" b="1">
                <a:solidFill>
                  <a:srgbClr val="009E6D"/>
                </a:solidFill>
                <a:latin typeface="Segoe UI"/>
              </a:rPr>
              <a:t>[6]</a:t>
            </a:r>
          </a:p>
        </p:txBody>
      </p:sp>
      <p:sp>
        <p:nvSpPr>
          <p:cNvPr id="28" name="TextBox 27"/>
          <p:cNvSpPr txBox="1"/>
          <p:nvPr/>
        </p:nvSpPr>
        <p:spPr>
          <a:xfrm>
            <a:off x="1371600" y="5468112"/>
            <a:ext cx="9966960" cy="237744"/>
          </a:xfrm>
          <a:prstGeom prst="rect">
            <a:avLst/>
          </a:prstGeom>
          <a:noFill/>
        </p:spPr>
        <p:txBody>
          <a:bodyPr wrap="square" anchor="t" lIns="0" rIns="0" tIns="0" bIns="0">
            <a:spAutoFit/>
          </a:bodyPr>
          <a:lstStyle/>
          <a:p>
            <a:pPr algn="l">
              <a:lnSpc>
                <a:spcPct val="118000"/>
              </a:lnSpc>
              <a:spcAft>
                <a:spcPts val="300"/>
              </a:spcAft>
            </a:pPr>
            <a:r>
              <a:rPr sz="1100" b="1">
                <a:solidFill>
                  <a:srgbClr val="0B1224"/>
                </a:solidFill>
                <a:latin typeface="Segoe UI"/>
              </a:rPr>
              <a:t>V. Tawosi, R. Moussa and F. Sarro,</a:t>
            </a:r>
          </a:p>
        </p:txBody>
      </p:sp>
      <p:sp>
        <p:nvSpPr>
          <p:cNvPr id="29" name="TextBox 28"/>
          <p:cNvSpPr txBox="1"/>
          <p:nvPr/>
        </p:nvSpPr>
        <p:spPr>
          <a:xfrm>
            <a:off x="1371600" y="5724144"/>
            <a:ext cx="9966960" cy="329184"/>
          </a:xfrm>
          <a:prstGeom prst="rect">
            <a:avLst/>
          </a:prstGeom>
          <a:noFill/>
        </p:spPr>
        <p:txBody>
          <a:bodyPr wrap="square" anchor="t" lIns="0" rIns="0" tIns="0" bIns="0">
            <a:spAutoFit/>
          </a:bodyPr>
          <a:lstStyle/>
          <a:p>
            <a:pPr algn="l">
              <a:lnSpc>
                <a:spcPct val="118000"/>
              </a:lnSpc>
              <a:spcAft>
                <a:spcPts val="300"/>
              </a:spcAft>
            </a:pPr>
            <a:r>
              <a:rPr sz="1000" b="0">
                <a:solidFill>
                  <a:srgbClr val="3A485C"/>
                </a:solidFill>
                <a:latin typeface="Segoe UI"/>
              </a:rPr>
              <a:t>“Agile Effort Estimation: Have We Solved the Problem Yet? Insights From a Second Replication Study (GPT2SP Replication Report),” arXiv:2209.00437, 2022.</a:t>
            </a:r>
          </a:p>
        </p:txBody>
      </p:sp>
      <p:sp>
        <p:nvSpPr>
          <p:cNvPr id="30" name="Rectangle 29"/>
          <p:cNvSpPr/>
          <p:nvPr/>
        </p:nvSpPr>
        <p:spPr>
          <a:xfrm>
            <a:off x="658368" y="6419088"/>
            <a:ext cx="10874959" cy="9525"/>
          </a:xfrm>
          <a:prstGeom prst="rect">
            <a:avLst/>
          </a:prstGeom>
          <a:solidFill>
            <a:srgbClr val="DD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58368" y="6510528"/>
            <a:ext cx="6400800" cy="219456"/>
          </a:xfrm>
          <a:prstGeom prst="rect">
            <a:avLst/>
          </a:prstGeom>
          <a:noFill/>
        </p:spPr>
        <p:txBody>
          <a:bodyPr wrap="square" anchor="t" lIns="0" rIns="0" tIns="0" bIns="0">
            <a:spAutoFit/>
          </a:bodyPr>
          <a:lstStyle/>
          <a:p>
            <a:pPr algn="l">
              <a:lnSpc>
                <a:spcPct val="118000"/>
              </a:lnSpc>
              <a:spcAft>
                <a:spcPts val="300"/>
              </a:spcAft>
            </a:pPr>
            <a:r>
              <a:rPr sz="900" b="0">
                <a:solidFill>
                  <a:srgbClr val="9AA8BC"/>
                </a:solidFill>
                <a:latin typeface="Segoe UI"/>
              </a:rPr>
              <a:t>DayMark  ·  Final Year Project</a:t>
            </a:r>
          </a:p>
        </p:txBody>
      </p:sp>
      <p:sp>
        <p:nvSpPr>
          <p:cNvPr id="32" name="TextBox 31"/>
          <p:cNvSpPr txBox="1"/>
          <p:nvPr/>
        </p:nvSpPr>
        <p:spPr>
          <a:xfrm>
            <a:off x="11076127" y="6510528"/>
            <a:ext cx="457200" cy="219456"/>
          </a:xfrm>
          <a:prstGeom prst="rect">
            <a:avLst/>
          </a:prstGeom>
          <a:noFill/>
        </p:spPr>
        <p:txBody>
          <a:bodyPr wrap="square" anchor="t" lIns="0" rIns="0" tIns="0" bIns="0">
            <a:spAutoFit/>
          </a:bodyPr>
          <a:lstStyle/>
          <a:p>
            <a:pPr algn="r">
              <a:lnSpc>
                <a:spcPct val="118000"/>
              </a:lnSpc>
              <a:spcAft>
                <a:spcPts val="300"/>
              </a:spcAft>
            </a:pPr>
            <a:r>
              <a:rPr sz="900" b="1">
                <a:solidFill>
                  <a:srgbClr val="6B7A90"/>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8016" cy="6858000"/>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14400" y="1188720"/>
            <a:ext cx="8229600" cy="256032"/>
          </a:xfrm>
          <a:prstGeom prst="rect">
            <a:avLst/>
          </a:prstGeom>
          <a:noFill/>
        </p:spPr>
        <p:txBody>
          <a:bodyPr wrap="square" anchor="t" lIns="0" rIns="0" tIns="0" bIns="0">
            <a:spAutoFit/>
          </a:bodyPr>
          <a:lstStyle/>
          <a:p>
            <a:pPr algn="l">
              <a:lnSpc>
                <a:spcPct val="118000"/>
              </a:lnSpc>
              <a:spcAft>
                <a:spcPts val="300"/>
              </a:spcAft>
            </a:pPr>
            <a:r>
              <a:rPr sz="1150" b="1">
                <a:solidFill>
                  <a:srgbClr val="009E6D"/>
                </a:solidFill>
                <a:latin typeface="Segoe UI"/>
              </a:rPr>
              <a:t>SUMMARY</a:t>
            </a:r>
          </a:p>
        </p:txBody>
      </p:sp>
      <p:sp>
        <p:nvSpPr>
          <p:cNvPr id="5" name="TextBox 4"/>
          <p:cNvSpPr txBox="1"/>
          <p:nvPr/>
        </p:nvSpPr>
        <p:spPr>
          <a:xfrm>
            <a:off x="914400" y="1554480"/>
            <a:ext cx="10058400" cy="640080"/>
          </a:xfrm>
          <a:prstGeom prst="rect">
            <a:avLst/>
          </a:prstGeom>
          <a:noFill/>
        </p:spPr>
        <p:txBody>
          <a:bodyPr wrap="square" anchor="t" lIns="0" rIns="0" tIns="0" bIns="0">
            <a:spAutoFit/>
          </a:bodyPr>
          <a:lstStyle/>
          <a:p>
            <a:pPr algn="l">
              <a:lnSpc>
                <a:spcPct val="118000"/>
              </a:lnSpc>
              <a:spcAft>
                <a:spcPts val="300"/>
              </a:spcAft>
            </a:pPr>
            <a:r>
              <a:rPr sz="4000" b="1">
                <a:solidFill>
                  <a:srgbClr val="FFFFFF"/>
                </a:solidFill>
                <a:latin typeface="Segoe UI"/>
              </a:rPr>
              <a:t>Thank you</a:t>
            </a:r>
          </a:p>
        </p:txBody>
      </p:sp>
      <p:sp>
        <p:nvSpPr>
          <p:cNvPr id="6" name="Rectangle 5"/>
          <p:cNvSpPr/>
          <p:nvPr/>
        </p:nvSpPr>
        <p:spPr>
          <a:xfrm>
            <a:off x="914400" y="2359152"/>
            <a:ext cx="1188720" cy="38100"/>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2779776"/>
            <a:ext cx="36576" cy="493776"/>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52144" y="2724912"/>
            <a:ext cx="3657600" cy="274320"/>
          </a:xfrm>
          <a:prstGeom prst="rect">
            <a:avLst/>
          </a:prstGeom>
          <a:noFill/>
        </p:spPr>
        <p:txBody>
          <a:bodyPr wrap="square" anchor="t" lIns="0" rIns="0" tIns="0" bIns="0">
            <a:spAutoFit/>
          </a:bodyPr>
          <a:lstStyle/>
          <a:p>
            <a:pPr algn="l">
              <a:lnSpc>
                <a:spcPct val="118000"/>
              </a:lnSpc>
              <a:spcAft>
                <a:spcPts val="300"/>
              </a:spcAft>
            </a:pPr>
            <a:r>
              <a:rPr sz="1400" b="1">
                <a:solidFill>
                  <a:srgbClr val="FFFFFF"/>
                </a:solidFill>
                <a:latin typeface="Segoe UI"/>
              </a:rPr>
              <a:t>Deployed platform</a:t>
            </a:r>
          </a:p>
        </p:txBody>
      </p:sp>
      <p:sp>
        <p:nvSpPr>
          <p:cNvPr id="9" name="TextBox 8"/>
          <p:cNvSpPr txBox="1"/>
          <p:nvPr/>
        </p:nvSpPr>
        <p:spPr>
          <a:xfrm>
            <a:off x="4937760" y="2743200"/>
            <a:ext cx="6400800" cy="502920"/>
          </a:xfrm>
          <a:prstGeom prst="rect">
            <a:avLst/>
          </a:prstGeom>
          <a:noFill/>
        </p:spPr>
        <p:txBody>
          <a:bodyPr wrap="square" anchor="t" lIns="0" rIns="0" tIns="0" bIns="0">
            <a:spAutoFit/>
          </a:bodyPr>
          <a:lstStyle/>
          <a:p>
            <a:pPr algn="l">
              <a:lnSpc>
                <a:spcPct val="118000"/>
              </a:lnSpc>
              <a:spcAft>
                <a:spcPts val="300"/>
              </a:spcAft>
            </a:pPr>
            <a:r>
              <a:rPr sz="1150" b="0">
                <a:solidFill>
                  <a:srgbClr val="A9BCCE"/>
                </a:solidFill>
                <a:latin typeface="Segoe UI"/>
              </a:rPr>
              <a:t>three applications on one database, one permission model, in production</a:t>
            </a:r>
          </a:p>
        </p:txBody>
      </p:sp>
      <p:sp>
        <p:nvSpPr>
          <p:cNvPr id="10" name="Rectangle 9"/>
          <p:cNvSpPr/>
          <p:nvPr/>
        </p:nvSpPr>
        <p:spPr>
          <a:xfrm>
            <a:off x="914400" y="3529584"/>
            <a:ext cx="36576" cy="493776"/>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52144" y="3474720"/>
            <a:ext cx="3657600" cy="274320"/>
          </a:xfrm>
          <a:prstGeom prst="rect">
            <a:avLst/>
          </a:prstGeom>
          <a:noFill/>
        </p:spPr>
        <p:txBody>
          <a:bodyPr wrap="square" anchor="t" lIns="0" rIns="0" tIns="0" bIns="0">
            <a:spAutoFit/>
          </a:bodyPr>
          <a:lstStyle/>
          <a:p>
            <a:pPr algn="l">
              <a:lnSpc>
                <a:spcPct val="118000"/>
              </a:lnSpc>
              <a:spcAft>
                <a:spcPts val="300"/>
              </a:spcAft>
            </a:pPr>
            <a:r>
              <a:rPr sz="1400" b="1">
                <a:solidFill>
                  <a:srgbClr val="FFFFFF"/>
                </a:solidFill>
                <a:latin typeface="Segoe UI"/>
              </a:rPr>
              <a:t>A model we trained</a:t>
            </a:r>
          </a:p>
        </p:txBody>
      </p:sp>
      <p:sp>
        <p:nvSpPr>
          <p:cNvPr id="12" name="TextBox 11"/>
          <p:cNvSpPr txBox="1"/>
          <p:nvPr/>
        </p:nvSpPr>
        <p:spPr>
          <a:xfrm>
            <a:off x="4937760" y="3493008"/>
            <a:ext cx="6400800" cy="502920"/>
          </a:xfrm>
          <a:prstGeom prst="rect">
            <a:avLst/>
          </a:prstGeom>
          <a:noFill/>
        </p:spPr>
        <p:txBody>
          <a:bodyPr wrap="square" anchor="t" lIns="0" rIns="0" tIns="0" bIns="0">
            <a:spAutoFit/>
          </a:bodyPr>
          <a:lstStyle/>
          <a:p>
            <a:pPr algn="l">
              <a:lnSpc>
                <a:spcPct val="118000"/>
              </a:lnSpc>
              <a:spcAft>
                <a:spcPts val="300"/>
              </a:spcAft>
            </a:pPr>
            <a:r>
              <a:rPr sz="1150" b="0">
                <a:solidFill>
                  <a:srgbClr val="A9BCCE"/>
                </a:solidFill>
                <a:latin typeface="Segoe UI"/>
              </a:rPr>
              <a:t>TF-IDF and Ridge regression on 22,612 labelled issues from a published benchmark</a:t>
            </a:r>
          </a:p>
        </p:txBody>
      </p:sp>
      <p:sp>
        <p:nvSpPr>
          <p:cNvPr id="13" name="Rectangle 12"/>
          <p:cNvSpPr/>
          <p:nvPr/>
        </p:nvSpPr>
        <p:spPr>
          <a:xfrm>
            <a:off x="914400" y="4279392"/>
            <a:ext cx="36576" cy="493776"/>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152144" y="4224528"/>
            <a:ext cx="3657600" cy="274320"/>
          </a:xfrm>
          <a:prstGeom prst="rect">
            <a:avLst/>
          </a:prstGeom>
          <a:noFill/>
        </p:spPr>
        <p:txBody>
          <a:bodyPr wrap="square" anchor="t" lIns="0" rIns="0" tIns="0" bIns="0">
            <a:spAutoFit/>
          </a:bodyPr>
          <a:lstStyle/>
          <a:p>
            <a:pPr algn="l">
              <a:lnSpc>
                <a:spcPct val="118000"/>
              </a:lnSpc>
              <a:spcAft>
                <a:spcPts val="300"/>
              </a:spcAft>
            </a:pPr>
            <a:r>
              <a:rPr sz="1400" b="1">
                <a:solidFill>
                  <a:srgbClr val="FFFFFF"/>
                </a:solidFill>
                <a:latin typeface="Segoe UI"/>
              </a:rPr>
              <a:t>Evaluated honestly</a:t>
            </a:r>
          </a:p>
        </p:txBody>
      </p:sp>
      <p:sp>
        <p:nvSpPr>
          <p:cNvPr id="15" name="TextBox 14"/>
          <p:cNvSpPr txBox="1"/>
          <p:nvPr/>
        </p:nvSpPr>
        <p:spPr>
          <a:xfrm>
            <a:off x="4937760" y="4242816"/>
            <a:ext cx="6400800" cy="502920"/>
          </a:xfrm>
          <a:prstGeom prst="rect">
            <a:avLst/>
          </a:prstGeom>
          <a:noFill/>
        </p:spPr>
        <p:txBody>
          <a:bodyPr wrap="square" anchor="t" lIns="0" rIns="0" tIns="0" bIns="0">
            <a:spAutoFit/>
          </a:bodyPr>
          <a:lstStyle/>
          <a:p>
            <a:pPr algn="l">
              <a:lnSpc>
                <a:spcPct val="118000"/>
              </a:lnSpc>
              <a:spcAft>
                <a:spcPts val="300"/>
              </a:spcAft>
            </a:pPr>
            <a:r>
              <a:rPr sz="1150" b="0">
                <a:solidFill>
                  <a:srgbClr val="A9BCCE"/>
                </a:solidFill>
                <a:latin typeface="Segoe UI"/>
              </a:rPr>
              <a:t>10.2% below the statistical baseline, cross-validated at 2.713 ± 0.038</a:t>
            </a:r>
          </a:p>
        </p:txBody>
      </p:sp>
      <p:sp>
        <p:nvSpPr>
          <p:cNvPr id="16" name="Rectangle 15"/>
          <p:cNvSpPr/>
          <p:nvPr/>
        </p:nvSpPr>
        <p:spPr>
          <a:xfrm>
            <a:off x="914400" y="5029200"/>
            <a:ext cx="36576" cy="493776"/>
          </a:xfrm>
          <a:prstGeom prst="rect">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152144" y="4974336"/>
            <a:ext cx="3657600" cy="274320"/>
          </a:xfrm>
          <a:prstGeom prst="rect">
            <a:avLst/>
          </a:prstGeom>
          <a:noFill/>
        </p:spPr>
        <p:txBody>
          <a:bodyPr wrap="square" anchor="t" lIns="0" rIns="0" tIns="0" bIns="0">
            <a:spAutoFit/>
          </a:bodyPr>
          <a:lstStyle/>
          <a:p>
            <a:pPr algn="l">
              <a:lnSpc>
                <a:spcPct val="118000"/>
              </a:lnSpc>
              <a:spcAft>
                <a:spcPts val="300"/>
              </a:spcAft>
            </a:pPr>
            <a:r>
              <a:rPr sz="1400" b="1">
                <a:solidFill>
                  <a:srgbClr val="FFFFFF"/>
                </a:solidFill>
                <a:latin typeface="Segoe UI"/>
              </a:rPr>
              <a:t>Research put to work</a:t>
            </a:r>
          </a:p>
        </p:txBody>
      </p:sp>
      <p:sp>
        <p:nvSpPr>
          <p:cNvPr id="18" name="TextBox 17"/>
          <p:cNvSpPr txBox="1"/>
          <p:nvPr/>
        </p:nvSpPr>
        <p:spPr>
          <a:xfrm>
            <a:off x="4937760" y="4992624"/>
            <a:ext cx="6400800" cy="502920"/>
          </a:xfrm>
          <a:prstGeom prst="rect">
            <a:avLst/>
          </a:prstGeom>
          <a:noFill/>
        </p:spPr>
        <p:txBody>
          <a:bodyPr wrap="square" anchor="t" lIns="0" rIns="0" tIns="0" bIns="0">
            <a:spAutoFit/>
          </a:bodyPr>
          <a:lstStyle/>
          <a:p>
            <a:pPr algn="l">
              <a:lnSpc>
                <a:spcPct val="118000"/>
              </a:lnSpc>
              <a:spcAft>
                <a:spcPts val="300"/>
              </a:spcAft>
            </a:pPr>
            <a:r>
              <a:rPr sz="1150" b="0">
                <a:solidFill>
                  <a:srgbClr val="A9BCCE"/>
                </a:solidFill>
                <a:latin typeface="Segoe UI"/>
              </a:rPr>
              <a:t>unlike the prior studies surveyed, the estimator runs live and drives project progress</a:t>
            </a:r>
          </a:p>
        </p:txBody>
      </p:sp>
      <p:sp>
        <p:nvSpPr>
          <p:cNvPr id="19" name="Rounded Rectangle 18"/>
          <p:cNvSpPr/>
          <p:nvPr/>
        </p:nvSpPr>
        <p:spPr>
          <a:xfrm>
            <a:off x="914400" y="5760720"/>
            <a:ext cx="3108960" cy="585216"/>
          </a:xfrm>
          <a:prstGeom prst="roundRect">
            <a:avLst>
              <a:gd name="adj" fmla="val 5500"/>
            </a:avLst>
          </a:prstGeom>
          <a:solidFill>
            <a:srgbClr val="009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14400" y="5916168"/>
            <a:ext cx="3108960" cy="292608"/>
          </a:xfrm>
          <a:prstGeom prst="rect">
            <a:avLst/>
          </a:prstGeom>
          <a:noFill/>
        </p:spPr>
        <p:txBody>
          <a:bodyPr wrap="square" anchor="t" lIns="0" rIns="0" tIns="0" bIns="0">
            <a:spAutoFit/>
          </a:bodyPr>
          <a:lstStyle/>
          <a:p>
            <a:pPr algn="ctr">
              <a:lnSpc>
                <a:spcPct val="118000"/>
              </a:lnSpc>
              <a:spcAft>
                <a:spcPts val="300"/>
              </a:spcAft>
            </a:pPr>
            <a:r>
              <a:rPr sz="1450" b="1">
                <a:solidFill>
                  <a:srgbClr val="FFFFFF"/>
                </a:solidFill>
                <a:latin typeface="Segoe UI"/>
              </a:rPr>
              <a:t>Live demonstration</a:t>
            </a:r>
          </a:p>
        </p:txBody>
      </p:sp>
      <p:sp>
        <p:nvSpPr>
          <p:cNvPr id="21" name="TextBox 20"/>
          <p:cNvSpPr txBox="1"/>
          <p:nvPr/>
        </p:nvSpPr>
        <p:spPr>
          <a:xfrm>
            <a:off x="4480560" y="5925312"/>
            <a:ext cx="6400800" cy="274320"/>
          </a:xfrm>
          <a:prstGeom prst="rect">
            <a:avLst/>
          </a:prstGeom>
          <a:noFill/>
        </p:spPr>
        <p:txBody>
          <a:bodyPr wrap="square" anchor="t" lIns="0" rIns="0" tIns="0" bIns="0">
            <a:spAutoFit/>
          </a:bodyPr>
          <a:lstStyle/>
          <a:p>
            <a:pPr algn="l">
              <a:lnSpc>
                <a:spcPct val="118000"/>
              </a:lnSpc>
              <a:spcAft>
                <a:spcPts val="300"/>
              </a:spcAft>
            </a:pPr>
            <a:r>
              <a:rPr sz="1300" b="0">
                <a:solidFill>
                  <a:srgbClr val="9AA8BC"/>
                </a:solidFill>
                <a:latin typeface="Segoe UI"/>
              </a:rPr>
              <a:t>Questions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